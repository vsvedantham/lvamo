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33bfe77-33d3-a73c-181c-0838f429c9ea}">
          <p14:sldIdLst>
            <p14:sldId id="256"/>
            <p14:sldId id="257"/>
            <p14:sldId id="258"/>
            <p14:sldId id="259"/>
          </p14:sldIdLst>
        </p14:section>
        <p14:section name="Example 1: HeatRisk EU" id="{6bdc73ce-478d-66f8-323b-3cefc5d711be}">
          <p14:sldIdLst>
            <p14:sldId id="260"/>
            <p14:sldId id="261"/>
            <p14:sldId id="262"/>
          </p14:sldIdLst>
        </p14:section>
        <p14:section name="Example 2: Frontend" id="{ce3b7fd6-3cbc-ed02-78b9-d1b32a2d6ff6}">
          <p14:sldIdLst>
            <p14:sldId id="263"/>
            <p14:sldId id="264"/>
            <p14:sldId id="265"/>
          </p14:sldIdLst>
        </p14:section>
        <p14:section name="The platform" id="{71fff86a-4034-6de8-a865-f51967acfca6}">
          <p14:sldIdLst>
            <p14:sldId id="266"/>
            <p14:sldId id="267"/>
            <p14:sldId id="268"/>
          </p14:sldIdLst>
        </p14:section>
        <p14:section name="Next steps" id="{43c466e6-24d1-07ef-16f5-f67123f957e8}">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Official estimate</c:v>
                </c:pt>
              </c:strCache>
            </c:strRef>
          </c:tx>
          <c:spPr>
            <a:solidFill>
              <a:srgbClr val="B4BCD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Germany</c:v>
                  </c:pt>
                  <c:pt idx="1">
                    <c:v>France</c:v>
                  </c:pt>
                  <c:pt idx="2">
                    <c:v>Spain</c:v>
                  </c:pt>
                </c:lvl>
              </c:multiLvlStrCache>
            </c:multiLvlStrRef>
          </c:cat>
          <c:val>
            <c:numRef>
              <c:f>Sheet1!$B$2:$B$4</c:f>
              <c:numCache>
                <c:formatCode>General</c:formatCode>
                <c:ptCount val="3"/>
                <c:pt idx="0">
                  <c:v>16300</c:v>
                </c:pt>
                <c:pt idx="1">
                  <c:v>7000</c:v>
                </c:pt>
                <c:pt idx="2">
                  <c:v>4947</c:v>
                </c:pt>
              </c:numCache>
            </c:numRef>
          </c:val>
        </c:ser>
        <c:ser>
          <c:idx val="1"/>
          <c:order val="1"/>
          <c:tx>
            <c:strRef>
              <c:f>Sheet1!$C$1</c:f>
              <c:strCache>
                <c:ptCount val="1"/>
                <c:pt idx="0">
                  <c:v>Model prediction</c:v>
                </c:pt>
              </c:strCache>
            </c:strRef>
          </c:tx>
          <c:spPr>
            <a:solidFill>
              <a:srgbClr val="6366F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Germany</c:v>
                  </c:pt>
                  <c:pt idx="1">
                    <c:v>France</c:v>
                  </c:pt>
                  <c:pt idx="2">
                    <c:v>Spain</c:v>
                  </c:pt>
                </c:lvl>
              </c:multiLvlStrCache>
            </c:multiLvlStrRef>
          </c:cat>
          <c:val>
            <c:numRef>
              <c:f>Sheet1!$C$2:$C$4</c:f>
              <c:numCache>
                <c:formatCode>General</c:formatCode>
                <c:ptCount val="3"/>
                <c:pt idx="0">
                  <c:v>14344</c:v>
                </c:pt>
                <c:pt idx="1">
                  <c:v>7560</c:v>
                </c:pt>
                <c:pt idx="2">
                  <c:v>5392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C466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C4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Performance</c:v>
                </c:pt>
              </c:strCache>
            </c:strRef>
          </c:tx>
          <c:spPr>
            <a:solidFill>
              <a:schemeClr val="accent1"/>
            </a:solidFill>
            <a:ln w="9525" cap="flat">
              <a:solidFill>
                <a:srgbClr val="F9F9F9"/>
              </a:solidFill>
              <a:prstDash val="solid"/>
              <a:round/>
            </a:ln>
            <a:effectLst/>
          </c:spPr>
          <c:dPt>
            <c:idx val="0"/>
            <c:bubble3D val="0"/>
            <c:spPr>
              <a:solidFill>
                <a:srgbClr val="10B981"/>
              </a:solidFill>
              <a:ln w="6350" cap="flat">
                <a:solidFill>
                  <a:srgbClr val="FFFFFF"/>
                </a:solidFill>
                <a:prstDash val="solid"/>
                <a:round/>
              </a:ln>
              <a:effectLst/>
            </c:spPr>
          </c:dPt>
          <c:dPt>
            <c:idx val="1"/>
            <c:bubble3D val="0"/>
            <c:spPr>
              <a:solidFill>
                <a:srgbClr val="E5E7EB"/>
              </a:solidFill>
              <a:ln w="63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88</c:v>
                </c:pt>
                <c:pt idx="1">
                  <c:v>12</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Accessibility</c:v>
                </c:pt>
              </c:strCache>
            </c:strRef>
          </c:tx>
          <c:spPr>
            <a:solidFill>
              <a:schemeClr val="accent1"/>
            </a:solidFill>
            <a:ln w="9525" cap="flat">
              <a:solidFill>
                <a:srgbClr val="F9F9F9"/>
              </a:solidFill>
              <a:prstDash val="solid"/>
              <a:round/>
            </a:ln>
            <a:effectLst/>
          </c:spPr>
          <c:dPt>
            <c:idx val="0"/>
            <c:bubble3D val="0"/>
            <c:spPr>
              <a:solidFill>
                <a:srgbClr val="10B981"/>
              </a:solidFill>
              <a:ln w="6350" cap="flat">
                <a:solidFill>
                  <a:srgbClr val="FFFFFF"/>
                </a:solidFill>
                <a:prstDash val="solid"/>
                <a:round/>
              </a:ln>
              <a:effectLst/>
            </c:spPr>
          </c:dPt>
          <c:dPt>
            <c:idx val="1"/>
            <c:bubble3D val="0"/>
            <c:spPr>
              <a:solidFill>
                <a:srgbClr val="E5E7EB"/>
              </a:solidFill>
              <a:ln w="63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96</c:v>
                </c:pt>
                <c:pt idx="1">
                  <c:v>4</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Best practices</c:v>
                </c:pt>
              </c:strCache>
            </c:strRef>
          </c:tx>
          <c:spPr>
            <a:solidFill>
              <a:schemeClr val="accent1"/>
            </a:solidFill>
            <a:ln w="9525" cap="flat">
              <a:solidFill>
                <a:srgbClr val="F9F9F9"/>
              </a:solidFill>
              <a:prstDash val="solid"/>
              <a:round/>
            </a:ln>
            <a:effectLst/>
          </c:spPr>
          <c:dPt>
            <c:idx val="0"/>
            <c:bubble3D val="0"/>
            <c:spPr>
              <a:solidFill>
                <a:srgbClr val="10B981"/>
              </a:solidFill>
              <a:ln w="6350" cap="flat">
                <a:solidFill>
                  <a:srgbClr val="FFFFFF"/>
                </a:solidFill>
                <a:prstDash val="solid"/>
                <a:round/>
              </a:ln>
              <a:effectLst/>
            </c:spPr>
          </c:dPt>
          <c:dPt>
            <c:idx val="1"/>
            <c:bubble3D val="0"/>
            <c:spPr>
              <a:solidFill>
                <a:srgbClr val="E5E7EB"/>
              </a:solidFill>
              <a:ln w="63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100</c:v>
                </c:pt>
                <c:pt idx="1">
                  <c:v>0</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SEO</c:v>
                </c:pt>
              </c:strCache>
            </c:strRef>
          </c:tx>
          <c:spPr>
            <a:solidFill>
              <a:schemeClr val="accent1"/>
            </a:solidFill>
            <a:ln w="9525" cap="flat">
              <a:solidFill>
                <a:srgbClr val="F9F9F9"/>
              </a:solidFill>
              <a:prstDash val="solid"/>
              <a:round/>
            </a:ln>
            <a:effectLst/>
          </c:spPr>
          <c:dPt>
            <c:idx val="0"/>
            <c:bubble3D val="0"/>
            <c:spPr>
              <a:solidFill>
                <a:srgbClr val="10B981"/>
              </a:solidFill>
              <a:ln w="6350" cap="flat">
                <a:solidFill>
                  <a:srgbClr val="FFFFFF"/>
                </a:solidFill>
                <a:prstDash val="solid"/>
                <a:round/>
              </a:ln>
              <a:effectLst/>
            </c:spPr>
          </c:dPt>
          <c:dPt>
            <c:idx val="1"/>
            <c:bubble3D val="0"/>
            <c:spPr>
              <a:solidFill>
                <a:srgbClr val="E5E7EB"/>
              </a:solidFill>
              <a:ln w="63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92</c:v>
                </c:pt>
                <c:pt idx="1">
                  <c:v>8</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a possible new LVAMO vertical: a showcase platform for university capstone projects. It uses two examples — the real HeatRisk EU data science capstone and a made-up frontend project — to show that the same platform works for very different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a capstone, students have three disconnected things: a repo, a dashboard link and a PDF. The people who look at the project each have a different question, and none of these artifacts answers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Whatever the subject, a capstone has the same six parts. Only the kind of evidence and the kind of demo change between a data science project and a frontend project. That's what makes the platform scale: a shared core plus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keeps vibe-coding and committing as usual. They add one manifest file, prosho.yaml, and optionally a CI step. LVAMO reads both and builds the project page automatically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example: the real HeatRisk EU proposal. It is a data science project: a temperature-mortality model, city vulnerability maps, and a validated 2026 prediction, with a Streamlit dashboard as the planned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an examiner or recruiter would see at one link. The claims come straight from the proposal's objectives. The demo is the student's own Streamlit app. The evidence numbers are pushed by the pipeline, so they are never stale. Values here are made up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science module turns things the proposal promises into automatic checks: are the 15+ open data sources still live, does the 2026 prediction land inside ±25% of the official RKI, Santé publique France and MoMo figures, and is the pipeline really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example, deliberately very different: a frontend web app with no data pipeline and no model at all. If the platform works for this too, the design generalises.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page, same claims tracker, same demo slot, same mentor badge. What changed: the claims are about accessibility and speed, and the evidence comes from automatic browser checks instead of a data pipeline. Values here are made up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module has nothing to do with data. It runs Lighthouse, takes screenshots at three screen sizes and watches the live site. Different evidence, same claims tracker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only the evidence and demo rows differ. Problem and claims are written by the student in the same format. Work over time and outcome are literally identical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mirrors Applaut's discovery adapters. The core is built once. Each project type gets a small module that knows which checks to run and how to display them. Data science comes first because of HeatRisk; frontend second, as soon as a second student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win-win: students get proof of their work, examiners get evidence, recruiters see real skills, and LVAMO gets a public link on every student's CV plus credit for the mentoring — and a natural path into Applaut and Jobref when the student starts job hunting.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small: build the core and the data science module with HeatRisk EU as the single, excellent first page. Add the frontend module when a second student appears. Before going public, get the supervisor's OK and keep branding modest so there's no academic-integrity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1325880"/>
            <a:ext cx="5120640" cy="320040"/>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457200" y="1691640"/>
            <a:ext cx="5120640" cy="91440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4" name="Text 0"/>
          <p:cNvSpPr/>
          <p:nvPr>
            <p:ph idx="102" type="body" hasCustomPrompt="1"/>
          </p:nvPr>
        </p:nvSpPr>
        <p:spPr>
          <a:xfrm>
            <a:off x="457200" y="2697480"/>
            <a:ext cx="493776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1463040"/>
            <a:ext cx="5120640" cy="320040"/>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457200" y="1828800"/>
            <a:ext cx="5120640" cy="8229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4" name="Text 0"/>
          <p:cNvSpPr/>
          <p:nvPr>
            <p:ph idx="102" type="body" hasCustomPrompt="1"/>
          </p:nvPr>
        </p:nvSpPr>
        <p:spPr>
          <a:xfrm>
            <a:off x="457200" y="2743200"/>
            <a:ext cx="4937760" cy="118872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5"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1000" dirty="0">
                <a:solidFill>
                  <a:schemeClr val="accent6"/>
                </a:solidFill>
              </a:rPr>
              <a:t>ProSho · concept</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93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5120640" cy="320040"/>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457200" y="731520"/>
            <a:ext cx="8229600" cy="6858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4"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1000" dirty="0">
                <a:solidFill>
                  <a:schemeClr val="accent6"/>
                </a:solidFill>
              </a:rPr>
              <a:t>ProSho · concept</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93B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1000" dirty="0">
                <a:solidFill>
                  <a:schemeClr val="accent6"/>
                </a:solidFill>
              </a:rPr>
              <a:t>ProSho · concept</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1000" dirty="0">
                <a:solidFill>
                  <a:schemeClr val="accent6"/>
                </a:solidFill>
              </a:rPr>
              <a:t>ProSho · concept</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9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5.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5.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1"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image" Target="../media/image-10-3.png"/><Relationship Id="rId8" Type="http://schemas.openxmlformats.org/officeDocument/2006/relationships/slideLayout" Target="../slideLayouts/slideLayout5.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5.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vamo-logo" descr="preencoded.png">    </p:cNvPr>
          <p:cNvPicPr>
            <a:picLocks noChangeAspect="1"/>
          </p:cNvPicPr>
          <p:nvPr/>
        </p:nvPicPr>
        <p:blipFill>
          <a:blip r:embed="rId1"/>
          <a:stretch>
            <a:fillRect/>
          </a:stretch>
        </p:blipFill>
        <p:spPr>
          <a:xfrm>
            <a:off x="457200" y="457200"/>
            <a:ext cx="548640" cy="548640"/>
          </a:xfrm>
          <a:prstGeom prst="rect">
            <a:avLst/>
          </a:prstGeom>
        </p:spPr>
      </p:pic>
      <p:sp>
        <p:nvSpPr>
          <p:cNvPr id="3" name="text-1"/>
          <p:cNvSpPr txBox="1"/>
          <p:nvPr/>
        </p:nvSpPr>
        <p:spPr>
          <a:xfrm>
            <a:off x="1097280" y="502920"/>
            <a:ext cx="1828800" cy="457200"/>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LVAMO</a:t>
            </a:r>
            <a:endParaRPr lang="en-US" sz="2000" dirty="0"/>
          </a:p>
        </p:txBody>
      </p:sp>
      <p:sp>
        <p:nvSpPr>
          <p:cNvPr id="4" name="Text 0"/>
          <p:cNvSpPr/>
          <p:nvPr>
            <p:ph idx="100" type="body" hasCustomPrompt="1"/>
          </p:nvPr>
        </p:nvSpPr>
        <p:spPr>
          <a:xfrm>
            <a:off x="457200" y="1325880"/>
            <a:ext cx="5120640" cy="320040"/>
          </a:xfrm>
          <a:prstGeom prst="rect">
            <a:avLst/>
          </a:prstGeom>
          <a:noFill/>
          <a:ln/>
        </p:spPr>
        <p:txBody>
          <a:bodyPr wrap="square" lIns="0" tIns="0" rIns="0" bIns="0" rtlCol="0"/>
          <a:lstStyle/>
          <a:p>
            <a:pPr indent="0" marL="0">
              <a:buNone/>
            </a:pPr>
            <a:r>
              <a:rPr lang="en-US" sz="1300" b="1" spc="200" kern="0" dirty="0">
                <a:solidFill>
                  <a:schemeClr val="accent2"/>
                </a:solidFill>
              </a:rPr>
              <a:t>A NEW LVAMO VERTICAL · CONCEPT</a:t>
            </a:r>
            <a:endParaRPr lang="en-US" sz="1300" dirty="0"/>
          </a:p>
        </p:txBody>
      </p:sp>
      <p:sp>
        <p:nvSpPr>
          <p:cNvPr id="5" name="Text 0"/>
          <p:cNvSpPr/>
          <p:nvPr>
            <p:ph idx="101" type="title" hasCustomPrompt="1"/>
          </p:nvPr>
        </p:nvSpPr>
        <p:spPr>
          <a:xfrm>
            <a:off x="457200" y="1691640"/>
            <a:ext cx="5120640" cy="914400"/>
          </a:xfrm>
          <a:prstGeom prst="rect">
            <a:avLst/>
          </a:prstGeom>
          <a:noFill/>
          <a:ln/>
        </p:spPr>
        <p:txBody>
          <a:bodyPr wrap="square" lIns="0" tIns="0" rIns="0" bIns="0" rtlCol="0" anchor="t"/>
          <a:lstStyle/>
          <a:p>
            <a:pPr indent="0" marL="0">
              <a:buNone/>
            </a:pPr>
            <a:r>
              <a:rPr lang="en-US" sz="4400" b="1" dirty="0">
                <a:solidFill>
                  <a:schemeClr val="bg1"/>
                </a:solidFill>
              </a:rPr>
              <a:t>ProSho</a:t>
            </a:r>
            <a:endParaRPr lang="en-US" sz="4400" dirty="0"/>
          </a:p>
        </p:txBody>
      </p:sp>
      <p:sp>
        <p:nvSpPr>
          <p:cNvPr id="6" name="Text 0"/>
          <p:cNvSpPr/>
          <p:nvPr>
            <p:ph idx="102" type="body" hasCustomPrompt="1"/>
          </p:nvPr>
        </p:nvSpPr>
        <p:spPr>
          <a:xfrm>
            <a:off x="457200" y="2697480"/>
            <a:ext cx="4937760" cy="1097280"/>
          </a:xfrm>
          <a:prstGeom prst="rect">
            <a:avLst/>
          </a:prstGeom>
          <a:noFill/>
          <a:ln/>
        </p:spPr>
        <p:txBody>
          <a:bodyPr wrap="square" lIns="0" tIns="0" rIns="0" bIns="0" rtlCol="0" anchor="t"/>
          <a:lstStyle/>
          <a:p>
            <a:pPr indent="0" marL="0">
              <a:buNone/>
            </a:pPr>
            <a:r>
              <a:rPr lang="en-US" sz="1800" dirty="0">
                <a:solidFill>
                  <a:schemeClr val="bg2"/>
                </a:solidFill>
              </a:rPr>
              <a:t>Project Showcase by LVAMO: turning a student's capstone repo into proof of skill — explained with two example projects</a:t>
            </a:r>
            <a:endParaRPr lang="en-US" sz="1800" dirty="0"/>
          </a:p>
        </p:txBody>
      </p:sp>
      <p:sp>
        <p:nvSpPr>
          <p:cNvPr id="7" name="card-2"/>
          <p:cNvSpPr/>
          <p:nvPr/>
        </p:nvSpPr>
        <p:spPr>
          <a:xfrm>
            <a:off x="5943600" y="1051560"/>
            <a:ext cx="2743200" cy="3017520"/>
          </a:xfrm>
          <a:prstGeom prst="roundRect">
            <a:avLst>
              <a:gd name="adj" fmla="val 2667"/>
            </a:avLst>
          </a:prstGeom>
          <a:solidFill>
            <a:srgbClr val="111828"/>
          </a:solidFill>
          <a:ln w="9525">
            <a:solidFill>
              <a:srgbClr val="2A3354"/>
            </a:solidFill>
            <a:prstDash val="solid"/>
          </a:ln>
        </p:spPr>
      </p:sp>
      <p:sp>
        <p:nvSpPr>
          <p:cNvPr id="8" name="text-3"/>
          <p:cNvSpPr txBox="1"/>
          <p:nvPr/>
        </p:nvSpPr>
        <p:spPr>
          <a:xfrm>
            <a:off x="6126480" y="1188720"/>
            <a:ext cx="2377440" cy="228600"/>
          </a:xfrm>
          <a:prstGeom prst="rect">
            <a:avLst/>
          </a:prstGeom>
          <a:noFill/>
          <a:ln/>
        </p:spPr>
        <p:txBody>
          <a:bodyPr wrap="square" lIns="0" tIns="0" rIns="0" bIns="0" rtlCol="0" anchor="t"/>
          <a:lstStyle/>
          <a:p>
            <a:pPr indent="0" marL="0">
              <a:buNone/>
            </a:pPr>
            <a:r>
              <a:rPr lang="en-US" sz="1000" dirty="0">
                <a:solidFill>
                  <a:srgbClr val="7D93B8"/>
                </a:solidFill>
              </a:rPr>
              <a:t>lvamo.com/prosho/…</a:t>
            </a:r>
            <a:endParaRPr lang="en-US" sz="1000" dirty="0"/>
          </a:p>
        </p:txBody>
      </p:sp>
      <p:sp>
        <p:nvSpPr>
          <p:cNvPr id="9" name="card-4"/>
          <p:cNvSpPr/>
          <p:nvPr/>
        </p:nvSpPr>
        <p:spPr>
          <a:xfrm>
            <a:off x="6126480" y="1600200"/>
            <a:ext cx="2377440" cy="384048"/>
          </a:xfrm>
          <a:prstGeom prst="roundRect">
            <a:avLst>
              <a:gd name="adj" fmla="val 19048"/>
            </a:avLst>
          </a:prstGeom>
          <a:solidFill>
            <a:srgbClr val="1A2240"/>
          </a:solidFill>
          <a:ln w="9525">
            <a:solidFill>
              <a:srgbClr val="2A3354"/>
            </a:solidFill>
            <a:prstDash val="solid"/>
          </a:ln>
        </p:spPr>
      </p:sp>
      <p:sp>
        <p:nvSpPr>
          <p:cNvPr id="10" name="ph-5"/>
          <p:cNvSpPr/>
          <p:nvPr/>
        </p:nvSpPr>
        <p:spPr>
          <a:xfrm>
            <a:off x="6263640" y="1755648"/>
            <a:ext cx="914400" cy="73152"/>
          </a:xfrm>
          <a:prstGeom prst="rect">
            <a:avLst/>
          </a:prstGeom>
          <a:solidFill>
            <a:srgbClr val="3C4A78"/>
          </a:solidFill>
          <a:ln w="12700">
            <a:solidFill>
              <a:srgbClr val="3C4A78"/>
            </a:solidFill>
            <a:prstDash val="solid"/>
          </a:ln>
        </p:spPr>
      </p:sp>
      <p:sp>
        <p:nvSpPr>
          <p:cNvPr id="11" name="chip-6"/>
          <p:cNvSpPr/>
          <p:nvPr/>
        </p:nvSpPr>
        <p:spPr>
          <a:xfrm>
            <a:off x="7589520" y="1682496"/>
            <a:ext cx="777240" cy="219456"/>
          </a:xfrm>
          <a:prstGeom prst="roundRect">
            <a:avLst>
              <a:gd name="adj" fmla="val 50000"/>
            </a:avLst>
          </a:prstGeom>
          <a:solidFill>
            <a:schemeClr val="accent3"/>
          </a:solidFill>
          <a:ln w="12700">
            <a:solidFill>
              <a:schemeClr val="accent3"/>
            </a:solidFill>
            <a:prstDash val="solid"/>
          </a:ln>
        </p:spPr>
      </p:sp>
      <p:sp>
        <p:nvSpPr>
          <p:cNvPr id="12" name="text-7"/>
          <p:cNvSpPr txBox="1"/>
          <p:nvPr/>
        </p:nvSpPr>
        <p:spPr>
          <a:xfrm>
            <a:off x="7589520" y="1682496"/>
            <a:ext cx="777240" cy="219456"/>
          </a:xfrm>
          <a:prstGeom prst="rect">
            <a:avLst/>
          </a:prstGeom>
          <a:noFill/>
          <a:ln/>
        </p:spPr>
        <p:txBody>
          <a:bodyPr wrap="square" lIns="0" tIns="0" rIns="0" bIns="0" rtlCol="0" anchor="ctr"/>
          <a:lstStyle/>
          <a:p>
            <a:pPr algn="ctr" indent="0" marL="0">
              <a:buNone/>
            </a:pPr>
            <a:r>
              <a:rPr lang="en-US" sz="1000" b="1" dirty="0">
                <a:solidFill>
                  <a:schemeClr val="bg1"/>
                </a:solidFill>
              </a:rPr>
              <a:t>✓ Met</a:t>
            </a:r>
            <a:endParaRPr lang="en-US" sz="1000" dirty="0"/>
          </a:p>
        </p:txBody>
      </p:sp>
      <p:sp>
        <p:nvSpPr>
          <p:cNvPr id="13" name="card-8"/>
          <p:cNvSpPr/>
          <p:nvPr/>
        </p:nvSpPr>
        <p:spPr>
          <a:xfrm>
            <a:off x="6126480" y="2103120"/>
            <a:ext cx="2377440" cy="384048"/>
          </a:xfrm>
          <a:prstGeom prst="roundRect">
            <a:avLst>
              <a:gd name="adj" fmla="val 19048"/>
            </a:avLst>
          </a:prstGeom>
          <a:solidFill>
            <a:srgbClr val="1A2240"/>
          </a:solidFill>
          <a:ln w="9525">
            <a:solidFill>
              <a:srgbClr val="2A3354"/>
            </a:solidFill>
            <a:prstDash val="solid"/>
          </a:ln>
        </p:spPr>
      </p:sp>
      <p:sp>
        <p:nvSpPr>
          <p:cNvPr id="14" name="ph-9"/>
          <p:cNvSpPr/>
          <p:nvPr/>
        </p:nvSpPr>
        <p:spPr>
          <a:xfrm>
            <a:off x="6263640" y="2258568"/>
            <a:ext cx="914400" cy="73152"/>
          </a:xfrm>
          <a:prstGeom prst="rect">
            <a:avLst/>
          </a:prstGeom>
          <a:solidFill>
            <a:srgbClr val="3C4A78"/>
          </a:solidFill>
          <a:ln w="12700">
            <a:solidFill>
              <a:srgbClr val="3C4A78"/>
            </a:solidFill>
            <a:prstDash val="solid"/>
          </a:ln>
        </p:spPr>
      </p:sp>
      <p:sp>
        <p:nvSpPr>
          <p:cNvPr id="15" name="chip-10"/>
          <p:cNvSpPr/>
          <p:nvPr/>
        </p:nvSpPr>
        <p:spPr>
          <a:xfrm>
            <a:off x="7589520" y="2185416"/>
            <a:ext cx="777240" cy="219456"/>
          </a:xfrm>
          <a:prstGeom prst="roundRect">
            <a:avLst>
              <a:gd name="adj" fmla="val 50000"/>
            </a:avLst>
          </a:prstGeom>
          <a:solidFill>
            <a:schemeClr val="accent3"/>
          </a:solidFill>
          <a:ln w="12700">
            <a:solidFill>
              <a:schemeClr val="accent3"/>
            </a:solidFill>
            <a:prstDash val="solid"/>
          </a:ln>
        </p:spPr>
      </p:sp>
      <p:sp>
        <p:nvSpPr>
          <p:cNvPr id="16" name="text-11"/>
          <p:cNvSpPr txBox="1"/>
          <p:nvPr/>
        </p:nvSpPr>
        <p:spPr>
          <a:xfrm>
            <a:off x="7589520" y="2185416"/>
            <a:ext cx="777240" cy="219456"/>
          </a:xfrm>
          <a:prstGeom prst="rect">
            <a:avLst/>
          </a:prstGeom>
          <a:noFill/>
          <a:ln/>
        </p:spPr>
        <p:txBody>
          <a:bodyPr wrap="square" lIns="0" tIns="0" rIns="0" bIns="0" rtlCol="0" anchor="ctr"/>
          <a:lstStyle/>
          <a:p>
            <a:pPr algn="ctr" indent="0" marL="0">
              <a:buNone/>
            </a:pPr>
            <a:r>
              <a:rPr lang="en-US" sz="1000" b="1" dirty="0">
                <a:solidFill>
                  <a:schemeClr val="bg1"/>
                </a:solidFill>
              </a:rPr>
              <a:t>✓ Met</a:t>
            </a:r>
            <a:endParaRPr lang="en-US" sz="1000" dirty="0"/>
          </a:p>
        </p:txBody>
      </p:sp>
      <p:sp>
        <p:nvSpPr>
          <p:cNvPr id="17" name="card-12"/>
          <p:cNvSpPr/>
          <p:nvPr/>
        </p:nvSpPr>
        <p:spPr>
          <a:xfrm>
            <a:off x="6126480" y="2606040"/>
            <a:ext cx="2377440" cy="384048"/>
          </a:xfrm>
          <a:prstGeom prst="roundRect">
            <a:avLst>
              <a:gd name="adj" fmla="val 19048"/>
            </a:avLst>
          </a:prstGeom>
          <a:solidFill>
            <a:srgbClr val="1A2240"/>
          </a:solidFill>
          <a:ln w="9525">
            <a:solidFill>
              <a:srgbClr val="2A3354"/>
            </a:solidFill>
            <a:prstDash val="solid"/>
          </a:ln>
        </p:spPr>
      </p:sp>
      <p:sp>
        <p:nvSpPr>
          <p:cNvPr id="18" name="ph-13"/>
          <p:cNvSpPr/>
          <p:nvPr/>
        </p:nvSpPr>
        <p:spPr>
          <a:xfrm>
            <a:off x="6263640" y="2761488"/>
            <a:ext cx="914400" cy="73152"/>
          </a:xfrm>
          <a:prstGeom prst="rect">
            <a:avLst/>
          </a:prstGeom>
          <a:solidFill>
            <a:srgbClr val="3C4A78"/>
          </a:solidFill>
          <a:ln w="12700">
            <a:solidFill>
              <a:srgbClr val="3C4A78"/>
            </a:solidFill>
            <a:prstDash val="solid"/>
          </a:ln>
        </p:spPr>
      </p:sp>
      <p:sp>
        <p:nvSpPr>
          <p:cNvPr id="19" name="chip-14"/>
          <p:cNvSpPr/>
          <p:nvPr/>
        </p:nvSpPr>
        <p:spPr>
          <a:xfrm>
            <a:off x="7589520" y="2688336"/>
            <a:ext cx="777240" cy="219456"/>
          </a:xfrm>
          <a:prstGeom prst="roundRect">
            <a:avLst>
              <a:gd name="adj" fmla="val 50000"/>
            </a:avLst>
          </a:prstGeom>
          <a:solidFill>
            <a:schemeClr val="accent4"/>
          </a:solidFill>
          <a:ln w="12700">
            <a:solidFill>
              <a:schemeClr val="accent4"/>
            </a:solidFill>
            <a:prstDash val="solid"/>
          </a:ln>
        </p:spPr>
      </p:sp>
      <p:sp>
        <p:nvSpPr>
          <p:cNvPr id="20" name="text-15"/>
          <p:cNvSpPr txBox="1"/>
          <p:nvPr/>
        </p:nvSpPr>
        <p:spPr>
          <a:xfrm>
            <a:off x="7589520" y="2688336"/>
            <a:ext cx="777240" cy="219456"/>
          </a:xfrm>
          <a:prstGeom prst="rect">
            <a:avLst/>
          </a:prstGeom>
          <a:noFill/>
          <a:ln/>
        </p:spPr>
        <p:txBody>
          <a:bodyPr wrap="square" lIns="0" tIns="0" rIns="0" bIns="0" rtlCol="0" anchor="ctr"/>
          <a:lstStyle/>
          <a:p>
            <a:pPr algn="ctr" indent="0" marL="0">
              <a:buNone/>
            </a:pPr>
            <a:r>
              <a:rPr lang="en-US" sz="1000" b="1" dirty="0">
                <a:solidFill>
                  <a:schemeClr val="tx1"/>
                </a:solidFill>
              </a:rPr>
              <a:t>In progress</a:t>
            </a:r>
            <a:endParaRPr lang="en-US" sz="1000" dirty="0"/>
          </a:p>
        </p:txBody>
      </p:sp>
      <p:sp>
        <p:nvSpPr>
          <p:cNvPr id="21" name="heat-16"/>
          <p:cNvSpPr/>
          <p:nvPr/>
        </p:nvSpPr>
        <p:spPr>
          <a:xfrm>
            <a:off x="6126480" y="3154680"/>
            <a:ext cx="161778" cy="165735"/>
          </a:xfrm>
          <a:prstGeom prst="rect">
            <a:avLst/>
          </a:prstGeom>
          <a:solidFill>
            <a:srgbClr val="FBBF24"/>
          </a:solidFill>
          <a:ln w="12700">
            <a:solidFill>
              <a:srgbClr val="FBBF24"/>
            </a:solidFill>
            <a:prstDash val="solid"/>
          </a:ln>
        </p:spPr>
      </p:sp>
      <p:sp>
        <p:nvSpPr>
          <p:cNvPr id="22" name="heat-17"/>
          <p:cNvSpPr/>
          <p:nvPr/>
        </p:nvSpPr>
        <p:spPr>
          <a:xfrm>
            <a:off x="6311118" y="3154680"/>
            <a:ext cx="161778" cy="165735"/>
          </a:xfrm>
          <a:prstGeom prst="rect">
            <a:avLst/>
          </a:prstGeom>
          <a:solidFill>
            <a:srgbClr val="F97316"/>
          </a:solidFill>
          <a:ln w="12700">
            <a:solidFill>
              <a:srgbClr val="F97316"/>
            </a:solidFill>
            <a:prstDash val="solid"/>
          </a:ln>
        </p:spPr>
      </p:sp>
      <p:sp>
        <p:nvSpPr>
          <p:cNvPr id="23" name="heat-18"/>
          <p:cNvSpPr/>
          <p:nvPr/>
        </p:nvSpPr>
        <p:spPr>
          <a:xfrm>
            <a:off x="6495757" y="3154680"/>
            <a:ext cx="161778" cy="165735"/>
          </a:xfrm>
          <a:prstGeom prst="rect">
            <a:avLst/>
          </a:prstGeom>
          <a:solidFill>
            <a:srgbClr val="EF4444"/>
          </a:solidFill>
          <a:ln w="12700">
            <a:solidFill>
              <a:srgbClr val="EF4444"/>
            </a:solidFill>
            <a:prstDash val="solid"/>
          </a:ln>
        </p:spPr>
      </p:sp>
      <p:sp>
        <p:nvSpPr>
          <p:cNvPr id="24" name="heat-19"/>
          <p:cNvSpPr/>
          <p:nvPr/>
        </p:nvSpPr>
        <p:spPr>
          <a:xfrm>
            <a:off x="6680395" y="3154680"/>
            <a:ext cx="161778" cy="165735"/>
          </a:xfrm>
          <a:prstGeom prst="rect">
            <a:avLst/>
          </a:prstGeom>
          <a:solidFill>
            <a:srgbClr val="EF4444"/>
          </a:solidFill>
          <a:ln w="12700">
            <a:solidFill>
              <a:srgbClr val="EF4444"/>
            </a:solidFill>
            <a:prstDash val="solid"/>
          </a:ln>
        </p:spPr>
      </p:sp>
      <p:sp>
        <p:nvSpPr>
          <p:cNvPr id="25" name="heat-20"/>
          <p:cNvSpPr/>
          <p:nvPr/>
        </p:nvSpPr>
        <p:spPr>
          <a:xfrm>
            <a:off x="6865034" y="3154680"/>
            <a:ext cx="161778" cy="165735"/>
          </a:xfrm>
          <a:prstGeom prst="rect">
            <a:avLst/>
          </a:prstGeom>
          <a:solidFill>
            <a:srgbClr val="EF4444"/>
          </a:solidFill>
          <a:ln w="12700">
            <a:solidFill>
              <a:srgbClr val="EF4444"/>
            </a:solidFill>
            <a:prstDash val="solid"/>
          </a:ln>
        </p:spPr>
      </p:sp>
      <p:sp>
        <p:nvSpPr>
          <p:cNvPr id="26" name="heat-21"/>
          <p:cNvSpPr/>
          <p:nvPr/>
        </p:nvSpPr>
        <p:spPr>
          <a:xfrm>
            <a:off x="7049672" y="3154680"/>
            <a:ext cx="161778" cy="165735"/>
          </a:xfrm>
          <a:prstGeom prst="rect">
            <a:avLst/>
          </a:prstGeom>
          <a:solidFill>
            <a:srgbClr val="F97316"/>
          </a:solidFill>
          <a:ln w="12700">
            <a:solidFill>
              <a:srgbClr val="F97316"/>
            </a:solidFill>
            <a:prstDash val="solid"/>
          </a:ln>
        </p:spPr>
      </p:sp>
      <p:sp>
        <p:nvSpPr>
          <p:cNvPr id="27" name="heat-22"/>
          <p:cNvSpPr/>
          <p:nvPr/>
        </p:nvSpPr>
        <p:spPr>
          <a:xfrm>
            <a:off x="7234311" y="3154680"/>
            <a:ext cx="161778" cy="165735"/>
          </a:xfrm>
          <a:prstGeom prst="rect">
            <a:avLst/>
          </a:prstGeom>
          <a:solidFill>
            <a:srgbClr val="FCD34D"/>
          </a:solidFill>
          <a:ln w="12700">
            <a:solidFill>
              <a:srgbClr val="FCD34D"/>
            </a:solidFill>
            <a:prstDash val="solid"/>
          </a:ln>
        </p:spPr>
      </p:sp>
      <p:sp>
        <p:nvSpPr>
          <p:cNvPr id="28" name="heat-23"/>
          <p:cNvSpPr/>
          <p:nvPr/>
        </p:nvSpPr>
        <p:spPr>
          <a:xfrm>
            <a:off x="7418949" y="3154680"/>
            <a:ext cx="161778" cy="165735"/>
          </a:xfrm>
          <a:prstGeom prst="rect">
            <a:avLst/>
          </a:prstGeom>
          <a:solidFill>
            <a:srgbClr val="FDE68A"/>
          </a:solidFill>
          <a:ln w="12700">
            <a:solidFill>
              <a:srgbClr val="FDE68A"/>
            </a:solidFill>
            <a:prstDash val="solid"/>
          </a:ln>
        </p:spPr>
      </p:sp>
      <p:sp>
        <p:nvSpPr>
          <p:cNvPr id="29" name="heat-24"/>
          <p:cNvSpPr/>
          <p:nvPr/>
        </p:nvSpPr>
        <p:spPr>
          <a:xfrm>
            <a:off x="7603588" y="3154680"/>
            <a:ext cx="161778" cy="165735"/>
          </a:xfrm>
          <a:prstGeom prst="rect">
            <a:avLst/>
          </a:prstGeom>
          <a:solidFill>
            <a:srgbClr val="FCD34D"/>
          </a:solidFill>
          <a:ln w="12700">
            <a:solidFill>
              <a:srgbClr val="FCD34D"/>
            </a:solidFill>
            <a:prstDash val="solid"/>
          </a:ln>
        </p:spPr>
      </p:sp>
      <p:sp>
        <p:nvSpPr>
          <p:cNvPr id="30" name="heat-25"/>
          <p:cNvSpPr/>
          <p:nvPr/>
        </p:nvSpPr>
        <p:spPr>
          <a:xfrm>
            <a:off x="7788226" y="3154680"/>
            <a:ext cx="161778" cy="165735"/>
          </a:xfrm>
          <a:prstGeom prst="rect">
            <a:avLst/>
          </a:prstGeom>
          <a:solidFill>
            <a:srgbClr val="FBBF24"/>
          </a:solidFill>
          <a:ln w="12700">
            <a:solidFill>
              <a:srgbClr val="FBBF24"/>
            </a:solidFill>
            <a:prstDash val="solid"/>
          </a:ln>
        </p:spPr>
      </p:sp>
      <p:sp>
        <p:nvSpPr>
          <p:cNvPr id="31" name="heat-26"/>
          <p:cNvSpPr/>
          <p:nvPr/>
        </p:nvSpPr>
        <p:spPr>
          <a:xfrm>
            <a:off x="7972865" y="3154680"/>
            <a:ext cx="161778" cy="165735"/>
          </a:xfrm>
          <a:prstGeom prst="rect">
            <a:avLst/>
          </a:prstGeom>
          <a:solidFill>
            <a:srgbClr val="F97316"/>
          </a:solidFill>
          <a:ln w="12700">
            <a:solidFill>
              <a:srgbClr val="F97316"/>
            </a:solidFill>
            <a:prstDash val="solid"/>
          </a:ln>
        </p:spPr>
      </p:sp>
      <p:sp>
        <p:nvSpPr>
          <p:cNvPr id="32" name="heat-27"/>
          <p:cNvSpPr/>
          <p:nvPr/>
        </p:nvSpPr>
        <p:spPr>
          <a:xfrm>
            <a:off x="8157503" y="3154680"/>
            <a:ext cx="161778" cy="165735"/>
          </a:xfrm>
          <a:prstGeom prst="rect">
            <a:avLst/>
          </a:prstGeom>
          <a:solidFill>
            <a:srgbClr val="FBBF24"/>
          </a:solidFill>
          <a:ln w="12700">
            <a:solidFill>
              <a:srgbClr val="FBBF24"/>
            </a:solidFill>
            <a:prstDash val="solid"/>
          </a:ln>
        </p:spPr>
      </p:sp>
      <p:sp>
        <p:nvSpPr>
          <p:cNvPr id="33" name="heat-28"/>
          <p:cNvSpPr/>
          <p:nvPr/>
        </p:nvSpPr>
        <p:spPr>
          <a:xfrm>
            <a:off x="8342142" y="3154680"/>
            <a:ext cx="161778" cy="165735"/>
          </a:xfrm>
          <a:prstGeom prst="rect">
            <a:avLst/>
          </a:prstGeom>
          <a:solidFill>
            <a:srgbClr val="FCD34D"/>
          </a:solidFill>
          <a:ln w="12700">
            <a:solidFill>
              <a:srgbClr val="FCD34D"/>
            </a:solidFill>
            <a:prstDash val="solid"/>
          </a:ln>
        </p:spPr>
      </p:sp>
      <p:sp>
        <p:nvSpPr>
          <p:cNvPr id="34" name="heat-29"/>
          <p:cNvSpPr/>
          <p:nvPr/>
        </p:nvSpPr>
        <p:spPr>
          <a:xfrm>
            <a:off x="6126480" y="3343275"/>
            <a:ext cx="161778" cy="165735"/>
          </a:xfrm>
          <a:prstGeom prst="rect">
            <a:avLst/>
          </a:prstGeom>
          <a:solidFill>
            <a:srgbClr val="FBBF24"/>
          </a:solidFill>
          <a:ln w="12700">
            <a:solidFill>
              <a:srgbClr val="FBBF24"/>
            </a:solidFill>
            <a:prstDash val="solid"/>
          </a:ln>
        </p:spPr>
      </p:sp>
      <p:sp>
        <p:nvSpPr>
          <p:cNvPr id="35" name="heat-30"/>
          <p:cNvSpPr/>
          <p:nvPr/>
        </p:nvSpPr>
        <p:spPr>
          <a:xfrm>
            <a:off x="6311118" y="3343275"/>
            <a:ext cx="161778" cy="165735"/>
          </a:xfrm>
          <a:prstGeom prst="rect">
            <a:avLst/>
          </a:prstGeom>
          <a:solidFill>
            <a:srgbClr val="F97316"/>
          </a:solidFill>
          <a:ln w="12700">
            <a:solidFill>
              <a:srgbClr val="F97316"/>
            </a:solidFill>
            <a:prstDash val="solid"/>
          </a:ln>
        </p:spPr>
      </p:sp>
      <p:sp>
        <p:nvSpPr>
          <p:cNvPr id="36" name="heat-31"/>
          <p:cNvSpPr/>
          <p:nvPr/>
        </p:nvSpPr>
        <p:spPr>
          <a:xfrm>
            <a:off x="6495757" y="3343275"/>
            <a:ext cx="161778" cy="165735"/>
          </a:xfrm>
          <a:prstGeom prst="rect">
            <a:avLst/>
          </a:prstGeom>
          <a:solidFill>
            <a:srgbClr val="EF4444"/>
          </a:solidFill>
          <a:ln w="12700">
            <a:solidFill>
              <a:srgbClr val="EF4444"/>
            </a:solidFill>
            <a:prstDash val="solid"/>
          </a:ln>
        </p:spPr>
      </p:sp>
      <p:sp>
        <p:nvSpPr>
          <p:cNvPr id="37" name="heat-32"/>
          <p:cNvSpPr/>
          <p:nvPr/>
        </p:nvSpPr>
        <p:spPr>
          <a:xfrm>
            <a:off x="6680395" y="3343275"/>
            <a:ext cx="161778" cy="165735"/>
          </a:xfrm>
          <a:prstGeom prst="rect">
            <a:avLst/>
          </a:prstGeom>
          <a:solidFill>
            <a:srgbClr val="EF4444"/>
          </a:solidFill>
          <a:ln w="12700">
            <a:solidFill>
              <a:srgbClr val="EF4444"/>
            </a:solidFill>
            <a:prstDash val="solid"/>
          </a:ln>
        </p:spPr>
      </p:sp>
      <p:sp>
        <p:nvSpPr>
          <p:cNvPr id="38" name="heat-33"/>
          <p:cNvSpPr/>
          <p:nvPr/>
        </p:nvSpPr>
        <p:spPr>
          <a:xfrm>
            <a:off x="6865034" y="3343275"/>
            <a:ext cx="161778" cy="165735"/>
          </a:xfrm>
          <a:prstGeom prst="rect">
            <a:avLst/>
          </a:prstGeom>
          <a:solidFill>
            <a:srgbClr val="EF4444"/>
          </a:solidFill>
          <a:ln w="12700">
            <a:solidFill>
              <a:srgbClr val="EF4444"/>
            </a:solidFill>
            <a:prstDash val="solid"/>
          </a:ln>
        </p:spPr>
      </p:sp>
      <p:sp>
        <p:nvSpPr>
          <p:cNvPr id="39" name="heat-34"/>
          <p:cNvSpPr/>
          <p:nvPr/>
        </p:nvSpPr>
        <p:spPr>
          <a:xfrm>
            <a:off x="7049672" y="3343275"/>
            <a:ext cx="161778" cy="165735"/>
          </a:xfrm>
          <a:prstGeom prst="rect">
            <a:avLst/>
          </a:prstGeom>
          <a:solidFill>
            <a:srgbClr val="F97316"/>
          </a:solidFill>
          <a:ln w="12700">
            <a:solidFill>
              <a:srgbClr val="F97316"/>
            </a:solidFill>
            <a:prstDash val="solid"/>
          </a:ln>
        </p:spPr>
      </p:sp>
      <p:sp>
        <p:nvSpPr>
          <p:cNvPr id="40" name="heat-35"/>
          <p:cNvSpPr/>
          <p:nvPr/>
        </p:nvSpPr>
        <p:spPr>
          <a:xfrm>
            <a:off x="7234311" y="3343275"/>
            <a:ext cx="161778" cy="165735"/>
          </a:xfrm>
          <a:prstGeom prst="rect">
            <a:avLst/>
          </a:prstGeom>
          <a:solidFill>
            <a:srgbClr val="FBBF24"/>
          </a:solidFill>
          <a:ln w="12700">
            <a:solidFill>
              <a:srgbClr val="FBBF24"/>
            </a:solidFill>
            <a:prstDash val="solid"/>
          </a:ln>
        </p:spPr>
      </p:sp>
      <p:sp>
        <p:nvSpPr>
          <p:cNvPr id="41" name="heat-36"/>
          <p:cNvSpPr/>
          <p:nvPr/>
        </p:nvSpPr>
        <p:spPr>
          <a:xfrm>
            <a:off x="7418949" y="3343275"/>
            <a:ext cx="161778" cy="165735"/>
          </a:xfrm>
          <a:prstGeom prst="rect">
            <a:avLst/>
          </a:prstGeom>
          <a:solidFill>
            <a:srgbClr val="FCD34D"/>
          </a:solidFill>
          <a:ln w="12700">
            <a:solidFill>
              <a:srgbClr val="FCD34D"/>
            </a:solidFill>
            <a:prstDash val="solid"/>
          </a:ln>
        </p:spPr>
      </p:sp>
      <p:sp>
        <p:nvSpPr>
          <p:cNvPr id="42" name="heat-37"/>
          <p:cNvSpPr/>
          <p:nvPr/>
        </p:nvSpPr>
        <p:spPr>
          <a:xfrm>
            <a:off x="7603588" y="3343275"/>
            <a:ext cx="161778" cy="165735"/>
          </a:xfrm>
          <a:prstGeom prst="rect">
            <a:avLst/>
          </a:prstGeom>
          <a:solidFill>
            <a:srgbClr val="FBBF24"/>
          </a:solidFill>
          <a:ln w="12700">
            <a:solidFill>
              <a:srgbClr val="FBBF24"/>
            </a:solidFill>
            <a:prstDash val="solid"/>
          </a:ln>
        </p:spPr>
      </p:sp>
      <p:sp>
        <p:nvSpPr>
          <p:cNvPr id="43" name="heat-38"/>
          <p:cNvSpPr/>
          <p:nvPr/>
        </p:nvSpPr>
        <p:spPr>
          <a:xfrm>
            <a:off x="7788226" y="3343275"/>
            <a:ext cx="161778" cy="165735"/>
          </a:xfrm>
          <a:prstGeom prst="rect">
            <a:avLst/>
          </a:prstGeom>
          <a:solidFill>
            <a:srgbClr val="F97316"/>
          </a:solidFill>
          <a:ln w="12700">
            <a:solidFill>
              <a:srgbClr val="F97316"/>
            </a:solidFill>
            <a:prstDash val="solid"/>
          </a:ln>
        </p:spPr>
      </p:sp>
      <p:sp>
        <p:nvSpPr>
          <p:cNvPr id="44" name="heat-39"/>
          <p:cNvSpPr/>
          <p:nvPr/>
        </p:nvSpPr>
        <p:spPr>
          <a:xfrm>
            <a:off x="7972865" y="3343275"/>
            <a:ext cx="161778" cy="165735"/>
          </a:xfrm>
          <a:prstGeom prst="rect">
            <a:avLst/>
          </a:prstGeom>
          <a:solidFill>
            <a:srgbClr val="F97316"/>
          </a:solidFill>
          <a:ln w="12700">
            <a:solidFill>
              <a:srgbClr val="F97316"/>
            </a:solidFill>
            <a:prstDash val="solid"/>
          </a:ln>
        </p:spPr>
      </p:sp>
      <p:sp>
        <p:nvSpPr>
          <p:cNvPr id="45" name="heat-40"/>
          <p:cNvSpPr/>
          <p:nvPr/>
        </p:nvSpPr>
        <p:spPr>
          <a:xfrm>
            <a:off x="8157503" y="3343275"/>
            <a:ext cx="161778" cy="165735"/>
          </a:xfrm>
          <a:prstGeom prst="rect">
            <a:avLst/>
          </a:prstGeom>
          <a:solidFill>
            <a:srgbClr val="F97316"/>
          </a:solidFill>
          <a:ln w="12700">
            <a:solidFill>
              <a:srgbClr val="F97316"/>
            </a:solidFill>
            <a:prstDash val="solid"/>
          </a:ln>
        </p:spPr>
      </p:sp>
      <p:sp>
        <p:nvSpPr>
          <p:cNvPr id="46" name="heat-41"/>
          <p:cNvSpPr/>
          <p:nvPr/>
        </p:nvSpPr>
        <p:spPr>
          <a:xfrm>
            <a:off x="8342142" y="3343275"/>
            <a:ext cx="161778" cy="165735"/>
          </a:xfrm>
          <a:prstGeom prst="rect">
            <a:avLst/>
          </a:prstGeom>
          <a:solidFill>
            <a:srgbClr val="FBBF24"/>
          </a:solidFill>
          <a:ln w="12700">
            <a:solidFill>
              <a:srgbClr val="FBBF24"/>
            </a:solidFill>
            <a:prstDash val="solid"/>
          </a:ln>
        </p:spPr>
      </p:sp>
      <p:sp>
        <p:nvSpPr>
          <p:cNvPr id="47" name="heat-42"/>
          <p:cNvSpPr/>
          <p:nvPr/>
        </p:nvSpPr>
        <p:spPr>
          <a:xfrm>
            <a:off x="6126480" y="3531870"/>
            <a:ext cx="161778" cy="165735"/>
          </a:xfrm>
          <a:prstGeom prst="rect">
            <a:avLst/>
          </a:prstGeom>
          <a:solidFill>
            <a:srgbClr val="FCD34D"/>
          </a:solidFill>
          <a:ln w="12700">
            <a:solidFill>
              <a:srgbClr val="FCD34D"/>
            </a:solidFill>
            <a:prstDash val="solid"/>
          </a:ln>
        </p:spPr>
      </p:sp>
      <p:sp>
        <p:nvSpPr>
          <p:cNvPr id="48" name="heat-43"/>
          <p:cNvSpPr/>
          <p:nvPr/>
        </p:nvSpPr>
        <p:spPr>
          <a:xfrm>
            <a:off x="6311118" y="3531870"/>
            <a:ext cx="161778" cy="165735"/>
          </a:xfrm>
          <a:prstGeom prst="rect">
            <a:avLst/>
          </a:prstGeom>
          <a:solidFill>
            <a:srgbClr val="F97316"/>
          </a:solidFill>
          <a:ln w="12700">
            <a:solidFill>
              <a:srgbClr val="F97316"/>
            </a:solidFill>
            <a:prstDash val="solid"/>
          </a:ln>
        </p:spPr>
      </p:sp>
      <p:sp>
        <p:nvSpPr>
          <p:cNvPr id="49" name="heat-44"/>
          <p:cNvSpPr/>
          <p:nvPr/>
        </p:nvSpPr>
        <p:spPr>
          <a:xfrm>
            <a:off x="6495757" y="3531870"/>
            <a:ext cx="161778" cy="165735"/>
          </a:xfrm>
          <a:prstGeom prst="rect">
            <a:avLst/>
          </a:prstGeom>
          <a:solidFill>
            <a:srgbClr val="EF4444"/>
          </a:solidFill>
          <a:ln w="12700">
            <a:solidFill>
              <a:srgbClr val="EF4444"/>
            </a:solidFill>
            <a:prstDash val="solid"/>
          </a:ln>
        </p:spPr>
      </p:sp>
      <p:sp>
        <p:nvSpPr>
          <p:cNvPr id="50" name="heat-45"/>
          <p:cNvSpPr/>
          <p:nvPr/>
        </p:nvSpPr>
        <p:spPr>
          <a:xfrm>
            <a:off x="6680395" y="3531870"/>
            <a:ext cx="161778" cy="165735"/>
          </a:xfrm>
          <a:prstGeom prst="rect">
            <a:avLst/>
          </a:prstGeom>
          <a:solidFill>
            <a:srgbClr val="EF4444"/>
          </a:solidFill>
          <a:ln w="12700">
            <a:solidFill>
              <a:srgbClr val="EF4444"/>
            </a:solidFill>
            <a:prstDash val="solid"/>
          </a:ln>
        </p:spPr>
      </p:sp>
      <p:sp>
        <p:nvSpPr>
          <p:cNvPr id="51" name="heat-46"/>
          <p:cNvSpPr/>
          <p:nvPr/>
        </p:nvSpPr>
        <p:spPr>
          <a:xfrm>
            <a:off x="6865034" y="3531870"/>
            <a:ext cx="161778" cy="165735"/>
          </a:xfrm>
          <a:prstGeom prst="rect">
            <a:avLst/>
          </a:prstGeom>
          <a:solidFill>
            <a:srgbClr val="EF4444"/>
          </a:solidFill>
          <a:ln w="12700">
            <a:solidFill>
              <a:srgbClr val="EF4444"/>
            </a:solidFill>
            <a:prstDash val="solid"/>
          </a:ln>
        </p:spPr>
      </p:sp>
      <p:sp>
        <p:nvSpPr>
          <p:cNvPr id="52" name="heat-47"/>
          <p:cNvSpPr/>
          <p:nvPr/>
        </p:nvSpPr>
        <p:spPr>
          <a:xfrm>
            <a:off x="7049672" y="3531870"/>
            <a:ext cx="161778" cy="165735"/>
          </a:xfrm>
          <a:prstGeom prst="rect">
            <a:avLst/>
          </a:prstGeom>
          <a:solidFill>
            <a:srgbClr val="F97316"/>
          </a:solidFill>
          <a:ln w="12700">
            <a:solidFill>
              <a:srgbClr val="F97316"/>
            </a:solidFill>
            <a:prstDash val="solid"/>
          </a:ln>
        </p:spPr>
      </p:sp>
      <p:sp>
        <p:nvSpPr>
          <p:cNvPr id="53" name="heat-48"/>
          <p:cNvSpPr/>
          <p:nvPr/>
        </p:nvSpPr>
        <p:spPr>
          <a:xfrm>
            <a:off x="7234311" y="3531870"/>
            <a:ext cx="161778" cy="165735"/>
          </a:xfrm>
          <a:prstGeom prst="rect">
            <a:avLst/>
          </a:prstGeom>
          <a:solidFill>
            <a:srgbClr val="FCD34D"/>
          </a:solidFill>
          <a:ln w="12700">
            <a:solidFill>
              <a:srgbClr val="FCD34D"/>
            </a:solidFill>
            <a:prstDash val="solid"/>
          </a:ln>
        </p:spPr>
      </p:sp>
      <p:sp>
        <p:nvSpPr>
          <p:cNvPr id="54" name="heat-49"/>
          <p:cNvSpPr/>
          <p:nvPr/>
        </p:nvSpPr>
        <p:spPr>
          <a:xfrm>
            <a:off x="7418949" y="3531870"/>
            <a:ext cx="161778" cy="165735"/>
          </a:xfrm>
          <a:prstGeom prst="rect">
            <a:avLst/>
          </a:prstGeom>
          <a:solidFill>
            <a:srgbClr val="FBBF24"/>
          </a:solidFill>
          <a:ln w="12700">
            <a:solidFill>
              <a:srgbClr val="FBBF24"/>
            </a:solidFill>
            <a:prstDash val="solid"/>
          </a:ln>
        </p:spPr>
      </p:sp>
      <p:sp>
        <p:nvSpPr>
          <p:cNvPr id="55" name="heat-50"/>
          <p:cNvSpPr/>
          <p:nvPr/>
        </p:nvSpPr>
        <p:spPr>
          <a:xfrm>
            <a:off x="7603588" y="3531870"/>
            <a:ext cx="161778" cy="165735"/>
          </a:xfrm>
          <a:prstGeom prst="rect">
            <a:avLst/>
          </a:prstGeom>
          <a:solidFill>
            <a:srgbClr val="FBBF24"/>
          </a:solidFill>
          <a:ln w="12700">
            <a:solidFill>
              <a:srgbClr val="FBBF24"/>
            </a:solidFill>
            <a:prstDash val="solid"/>
          </a:ln>
        </p:spPr>
      </p:sp>
      <p:sp>
        <p:nvSpPr>
          <p:cNvPr id="56" name="heat-51"/>
          <p:cNvSpPr/>
          <p:nvPr/>
        </p:nvSpPr>
        <p:spPr>
          <a:xfrm>
            <a:off x="7788226" y="3531870"/>
            <a:ext cx="161778" cy="165735"/>
          </a:xfrm>
          <a:prstGeom prst="rect">
            <a:avLst/>
          </a:prstGeom>
          <a:solidFill>
            <a:srgbClr val="F97316"/>
          </a:solidFill>
          <a:ln w="12700">
            <a:solidFill>
              <a:srgbClr val="F97316"/>
            </a:solidFill>
            <a:prstDash val="solid"/>
          </a:ln>
        </p:spPr>
      </p:sp>
      <p:sp>
        <p:nvSpPr>
          <p:cNvPr id="57" name="heat-52"/>
          <p:cNvSpPr/>
          <p:nvPr/>
        </p:nvSpPr>
        <p:spPr>
          <a:xfrm>
            <a:off x="7972865" y="3531870"/>
            <a:ext cx="161778" cy="165735"/>
          </a:xfrm>
          <a:prstGeom prst="rect">
            <a:avLst/>
          </a:prstGeom>
          <a:solidFill>
            <a:srgbClr val="F97316"/>
          </a:solidFill>
          <a:ln w="12700">
            <a:solidFill>
              <a:srgbClr val="F97316"/>
            </a:solidFill>
            <a:prstDash val="solid"/>
          </a:ln>
        </p:spPr>
      </p:sp>
      <p:sp>
        <p:nvSpPr>
          <p:cNvPr id="58" name="heat-53"/>
          <p:cNvSpPr/>
          <p:nvPr/>
        </p:nvSpPr>
        <p:spPr>
          <a:xfrm>
            <a:off x="8157503" y="3531870"/>
            <a:ext cx="161778" cy="165735"/>
          </a:xfrm>
          <a:prstGeom prst="rect">
            <a:avLst/>
          </a:prstGeom>
          <a:solidFill>
            <a:srgbClr val="F97316"/>
          </a:solidFill>
          <a:ln w="12700">
            <a:solidFill>
              <a:srgbClr val="F97316"/>
            </a:solidFill>
            <a:prstDash val="solid"/>
          </a:ln>
        </p:spPr>
      </p:sp>
      <p:sp>
        <p:nvSpPr>
          <p:cNvPr id="59" name="heat-54"/>
          <p:cNvSpPr/>
          <p:nvPr/>
        </p:nvSpPr>
        <p:spPr>
          <a:xfrm>
            <a:off x="8342142" y="3531870"/>
            <a:ext cx="161778" cy="165735"/>
          </a:xfrm>
          <a:prstGeom prst="rect">
            <a:avLst/>
          </a:prstGeom>
          <a:solidFill>
            <a:srgbClr val="F97316"/>
          </a:solidFill>
          <a:ln w="12700">
            <a:solidFill>
              <a:srgbClr val="F97316"/>
            </a:solidFill>
            <a:prstDash val="solid"/>
          </a:ln>
        </p:spPr>
      </p:sp>
      <p:sp>
        <p:nvSpPr>
          <p:cNvPr id="60" name="heat-55"/>
          <p:cNvSpPr/>
          <p:nvPr/>
        </p:nvSpPr>
        <p:spPr>
          <a:xfrm>
            <a:off x="6126480" y="3720465"/>
            <a:ext cx="161778" cy="165735"/>
          </a:xfrm>
          <a:prstGeom prst="rect">
            <a:avLst/>
          </a:prstGeom>
          <a:solidFill>
            <a:srgbClr val="FCD34D"/>
          </a:solidFill>
          <a:ln w="12700">
            <a:solidFill>
              <a:srgbClr val="FCD34D"/>
            </a:solidFill>
            <a:prstDash val="solid"/>
          </a:ln>
        </p:spPr>
      </p:sp>
      <p:sp>
        <p:nvSpPr>
          <p:cNvPr id="61" name="heat-56"/>
          <p:cNvSpPr/>
          <p:nvPr/>
        </p:nvSpPr>
        <p:spPr>
          <a:xfrm>
            <a:off x="6311118" y="3720465"/>
            <a:ext cx="161778" cy="165735"/>
          </a:xfrm>
          <a:prstGeom prst="rect">
            <a:avLst/>
          </a:prstGeom>
          <a:solidFill>
            <a:srgbClr val="FBBF24"/>
          </a:solidFill>
          <a:ln w="12700">
            <a:solidFill>
              <a:srgbClr val="FBBF24"/>
            </a:solidFill>
            <a:prstDash val="solid"/>
          </a:ln>
        </p:spPr>
      </p:sp>
      <p:sp>
        <p:nvSpPr>
          <p:cNvPr id="62" name="heat-57"/>
          <p:cNvSpPr/>
          <p:nvPr/>
        </p:nvSpPr>
        <p:spPr>
          <a:xfrm>
            <a:off x="6495757" y="3720465"/>
            <a:ext cx="161778" cy="165735"/>
          </a:xfrm>
          <a:prstGeom prst="rect">
            <a:avLst/>
          </a:prstGeom>
          <a:solidFill>
            <a:srgbClr val="F97316"/>
          </a:solidFill>
          <a:ln w="12700">
            <a:solidFill>
              <a:srgbClr val="F97316"/>
            </a:solidFill>
            <a:prstDash val="solid"/>
          </a:ln>
        </p:spPr>
      </p:sp>
      <p:sp>
        <p:nvSpPr>
          <p:cNvPr id="63" name="heat-58"/>
          <p:cNvSpPr/>
          <p:nvPr/>
        </p:nvSpPr>
        <p:spPr>
          <a:xfrm>
            <a:off x="6680395" y="3720465"/>
            <a:ext cx="161778" cy="165735"/>
          </a:xfrm>
          <a:prstGeom prst="rect">
            <a:avLst/>
          </a:prstGeom>
          <a:solidFill>
            <a:srgbClr val="F97316"/>
          </a:solidFill>
          <a:ln w="12700">
            <a:solidFill>
              <a:srgbClr val="F97316"/>
            </a:solidFill>
            <a:prstDash val="solid"/>
          </a:ln>
        </p:spPr>
      </p:sp>
      <p:sp>
        <p:nvSpPr>
          <p:cNvPr id="64" name="heat-59"/>
          <p:cNvSpPr/>
          <p:nvPr/>
        </p:nvSpPr>
        <p:spPr>
          <a:xfrm>
            <a:off x="6865034" y="3720465"/>
            <a:ext cx="161778" cy="165735"/>
          </a:xfrm>
          <a:prstGeom prst="rect">
            <a:avLst/>
          </a:prstGeom>
          <a:solidFill>
            <a:srgbClr val="F97316"/>
          </a:solidFill>
          <a:ln w="12700">
            <a:solidFill>
              <a:srgbClr val="F97316"/>
            </a:solidFill>
            <a:prstDash val="solid"/>
          </a:ln>
        </p:spPr>
      </p:sp>
      <p:sp>
        <p:nvSpPr>
          <p:cNvPr id="65" name="heat-60"/>
          <p:cNvSpPr/>
          <p:nvPr/>
        </p:nvSpPr>
        <p:spPr>
          <a:xfrm>
            <a:off x="7049672" y="3720465"/>
            <a:ext cx="161778" cy="165735"/>
          </a:xfrm>
          <a:prstGeom prst="rect">
            <a:avLst/>
          </a:prstGeom>
          <a:solidFill>
            <a:srgbClr val="FBBF24"/>
          </a:solidFill>
          <a:ln w="12700">
            <a:solidFill>
              <a:srgbClr val="FBBF24"/>
            </a:solidFill>
            <a:prstDash val="solid"/>
          </a:ln>
        </p:spPr>
      </p:sp>
      <p:sp>
        <p:nvSpPr>
          <p:cNvPr id="66" name="heat-61"/>
          <p:cNvSpPr/>
          <p:nvPr/>
        </p:nvSpPr>
        <p:spPr>
          <a:xfrm>
            <a:off x="7234311" y="3720465"/>
            <a:ext cx="161778" cy="165735"/>
          </a:xfrm>
          <a:prstGeom prst="rect">
            <a:avLst/>
          </a:prstGeom>
          <a:solidFill>
            <a:srgbClr val="FCD34D"/>
          </a:solidFill>
          <a:ln w="12700">
            <a:solidFill>
              <a:srgbClr val="FCD34D"/>
            </a:solidFill>
            <a:prstDash val="solid"/>
          </a:ln>
        </p:spPr>
      </p:sp>
      <p:sp>
        <p:nvSpPr>
          <p:cNvPr id="67" name="heat-62"/>
          <p:cNvSpPr/>
          <p:nvPr/>
        </p:nvSpPr>
        <p:spPr>
          <a:xfrm>
            <a:off x="7418949" y="3720465"/>
            <a:ext cx="161778" cy="165735"/>
          </a:xfrm>
          <a:prstGeom prst="rect">
            <a:avLst/>
          </a:prstGeom>
          <a:solidFill>
            <a:srgbClr val="FCD34D"/>
          </a:solidFill>
          <a:ln w="12700">
            <a:solidFill>
              <a:srgbClr val="FCD34D"/>
            </a:solidFill>
            <a:prstDash val="solid"/>
          </a:ln>
        </p:spPr>
      </p:sp>
      <p:sp>
        <p:nvSpPr>
          <p:cNvPr id="68" name="heat-63"/>
          <p:cNvSpPr/>
          <p:nvPr/>
        </p:nvSpPr>
        <p:spPr>
          <a:xfrm>
            <a:off x="7603588" y="3720465"/>
            <a:ext cx="161778" cy="165735"/>
          </a:xfrm>
          <a:prstGeom prst="rect">
            <a:avLst/>
          </a:prstGeom>
          <a:solidFill>
            <a:srgbClr val="FBBF24"/>
          </a:solidFill>
          <a:ln w="12700">
            <a:solidFill>
              <a:srgbClr val="FBBF24"/>
            </a:solidFill>
            <a:prstDash val="solid"/>
          </a:ln>
        </p:spPr>
      </p:sp>
      <p:sp>
        <p:nvSpPr>
          <p:cNvPr id="69" name="heat-64"/>
          <p:cNvSpPr/>
          <p:nvPr/>
        </p:nvSpPr>
        <p:spPr>
          <a:xfrm>
            <a:off x="7788226" y="3720465"/>
            <a:ext cx="161778" cy="165735"/>
          </a:xfrm>
          <a:prstGeom prst="rect">
            <a:avLst/>
          </a:prstGeom>
          <a:solidFill>
            <a:srgbClr val="F97316"/>
          </a:solidFill>
          <a:ln w="12700">
            <a:solidFill>
              <a:srgbClr val="F97316"/>
            </a:solidFill>
            <a:prstDash val="solid"/>
          </a:ln>
        </p:spPr>
      </p:sp>
      <p:sp>
        <p:nvSpPr>
          <p:cNvPr id="70" name="heat-65"/>
          <p:cNvSpPr/>
          <p:nvPr/>
        </p:nvSpPr>
        <p:spPr>
          <a:xfrm>
            <a:off x="7972865" y="3720465"/>
            <a:ext cx="161778" cy="165735"/>
          </a:xfrm>
          <a:prstGeom prst="rect">
            <a:avLst/>
          </a:prstGeom>
          <a:solidFill>
            <a:srgbClr val="F97316"/>
          </a:solidFill>
          <a:ln w="12700">
            <a:solidFill>
              <a:srgbClr val="F97316"/>
            </a:solidFill>
            <a:prstDash val="solid"/>
          </a:ln>
        </p:spPr>
      </p:sp>
      <p:sp>
        <p:nvSpPr>
          <p:cNvPr id="71" name="heat-66"/>
          <p:cNvSpPr/>
          <p:nvPr/>
        </p:nvSpPr>
        <p:spPr>
          <a:xfrm>
            <a:off x="8157503" y="3720465"/>
            <a:ext cx="161778" cy="165735"/>
          </a:xfrm>
          <a:prstGeom prst="rect">
            <a:avLst/>
          </a:prstGeom>
          <a:solidFill>
            <a:srgbClr val="F97316"/>
          </a:solidFill>
          <a:ln w="12700">
            <a:solidFill>
              <a:srgbClr val="F97316"/>
            </a:solidFill>
            <a:prstDash val="solid"/>
          </a:ln>
        </p:spPr>
      </p:sp>
      <p:sp>
        <p:nvSpPr>
          <p:cNvPr id="72" name="heat-67"/>
          <p:cNvSpPr/>
          <p:nvPr/>
        </p:nvSpPr>
        <p:spPr>
          <a:xfrm>
            <a:off x="8342142" y="3720465"/>
            <a:ext cx="161778" cy="165735"/>
          </a:xfrm>
          <a:prstGeom prst="rect">
            <a:avLst/>
          </a:prstGeom>
          <a:solidFill>
            <a:srgbClr val="FBBF24"/>
          </a:solidFill>
          <a:ln w="12700">
            <a:solidFill>
              <a:srgbClr val="FBBF2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Today, capstones end up scattered</a:t>
            </a:r>
            <a:endParaRPr lang="en-US" sz="3200" dirty="0"/>
          </a:p>
        </p:txBody>
      </p:sp>
      <p:sp>
        <p:nvSpPr>
          <p:cNvPr id="3" name="text-68"/>
          <p:cNvSpPr txBox="1"/>
          <p:nvPr/>
        </p:nvSpPr>
        <p:spPr>
          <a:xfrm>
            <a:off x="457200" y="1097280"/>
            <a:ext cx="3657600" cy="228600"/>
          </a:xfrm>
          <a:prstGeom prst="rect">
            <a:avLst/>
          </a:prstGeom>
          <a:noFill/>
          <a:ln/>
        </p:spPr>
        <p:txBody>
          <a:bodyPr wrap="square" lIns="0" tIns="0" rIns="0" bIns="0" rtlCol="0" anchor="t"/>
          <a:lstStyle/>
          <a:p>
            <a:pPr indent="0" marL="0">
              <a:buNone/>
            </a:pPr>
            <a:r>
              <a:rPr lang="en-US" sz="1100" b="1" spc="150" kern="0" dirty="0">
                <a:solidFill>
                  <a:schemeClr val="accent6"/>
                </a:solidFill>
              </a:rPr>
              <a:t>WHAT EXISTS AT THE END</a:t>
            </a:r>
            <a:endParaRPr lang="en-US" sz="1100" dirty="0"/>
          </a:p>
        </p:txBody>
      </p:sp>
      <p:sp>
        <p:nvSpPr>
          <p:cNvPr id="4" name="text-69"/>
          <p:cNvSpPr txBox="1"/>
          <p:nvPr/>
        </p:nvSpPr>
        <p:spPr>
          <a:xfrm>
            <a:off x="4663440" y="1097280"/>
            <a:ext cx="4023360" cy="228600"/>
          </a:xfrm>
          <a:prstGeom prst="rect">
            <a:avLst/>
          </a:prstGeom>
          <a:noFill/>
          <a:ln/>
        </p:spPr>
        <p:txBody>
          <a:bodyPr wrap="square" lIns="0" tIns="0" rIns="0" bIns="0" rtlCol="0" anchor="t"/>
          <a:lstStyle/>
          <a:p>
            <a:pPr indent="0" marL="0">
              <a:buNone/>
            </a:pPr>
            <a:r>
              <a:rPr lang="en-US" sz="1100" b="1" spc="150" kern="0" dirty="0">
                <a:solidFill>
                  <a:schemeClr val="accent6"/>
                </a:solidFill>
              </a:rPr>
              <a:t>WHAT PEOPLE ACTUALLY ASK</a:t>
            </a:r>
            <a:endParaRPr lang="en-US" sz="1100" dirty="0"/>
          </a:p>
        </p:txBody>
      </p:sp>
      <p:sp>
        <p:nvSpPr>
          <p:cNvPr id="5" name="card-70"/>
          <p:cNvSpPr/>
          <p:nvPr/>
        </p:nvSpPr>
        <p:spPr>
          <a:xfrm>
            <a:off x="457200" y="1417320"/>
            <a:ext cx="3840480" cy="804672"/>
          </a:xfrm>
          <a:prstGeom prst="roundRect">
            <a:avLst>
              <a:gd name="adj" fmla="val 9091"/>
            </a:avLst>
          </a:prstGeom>
          <a:solidFill>
            <a:schemeClr val="bg2"/>
          </a:solidFill>
          <a:ln w="9525">
            <a:solidFill>
              <a:schemeClr val="bg2"/>
            </a:solidFill>
            <a:prstDash val="solid"/>
          </a:ln>
        </p:spPr>
      </p:sp>
      <p:sp>
        <p:nvSpPr>
          <p:cNvPr id="6" name="icon-bg-71"/>
          <p:cNvSpPr/>
          <p:nvPr/>
        </p:nvSpPr>
        <p:spPr>
          <a:xfrm>
            <a:off x="594360" y="1572768"/>
            <a:ext cx="493776" cy="493776"/>
          </a:xfrm>
          <a:prstGeom prst="ellipse">
            <a:avLst/>
          </a:prstGeom>
          <a:solidFill>
            <a:schemeClr val="bg1"/>
          </a:solidFill>
          <a:ln w="12700">
            <a:solidFill>
              <a:schemeClr val="bg1"/>
            </a:solidFill>
            <a:prstDash val="solid"/>
          </a:ln>
        </p:spPr>
      </p:sp>
      <p:pic>
        <p:nvPicPr>
          <p:cNvPr id="7" name="icon-72" descr="preencoded.png">    </p:cNvPr>
          <p:cNvPicPr>
            <a:picLocks noChangeAspect="1"/>
          </p:cNvPicPr>
          <p:nvPr/>
        </p:nvPicPr>
        <p:blipFill>
          <a:blip r:embed="rId1"/>
          <a:stretch>
            <a:fillRect/>
          </a:stretch>
        </p:blipFill>
        <p:spPr>
          <a:xfrm>
            <a:off x="722742" y="1701150"/>
            <a:ext cx="237012" cy="237012"/>
          </a:xfrm>
          <a:prstGeom prst="rect">
            <a:avLst/>
          </a:prstGeom>
        </p:spPr>
      </p:pic>
      <p:sp>
        <p:nvSpPr>
          <p:cNvPr id="8" name="text-73"/>
          <p:cNvSpPr txBox="1"/>
          <p:nvPr/>
        </p:nvSpPr>
        <p:spPr>
          <a:xfrm>
            <a:off x="1234440" y="1508760"/>
            <a:ext cx="2926080" cy="274320"/>
          </a:xfrm>
          <a:prstGeom prst="rect">
            <a:avLst/>
          </a:prstGeom>
          <a:noFill/>
          <a:ln/>
        </p:spPr>
        <p:txBody>
          <a:bodyPr wrap="square" lIns="0" tIns="0" rIns="0" bIns="0" rtlCol="0" anchor="t"/>
          <a:lstStyle/>
          <a:p>
            <a:pPr indent="0" marL="0">
              <a:buNone/>
            </a:pPr>
            <a:r>
              <a:rPr lang="en-US" sz="1500" b="1" dirty="0">
                <a:solidFill>
                  <a:schemeClr val="tx1"/>
                </a:solidFill>
              </a:rPr>
              <a:t>GitHub repo</a:t>
            </a:r>
            <a:endParaRPr lang="en-US" sz="1500" dirty="0"/>
          </a:p>
        </p:txBody>
      </p:sp>
      <p:sp>
        <p:nvSpPr>
          <p:cNvPr id="9" name="text-74"/>
          <p:cNvSpPr txBox="1"/>
          <p:nvPr/>
        </p:nvSpPr>
        <p:spPr>
          <a:xfrm>
            <a:off x="1234440" y="1783080"/>
            <a:ext cx="2971800" cy="411480"/>
          </a:xfrm>
          <a:prstGeom prst="rect">
            <a:avLst/>
          </a:prstGeom>
          <a:noFill/>
          <a:ln/>
        </p:spPr>
        <p:txBody>
          <a:bodyPr wrap="square" lIns="0" tIns="0" rIns="0" bIns="0" rtlCol="0" anchor="t"/>
          <a:lstStyle/>
          <a:p>
            <a:pPr indent="0" marL="0">
              <a:buNone/>
            </a:pPr>
            <a:r>
              <a:rPr lang="en-US" sz="1300" dirty="0">
                <a:solidFill>
                  <a:schemeClr val="tx1"/>
                </a:solidFill>
              </a:rPr>
              <a:t>The code is there, but not the story</a:t>
            </a:r>
            <a:endParaRPr lang="en-US" sz="1300" dirty="0"/>
          </a:p>
        </p:txBody>
      </p:sp>
      <p:sp>
        <p:nvSpPr>
          <p:cNvPr id="10" name="card-75"/>
          <p:cNvSpPr/>
          <p:nvPr/>
        </p:nvSpPr>
        <p:spPr>
          <a:xfrm>
            <a:off x="457200" y="2350008"/>
            <a:ext cx="3840480" cy="804672"/>
          </a:xfrm>
          <a:prstGeom prst="roundRect">
            <a:avLst>
              <a:gd name="adj" fmla="val 9091"/>
            </a:avLst>
          </a:prstGeom>
          <a:solidFill>
            <a:schemeClr val="bg2"/>
          </a:solidFill>
          <a:ln w="9525">
            <a:solidFill>
              <a:schemeClr val="bg2"/>
            </a:solidFill>
            <a:prstDash val="solid"/>
          </a:ln>
        </p:spPr>
      </p:sp>
      <p:sp>
        <p:nvSpPr>
          <p:cNvPr id="11" name="icon-bg-76"/>
          <p:cNvSpPr/>
          <p:nvPr/>
        </p:nvSpPr>
        <p:spPr>
          <a:xfrm>
            <a:off x="594360" y="2505456"/>
            <a:ext cx="493776" cy="493776"/>
          </a:xfrm>
          <a:prstGeom prst="ellipse">
            <a:avLst/>
          </a:prstGeom>
          <a:solidFill>
            <a:schemeClr val="bg1"/>
          </a:solidFill>
          <a:ln w="12700">
            <a:solidFill>
              <a:schemeClr val="bg1"/>
            </a:solidFill>
            <a:prstDash val="solid"/>
          </a:ln>
        </p:spPr>
      </p:sp>
      <p:pic>
        <p:nvPicPr>
          <p:cNvPr id="12" name="icon-77" descr="preencoded.png">    </p:cNvPr>
          <p:cNvPicPr>
            <a:picLocks noChangeAspect="1"/>
          </p:cNvPicPr>
          <p:nvPr/>
        </p:nvPicPr>
        <p:blipFill>
          <a:blip r:embed="rId2"/>
          <a:stretch>
            <a:fillRect/>
          </a:stretch>
        </p:blipFill>
        <p:spPr>
          <a:xfrm>
            <a:off x="722742" y="2633838"/>
            <a:ext cx="237012" cy="237012"/>
          </a:xfrm>
          <a:prstGeom prst="rect">
            <a:avLst/>
          </a:prstGeom>
        </p:spPr>
      </p:pic>
      <p:sp>
        <p:nvSpPr>
          <p:cNvPr id="13" name="text-78"/>
          <p:cNvSpPr txBox="1"/>
          <p:nvPr/>
        </p:nvSpPr>
        <p:spPr>
          <a:xfrm>
            <a:off x="1234440" y="2441448"/>
            <a:ext cx="2926080" cy="274320"/>
          </a:xfrm>
          <a:prstGeom prst="rect">
            <a:avLst/>
          </a:prstGeom>
          <a:noFill/>
          <a:ln/>
        </p:spPr>
        <p:txBody>
          <a:bodyPr wrap="square" lIns="0" tIns="0" rIns="0" bIns="0" rtlCol="0" anchor="t"/>
          <a:lstStyle/>
          <a:p>
            <a:pPr indent="0" marL="0">
              <a:buNone/>
            </a:pPr>
            <a:r>
              <a:rPr lang="en-US" sz="1500" b="1" dirty="0">
                <a:solidFill>
                  <a:schemeClr val="tx1"/>
                </a:solidFill>
              </a:rPr>
              <a:t>Streamlit link</a:t>
            </a:r>
            <a:endParaRPr lang="en-US" sz="1500" dirty="0"/>
          </a:p>
        </p:txBody>
      </p:sp>
      <p:sp>
        <p:nvSpPr>
          <p:cNvPr id="14" name="text-79"/>
          <p:cNvSpPr txBox="1"/>
          <p:nvPr/>
        </p:nvSpPr>
        <p:spPr>
          <a:xfrm>
            <a:off x="1234440" y="2715768"/>
            <a:ext cx="2971800" cy="411480"/>
          </a:xfrm>
          <a:prstGeom prst="rect">
            <a:avLst/>
          </a:prstGeom>
          <a:noFill/>
          <a:ln/>
        </p:spPr>
        <p:txBody>
          <a:bodyPr wrap="square" lIns="0" tIns="0" rIns="0" bIns="0" rtlCol="0" anchor="t"/>
          <a:lstStyle/>
          <a:p>
            <a:pPr indent="0" marL="0">
              <a:buNone/>
            </a:pPr>
            <a:r>
              <a:rPr lang="en-US" sz="1300" dirty="0">
                <a:solidFill>
                  <a:schemeClr val="tx1"/>
                </a:solidFill>
              </a:rPr>
              <a:t>Free hosting sleeps — examiners see a wake-up screen</a:t>
            </a:r>
            <a:endParaRPr lang="en-US" sz="1300" dirty="0"/>
          </a:p>
        </p:txBody>
      </p:sp>
      <p:sp>
        <p:nvSpPr>
          <p:cNvPr id="15" name="card-80"/>
          <p:cNvSpPr/>
          <p:nvPr/>
        </p:nvSpPr>
        <p:spPr>
          <a:xfrm>
            <a:off x="457200" y="3282696"/>
            <a:ext cx="3840480" cy="804672"/>
          </a:xfrm>
          <a:prstGeom prst="roundRect">
            <a:avLst>
              <a:gd name="adj" fmla="val 9091"/>
            </a:avLst>
          </a:prstGeom>
          <a:solidFill>
            <a:schemeClr val="bg2"/>
          </a:solidFill>
          <a:ln w="9525">
            <a:solidFill>
              <a:schemeClr val="bg2"/>
            </a:solidFill>
            <a:prstDash val="solid"/>
          </a:ln>
        </p:spPr>
      </p:sp>
      <p:sp>
        <p:nvSpPr>
          <p:cNvPr id="16" name="icon-bg-81"/>
          <p:cNvSpPr/>
          <p:nvPr/>
        </p:nvSpPr>
        <p:spPr>
          <a:xfrm>
            <a:off x="594360" y="3438144"/>
            <a:ext cx="493776" cy="493776"/>
          </a:xfrm>
          <a:prstGeom prst="ellipse">
            <a:avLst/>
          </a:prstGeom>
          <a:solidFill>
            <a:schemeClr val="bg1"/>
          </a:solidFill>
          <a:ln w="12700">
            <a:solidFill>
              <a:schemeClr val="bg1"/>
            </a:solidFill>
            <a:prstDash val="solid"/>
          </a:ln>
        </p:spPr>
      </p:sp>
      <p:pic>
        <p:nvPicPr>
          <p:cNvPr id="17" name="icon-82" descr="preencoded.png">    </p:cNvPr>
          <p:cNvPicPr>
            <a:picLocks noChangeAspect="1"/>
          </p:cNvPicPr>
          <p:nvPr/>
        </p:nvPicPr>
        <p:blipFill>
          <a:blip r:embed="rId3"/>
          <a:stretch>
            <a:fillRect/>
          </a:stretch>
        </p:blipFill>
        <p:spPr>
          <a:xfrm>
            <a:off x="722742" y="3566526"/>
            <a:ext cx="237012" cy="237012"/>
          </a:xfrm>
          <a:prstGeom prst="rect">
            <a:avLst/>
          </a:prstGeom>
        </p:spPr>
      </p:pic>
      <p:sp>
        <p:nvSpPr>
          <p:cNvPr id="18" name="text-83"/>
          <p:cNvSpPr txBox="1"/>
          <p:nvPr/>
        </p:nvSpPr>
        <p:spPr>
          <a:xfrm>
            <a:off x="1234440" y="3374136"/>
            <a:ext cx="2926080" cy="274320"/>
          </a:xfrm>
          <a:prstGeom prst="rect">
            <a:avLst/>
          </a:prstGeom>
          <a:noFill/>
          <a:ln/>
        </p:spPr>
        <p:txBody>
          <a:bodyPr wrap="square" lIns="0" tIns="0" rIns="0" bIns="0" rtlCol="0" anchor="t"/>
          <a:lstStyle/>
          <a:p>
            <a:pPr indent="0" marL="0">
              <a:buNone/>
            </a:pPr>
            <a:r>
              <a:rPr lang="en-US" sz="1500" b="1" dirty="0">
                <a:solidFill>
                  <a:schemeClr val="tx1"/>
                </a:solidFill>
              </a:rPr>
              <a:t>PDF report</a:t>
            </a:r>
            <a:endParaRPr lang="en-US" sz="1500" dirty="0"/>
          </a:p>
        </p:txBody>
      </p:sp>
      <p:sp>
        <p:nvSpPr>
          <p:cNvPr id="19" name="text-84"/>
          <p:cNvSpPr txBox="1"/>
          <p:nvPr/>
        </p:nvSpPr>
        <p:spPr>
          <a:xfrm>
            <a:off x="1234440" y="3648456"/>
            <a:ext cx="2971800" cy="411480"/>
          </a:xfrm>
          <a:prstGeom prst="rect">
            <a:avLst/>
          </a:prstGeom>
          <a:noFill/>
          <a:ln/>
        </p:spPr>
        <p:txBody>
          <a:bodyPr wrap="square" lIns="0" tIns="0" rIns="0" bIns="0" rtlCol="0" anchor="t"/>
          <a:lstStyle/>
          <a:p>
            <a:pPr indent="0" marL="0">
              <a:buNone/>
            </a:pPr>
            <a:r>
              <a:rPr lang="en-US" sz="1300" dirty="0">
                <a:solidFill>
                  <a:schemeClr val="tx1"/>
                </a:solidFill>
              </a:rPr>
              <a:t>Results frozen on submission day</a:t>
            </a:r>
            <a:endParaRPr lang="en-US" sz="1300" dirty="0"/>
          </a:p>
        </p:txBody>
      </p:sp>
      <p:sp>
        <p:nvSpPr>
          <p:cNvPr id="20" name="card-85"/>
          <p:cNvSpPr/>
          <p:nvPr/>
        </p:nvSpPr>
        <p:spPr>
          <a:xfrm>
            <a:off x="4663440" y="1417320"/>
            <a:ext cx="4023360" cy="804672"/>
          </a:xfrm>
          <a:prstGeom prst="roundRect">
            <a:avLst>
              <a:gd name="adj" fmla="val 9091"/>
            </a:avLst>
          </a:prstGeom>
          <a:solidFill>
            <a:schemeClr val="bg1"/>
          </a:solidFill>
          <a:ln w="9525">
            <a:solidFill>
              <a:srgbClr val="E2E5F0"/>
            </a:solidFill>
            <a:prstDash val="solid"/>
          </a:ln>
        </p:spPr>
      </p:sp>
      <p:sp>
        <p:nvSpPr>
          <p:cNvPr id="21" name="icon-bg-86"/>
          <p:cNvSpPr/>
          <p:nvPr/>
        </p:nvSpPr>
        <p:spPr>
          <a:xfrm>
            <a:off x="4800600" y="1572768"/>
            <a:ext cx="493776" cy="493776"/>
          </a:xfrm>
          <a:prstGeom prst="ellipse">
            <a:avLst/>
          </a:prstGeom>
          <a:solidFill>
            <a:schemeClr val="accent1"/>
          </a:solidFill>
          <a:ln w="12700">
            <a:solidFill>
              <a:schemeClr val="accent1"/>
            </a:solidFill>
            <a:prstDash val="solid"/>
          </a:ln>
        </p:spPr>
      </p:sp>
      <p:pic>
        <p:nvPicPr>
          <p:cNvPr id="22" name="icon-87" descr="preencoded.png">    </p:cNvPr>
          <p:cNvPicPr>
            <a:picLocks noChangeAspect="1"/>
          </p:cNvPicPr>
          <p:nvPr/>
        </p:nvPicPr>
        <p:blipFill>
          <a:blip r:embed="rId4"/>
          <a:stretch>
            <a:fillRect/>
          </a:stretch>
        </p:blipFill>
        <p:spPr>
          <a:xfrm>
            <a:off x="4928982" y="1701150"/>
            <a:ext cx="237012" cy="237012"/>
          </a:xfrm>
          <a:prstGeom prst="rect">
            <a:avLst/>
          </a:prstGeom>
        </p:spPr>
      </p:pic>
      <p:sp>
        <p:nvSpPr>
          <p:cNvPr id="23" name="text-88"/>
          <p:cNvSpPr txBox="1"/>
          <p:nvPr/>
        </p:nvSpPr>
        <p:spPr>
          <a:xfrm>
            <a:off x="5440680" y="1508760"/>
            <a:ext cx="3108960" cy="274320"/>
          </a:xfrm>
          <a:prstGeom prst="rect">
            <a:avLst/>
          </a:prstGeom>
          <a:noFill/>
          <a:ln/>
        </p:spPr>
        <p:txBody>
          <a:bodyPr wrap="square" lIns="0" tIns="0" rIns="0" bIns="0" rtlCol="0" anchor="t"/>
          <a:lstStyle/>
          <a:p>
            <a:pPr indent="0" marL="0">
              <a:buNone/>
            </a:pPr>
            <a:r>
              <a:rPr lang="en-US" sz="1500" b="1" dirty="0">
                <a:solidFill>
                  <a:schemeClr val="tx1"/>
                </a:solidFill>
              </a:rPr>
              <a:t>Examiner</a:t>
            </a:r>
            <a:endParaRPr lang="en-US" sz="1500" dirty="0"/>
          </a:p>
        </p:txBody>
      </p:sp>
      <p:sp>
        <p:nvSpPr>
          <p:cNvPr id="24" name="text-89"/>
          <p:cNvSpPr txBox="1"/>
          <p:nvPr/>
        </p:nvSpPr>
        <p:spPr>
          <a:xfrm>
            <a:off x="5440680" y="1783080"/>
            <a:ext cx="3154680" cy="411480"/>
          </a:xfrm>
          <a:prstGeom prst="rect">
            <a:avLst/>
          </a:prstGeom>
          <a:noFill/>
          <a:ln/>
        </p:spPr>
        <p:txBody>
          <a:bodyPr wrap="square" lIns="0" tIns="0" rIns="0" bIns="0" rtlCol="0" anchor="t"/>
          <a:lstStyle/>
          <a:p>
            <a:pPr indent="0" marL="0">
              <a:buNone/>
            </a:pPr>
            <a:r>
              <a:rPr lang="en-US" sz="1300" i="1" dirty="0">
                <a:solidFill>
                  <a:schemeClr val="tx1"/>
                </a:solidFill>
              </a:rPr>
              <a:t>“Did it hit the targets it promised?”</a:t>
            </a:r>
            <a:endParaRPr lang="en-US" sz="1300" dirty="0"/>
          </a:p>
        </p:txBody>
      </p:sp>
      <p:sp>
        <p:nvSpPr>
          <p:cNvPr id="25" name="card-90"/>
          <p:cNvSpPr/>
          <p:nvPr/>
        </p:nvSpPr>
        <p:spPr>
          <a:xfrm>
            <a:off x="4663440" y="2350008"/>
            <a:ext cx="4023360" cy="804672"/>
          </a:xfrm>
          <a:prstGeom prst="roundRect">
            <a:avLst>
              <a:gd name="adj" fmla="val 9091"/>
            </a:avLst>
          </a:prstGeom>
          <a:solidFill>
            <a:schemeClr val="bg1"/>
          </a:solidFill>
          <a:ln w="9525">
            <a:solidFill>
              <a:srgbClr val="E2E5F0"/>
            </a:solidFill>
            <a:prstDash val="solid"/>
          </a:ln>
        </p:spPr>
      </p:sp>
      <p:sp>
        <p:nvSpPr>
          <p:cNvPr id="26" name="icon-bg-91"/>
          <p:cNvSpPr/>
          <p:nvPr/>
        </p:nvSpPr>
        <p:spPr>
          <a:xfrm>
            <a:off x="4800600" y="2505456"/>
            <a:ext cx="493776" cy="493776"/>
          </a:xfrm>
          <a:prstGeom prst="ellipse">
            <a:avLst/>
          </a:prstGeom>
          <a:solidFill>
            <a:schemeClr val="accent1"/>
          </a:solidFill>
          <a:ln w="12700">
            <a:solidFill>
              <a:schemeClr val="accent1"/>
            </a:solidFill>
            <a:prstDash val="solid"/>
          </a:ln>
        </p:spPr>
      </p:sp>
      <p:pic>
        <p:nvPicPr>
          <p:cNvPr id="27" name="icon-92" descr="preencoded.png">    </p:cNvPr>
          <p:cNvPicPr>
            <a:picLocks noChangeAspect="1"/>
          </p:cNvPicPr>
          <p:nvPr/>
        </p:nvPicPr>
        <p:blipFill>
          <a:blip r:embed="rId5"/>
          <a:stretch>
            <a:fillRect/>
          </a:stretch>
        </p:blipFill>
        <p:spPr>
          <a:xfrm>
            <a:off x="4928982" y="2633838"/>
            <a:ext cx="237012" cy="237012"/>
          </a:xfrm>
          <a:prstGeom prst="rect">
            <a:avLst/>
          </a:prstGeom>
        </p:spPr>
      </p:pic>
      <p:sp>
        <p:nvSpPr>
          <p:cNvPr id="28" name="text-93"/>
          <p:cNvSpPr txBox="1"/>
          <p:nvPr/>
        </p:nvSpPr>
        <p:spPr>
          <a:xfrm>
            <a:off x="5440680" y="2441448"/>
            <a:ext cx="3108960" cy="274320"/>
          </a:xfrm>
          <a:prstGeom prst="rect">
            <a:avLst/>
          </a:prstGeom>
          <a:noFill/>
          <a:ln/>
        </p:spPr>
        <p:txBody>
          <a:bodyPr wrap="square" lIns="0" tIns="0" rIns="0" bIns="0" rtlCol="0" anchor="t"/>
          <a:lstStyle/>
          <a:p>
            <a:pPr indent="0" marL="0">
              <a:buNone/>
            </a:pPr>
            <a:r>
              <a:rPr lang="en-US" sz="1500" b="1" dirty="0">
                <a:solidFill>
                  <a:schemeClr val="tx1"/>
                </a:solidFill>
              </a:rPr>
              <a:t>Supervisor</a:t>
            </a:r>
            <a:endParaRPr lang="en-US" sz="1500" dirty="0"/>
          </a:p>
        </p:txBody>
      </p:sp>
      <p:sp>
        <p:nvSpPr>
          <p:cNvPr id="29" name="text-94"/>
          <p:cNvSpPr txBox="1"/>
          <p:nvPr/>
        </p:nvSpPr>
        <p:spPr>
          <a:xfrm>
            <a:off x="5440680" y="2715768"/>
            <a:ext cx="3154680" cy="411480"/>
          </a:xfrm>
          <a:prstGeom prst="rect">
            <a:avLst/>
          </a:prstGeom>
          <a:noFill/>
          <a:ln/>
        </p:spPr>
        <p:txBody>
          <a:bodyPr wrap="square" lIns="0" tIns="0" rIns="0" bIns="0" rtlCol="0" anchor="t"/>
          <a:lstStyle/>
          <a:p>
            <a:pPr indent="0" marL="0">
              <a:buNone/>
            </a:pPr>
            <a:r>
              <a:rPr lang="en-US" sz="1300" i="1" dirty="0">
                <a:solidFill>
                  <a:schemeClr val="tx1"/>
                </a:solidFill>
              </a:rPr>
              <a:t>“Is the project on track?”</a:t>
            </a:r>
            <a:endParaRPr lang="en-US" sz="1300" dirty="0"/>
          </a:p>
        </p:txBody>
      </p:sp>
      <p:sp>
        <p:nvSpPr>
          <p:cNvPr id="30" name="card-95"/>
          <p:cNvSpPr/>
          <p:nvPr/>
        </p:nvSpPr>
        <p:spPr>
          <a:xfrm>
            <a:off x="4663440" y="3282696"/>
            <a:ext cx="4023360" cy="804672"/>
          </a:xfrm>
          <a:prstGeom prst="roundRect">
            <a:avLst>
              <a:gd name="adj" fmla="val 9091"/>
            </a:avLst>
          </a:prstGeom>
          <a:solidFill>
            <a:schemeClr val="bg1"/>
          </a:solidFill>
          <a:ln w="9525">
            <a:solidFill>
              <a:srgbClr val="E2E5F0"/>
            </a:solidFill>
            <a:prstDash val="solid"/>
          </a:ln>
        </p:spPr>
      </p:sp>
      <p:sp>
        <p:nvSpPr>
          <p:cNvPr id="31" name="icon-bg-96"/>
          <p:cNvSpPr/>
          <p:nvPr/>
        </p:nvSpPr>
        <p:spPr>
          <a:xfrm>
            <a:off x="4800600" y="3438144"/>
            <a:ext cx="493776" cy="493776"/>
          </a:xfrm>
          <a:prstGeom prst="ellipse">
            <a:avLst/>
          </a:prstGeom>
          <a:solidFill>
            <a:schemeClr val="accent1"/>
          </a:solidFill>
          <a:ln w="12700">
            <a:solidFill>
              <a:schemeClr val="accent1"/>
            </a:solidFill>
            <a:prstDash val="solid"/>
          </a:ln>
        </p:spPr>
      </p:sp>
      <p:pic>
        <p:nvPicPr>
          <p:cNvPr id="32" name="icon-97" descr="preencoded.png">    </p:cNvPr>
          <p:cNvPicPr>
            <a:picLocks noChangeAspect="1"/>
          </p:cNvPicPr>
          <p:nvPr/>
        </p:nvPicPr>
        <p:blipFill>
          <a:blip r:embed="rId6"/>
          <a:stretch>
            <a:fillRect/>
          </a:stretch>
        </p:blipFill>
        <p:spPr>
          <a:xfrm>
            <a:off x="4928982" y="3566526"/>
            <a:ext cx="237012" cy="237012"/>
          </a:xfrm>
          <a:prstGeom prst="rect">
            <a:avLst/>
          </a:prstGeom>
        </p:spPr>
      </p:pic>
      <p:sp>
        <p:nvSpPr>
          <p:cNvPr id="33" name="text-98"/>
          <p:cNvSpPr txBox="1"/>
          <p:nvPr/>
        </p:nvSpPr>
        <p:spPr>
          <a:xfrm>
            <a:off x="5440680" y="3374136"/>
            <a:ext cx="3108960" cy="274320"/>
          </a:xfrm>
          <a:prstGeom prst="rect">
            <a:avLst/>
          </a:prstGeom>
          <a:noFill/>
          <a:ln/>
        </p:spPr>
        <p:txBody>
          <a:bodyPr wrap="square" lIns="0" tIns="0" rIns="0" bIns="0" rtlCol="0" anchor="t"/>
          <a:lstStyle/>
          <a:p>
            <a:pPr indent="0" marL="0">
              <a:buNone/>
            </a:pPr>
            <a:r>
              <a:rPr lang="en-US" sz="1500" b="1" dirty="0">
                <a:solidFill>
                  <a:schemeClr val="tx1"/>
                </a:solidFill>
              </a:rPr>
              <a:t>Recruiter</a:t>
            </a:r>
            <a:endParaRPr lang="en-US" sz="1500" dirty="0"/>
          </a:p>
        </p:txBody>
      </p:sp>
      <p:sp>
        <p:nvSpPr>
          <p:cNvPr id="34" name="text-99"/>
          <p:cNvSpPr txBox="1"/>
          <p:nvPr/>
        </p:nvSpPr>
        <p:spPr>
          <a:xfrm>
            <a:off x="5440680" y="3648456"/>
            <a:ext cx="3154680" cy="411480"/>
          </a:xfrm>
          <a:prstGeom prst="rect">
            <a:avLst/>
          </a:prstGeom>
          <a:noFill/>
          <a:ln/>
        </p:spPr>
        <p:txBody>
          <a:bodyPr wrap="square" lIns="0" tIns="0" rIns="0" bIns="0" rtlCol="0" anchor="t"/>
          <a:lstStyle/>
          <a:p>
            <a:pPr indent="0" marL="0">
              <a:buNone/>
            </a:pPr>
            <a:r>
              <a:rPr lang="en-US" sz="1300" i="1" dirty="0">
                <a:solidFill>
                  <a:schemeClr val="tx1"/>
                </a:solidFill>
              </a:rPr>
              <a:t>“What can this person actually do?”</a:t>
            </a:r>
            <a:endParaRPr lang="en-US" sz="1300" dirty="0"/>
          </a:p>
        </p:txBody>
      </p:sp>
      <p:sp>
        <p:nvSpPr>
          <p:cNvPr id="35" name="gap-arrow"/>
          <p:cNvSpPr/>
          <p:nvPr/>
        </p:nvSpPr>
        <p:spPr>
          <a:xfrm>
            <a:off x="4361688" y="2377440"/>
            <a:ext cx="237744" cy="365760"/>
          </a:xfrm>
          <a:prstGeom prst="rightArrow">
            <a:avLst/>
          </a:prstGeom>
          <a:solidFill>
            <a:schemeClr val="accent2"/>
          </a:solidFill>
          <a:ln w="12700">
            <a:solidFill>
              <a:schemeClr val="accent2"/>
            </a:solidFill>
            <a:prstDash val="solid"/>
          </a:ln>
        </p:spPr>
      </p:sp>
      <p:sp>
        <p:nvSpPr>
          <p:cNvPr id="36" name="text-100"/>
          <p:cNvSpPr txBox="1"/>
          <p:nvPr/>
        </p:nvSpPr>
        <p:spPr>
          <a:xfrm>
            <a:off x="457200" y="4279392"/>
            <a:ext cx="8229600" cy="320040"/>
          </a:xfrm>
          <a:prstGeom prst="rect">
            <a:avLst/>
          </a:prstGeom>
          <a:noFill/>
          <a:ln/>
        </p:spPr>
        <p:txBody>
          <a:bodyPr wrap="square" lIns="0" tIns="0" rIns="0" bIns="0" rtlCol="0" anchor="t"/>
          <a:lstStyle/>
          <a:p>
            <a:pPr indent="0" marL="0">
              <a:buNone/>
            </a:pPr>
            <a:r>
              <a:rPr lang="en-US" sz="1400" b="1" dirty="0">
                <a:solidFill>
                  <a:schemeClr val="accent1"/>
                </a:solidFill>
              </a:rPr>
              <a:t>No single place answers these questions. </a:t>
            </a:r>
            <a:pPr indent="0" marL="0">
              <a:buNone/>
            </a:pPr>
            <a:r>
              <a:rPr lang="en-US" sz="1400" dirty="0">
                <a:solidFill>
                  <a:schemeClr val="accent1"/>
                </a:solidFill>
              </a:rPr>
              <a:t>That's the gap ProSho fills.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Every capstone has six parts</a:t>
            </a:r>
            <a:endParaRPr lang="en-US" sz="3200" dirty="0"/>
          </a:p>
        </p:txBody>
      </p:sp>
      <p:sp>
        <p:nvSpPr>
          <p:cNvPr id="3" name="card-101"/>
          <p:cNvSpPr/>
          <p:nvPr/>
        </p:nvSpPr>
        <p:spPr>
          <a:xfrm>
            <a:off x="457200" y="1143000"/>
            <a:ext cx="2606040" cy="1444752"/>
          </a:xfrm>
          <a:prstGeom prst="roundRect">
            <a:avLst>
              <a:gd name="adj" fmla="val 5063"/>
            </a:avLst>
          </a:prstGeom>
          <a:solidFill>
            <a:schemeClr val="bg2"/>
          </a:solidFill>
          <a:ln w="9525">
            <a:solidFill>
              <a:schemeClr val="bg2"/>
            </a:solidFill>
            <a:prstDash val="solid"/>
          </a:ln>
        </p:spPr>
      </p:sp>
      <p:sp>
        <p:nvSpPr>
          <p:cNvPr id="4" name="icon-bg-102"/>
          <p:cNvSpPr/>
          <p:nvPr/>
        </p:nvSpPr>
        <p:spPr>
          <a:xfrm>
            <a:off x="640080" y="1325880"/>
            <a:ext cx="502920" cy="502920"/>
          </a:xfrm>
          <a:prstGeom prst="ellipse">
            <a:avLst/>
          </a:prstGeom>
          <a:solidFill>
            <a:schemeClr val="bg1"/>
          </a:solidFill>
          <a:ln w="12700">
            <a:solidFill>
              <a:schemeClr val="bg1"/>
            </a:solidFill>
            <a:prstDash val="solid"/>
          </a:ln>
        </p:spPr>
      </p:sp>
      <p:pic>
        <p:nvPicPr>
          <p:cNvPr id="5" name="icon-103" descr="preencoded.png">    </p:cNvPr>
          <p:cNvPicPr>
            <a:picLocks noChangeAspect="1"/>
          </p:cNvPicPr>
          <p:nvPr/>
        </p:nvPicPr>
        <p:blipFill>
          <a:blip r:embed="rId1"/>
          <a:stretch>
            <a:fillRect/>
          </a:stretch>
        </p:blipFill>
        <p:spPr>
          <a:xfrm>
            <a:off x="770839" y="1456639"/>
            <a:ext cx="241402" cy="241402"/>
          </a:xfrm>
          <a:prstGeom prst="rect">
            <a:avLst/>
          </a:prstGeom>
        </p:spPr>
      </p:pic>
      <p:sp>
        <p:nvSpPr>
          <p:cNvPr id="6" name="text-104"/>
          <p:cNvSpPr txBox="1"/>
          <p:nvPr/>
        </p:nvSpPr>
        <p:spPr>
          <a:xfrm>
            <a:off x="1280160" y="1325880"/>
            <a:ext cx="1691640" cy="502920"/>
          </a:xfrm>
          <a:prstGeom prst="rect">
            <a:avLst/>
          </a:prstGeom>
          <a:noFill/>
          <a:ln/>
        </p:spPr>
        <p:txBody>
          <a:bodyPr wrap="square" lIns="0" tIns="0" rIns="0" bIns="0" rtlCol="0" anchor="ctr"/>
          <a:lstStyle/>
          <a:p>
            <a:pPr indent="0" marL="0">
              <a:buNone/>
            </a:pPr>
            <a:r>
              <a:rPr lang="en-US" sz="1600" b="1" dirty="0">
                <a:solidFill>
                  <a:schemeClr val="tx1"/>
                </a:solidFill>
              </a:rPr>
              <a:t>Problem</a:t>
            </a:r>
            <a:endParaRPr lang="en-US" sz="1600" dirty="0"/>
          </a:p>
        </p:txBody>
      </p:sp>
      <p:sp>
        <p:nvSpPr>
          <p:cNvPr id="7" name="text-105"/>
          <p:cNvSpPr txBox="1"/>
          <p:nvPr/>
        </p:nvSpPr>
        <p:spPr>
          <a:xfrm>
            <a:off x="640080" y="1947672"/>
            <a:ext cx="2286000" cy="548640"/>
          </a:xfrm>
          <a:prstGeom prst="rect">
            <a:avLst/>
          </a:prstGeom>
          <a:noFill/>
          <a:ln/>
        </p:spPr>
        <p:txBody>
          <a:bodyPr wrap="square" lIns="0" tIns="0" rIns="0" bIns="0" rtlCol="0" anchor="t"/>
          <a:lstStyle/>
          <a:p>
            <a:pPr indent="0" marL="0">
              <a:buNone/>
            </a:pPr>
            <a:r>
              <a:rPr lang="en-US" sz="1400" dirty="0">
                <a:solidFill>
                  <a:schemeClr val="tx1"/>
                </a:solidFill>
              </a:rPr>
              <a:t>What is being solved, and why it matters</a:t>
            </a:r>
            <a:endParaRPr lang="en-US" sz="1400" dirty="0"/>
          </a:p>
        </p:txBody>
      </p:sp>
      <p:sp>
        <p:nvSpPr>
          <p:cNvPr id="8" name="card-106"/>
          <p:cNvSpPr/>
          <p:nvPr/>
        </p:nvSpPr>
        <p:spPr>
          <a:xfrm>
            <a:off x="3268980" y="1143000"/>
            <a:ext cx="2606040" cy="1444752"/>
          </a:xfrm>
          <a:prstGeom prst="roundRect">
            <a:avLst>
              <a:gd name="adj" fmla="val 5063"/>
            </a:avLst>
          </a:prstGeom>
          <a:solidFill>
            <a:schemeClr val="bg2"/>
          </a:solidFill>
          <a:ln w="9525">
            <a:solidFill>
              <a:schemeClr val="bg2"/>
            </a:solidFill>
            <a:prstDash val="solid"/>
          </a:ln>
        </p:spPr>
      </p:sp>
      <p:sp>
        <p:nvSpPr>
          <p:cNvPr id="9" name="icon-bg-107"/>
          <p:cNvSpPr/>
          <p:nvPr/>
        </p:nvSpPr>
        <p:spPr>
          <a:xfrm>
            <a:off x="3451860" y="1325880"/>
            <a:ext cx="502920" cy="502920"/>
          </a:xfrm>
          <a:prstGeom prst="ellipse">
            <a:avLst/>
          </a:prstGeom>
          <a:solidFill>
            <a:schemeClr val="bg1"/>
          </a:solidFill>
          <a:ln w="12700">
            <a:solidFill>
              <a:schemeClr val="bg1"/>
            </a:solidFill>
            <a:prstDash val="solid"/>
          </a:ln>
        </p:spPr>
      </p:sp>
      <p:pic>
        <p:nvPicPr>
          <p:cNvPr id="10" name="icon-108" descr="preencoded.png">    </p:cNvPr>
          <p:cNvPicPr>
            <a:picLocks noChangeAspect="1"/>
          </p:cNvPicPr>
          <p:nvPr/>
        </p:nvPicPr>
        <p:blipFill>
          <a:blip r:embed="rId2"/>
          <a:stretch>
            <a:fillRect/>
          </a:stretch>
        </p:blipFill>
        <p:spPr>
          <a:xfrm>
            <a:off x="3582619" y="1456639"/>
            <a:ext cx="241402" cy="241402"/>
          </a:xfrm>
          <a:prstGeom prst="rect">
            <a:avLst/>
          </a:prstGeom>
        </p:spPr>
      </p:pic>
      <p:sp>
        <p:nvSpPr>
          <p:cNvPr id="11" name="text-109"/>
          <p:cNvSpPr txBox="1"/>
          <p:nvPr/>
        </p:nvSpPr>
        <p:spPr>
          <a:xfrm>
            <a:off x="4091940" y="1325880"/>
            <a:ext cx="1691640" cy="502920"/>
          </a:xfrm>
          <a:prstGeom prst="rect">
            <a:avLst/>
          </a:prstGeom>
          <a:noFill/>
          <a:ln/>
        </p:spPr>
        <p:txBody>
          <a:bodyPr wrap="square" lIns="0" tIns="0" rIns="0" bIns="0" rtlCol="0" anchor="ctr"/>
          <a:lstStyle/>
          <a:p>
            <a:pPr indent="0" marL="0">
              <a:buNone/>
            </a:pPr>
            <a:r>
              <a:rPr lang="en-US" sz="1600" b="1" dirty="0">
                <a:solidFill>
                  <a:schemeClr val="tx1"/>
                </a:solidFill>
              </a:rPr>
              <a:t>Claims</a:t>
            </a:r>
            <a:endParaRPr lang="en-US" sz="1600" dirty="0"/>
          </a:p>
        </p:txBody>
      </p:sp>
      <p:sp>
        <p:nvSpPr>
          <p:cNvPr id="12" name="text-110"/>
          <p:cNvSpPr txBox="1"/>
          <p:nvPr/>
        </p:nvSpPr>
        <p:spPr>
          <a:xfrm>
            <a:off x="3451860" y="1947672"/>
            <a:ext cx="2286000" cy="548640"/>
          </a:xfrm>
          <a:prstGeom prst="rect">
            <a:avLst/>
          </a:prstGeom>
          <a:noFill/>
          <a:ln/>
        </p:spPr>
        <p:txBody>
          <a:bodyPr wrap="square" lIns="0" tIns="0" rIns="0" bIns="0" rtlCol="0" anchor="t"/>
          <a:lstStyle/>
          <a:p>
            <a:pPr indent="0" marL="0">
              <a:buNone/>
            </a:pPr>
            <a:r>
              <a:rPr lang="en-US" sz="1400" dirty="0">
                <a:solidFill>
                  <a:schemeClr val="tx1"/>
                </a:solidFill>
              </a:rPr>
              <a:t>What I promise: “X, to standard Y”</a:t>
            </a:r>
            <a:endParaRPr lang="en-US" sz="1400" dirty="0"/>
          </a:p>
        </p:txBody>
      </p:sp>
      <p:sp>
        <p:nvSpPr>
          <p:cNvPr id="13" name="card-111"/>
          <p:cNvSpPr/>
          <p:nvPr/>
        </p:nvSpPr>
        <p:spPr>
          <a:xfrm>
            <a:off x="6080760" y="1143000"/>
            <a:ext cx="2606040" cy="1444752"/>
          </a:xfrm>
          <a:prstGeom prst="roundRect">
            <a:avLst>
              <a:gd name="adj" fmla="val 5063"/>
            </a:avLst>
          </a:prstGeom>
          <a:solidFill>
            <a:schemeClr val="bg2"/>
          </a:solidFill>
          <a:ln w="9525">
            <a:solidFill>
              <a:schemeClr val="bg2"/>
            </a:solidFill>
            <a:prstDash val="solid"/>
          </a:ln>
        </p:spPr>
      </p:sp>
      <p:sp>
        <p:nvSpPr>
          <p:cNvPr id="14" name="icon-bg-112"/>
          <p:cNvSpPr/>
          <p:nvPr/>
        </p:nvSpPr>
        <p:spPr>
          <a:xfrm>
            <a:off x="6263640" y="1325880"/>
            <a:ext cx="502920" cy="502920"/>
          </a:xfrm>
          <a:prstGeom prst="ellipse">
            <a:avLst/>
          </a:prstGeom>
          <a:solidFill>
            <a:schemeClr val="bg1"/>
          </a:solidFill>
          <a:ln w="12700">
            <a:solidFill>
              <a:schemeClr val="bg1"/>
            </a:solidFill>
            <a:prstDash val="solid"/>
          </a:ln>
        </p:spPr>
      </p:sp>
      <p:pic>
        <p:nvPicPr>
          <p:cNvPr id="15" name="icon-113" descr="preencoded.png">    </p:cNvPr>
          <p:cNvPicPr>
            <a:picLocks noChangeAspect="1"/>
          </p:cNvPicPr>
          <p:nvPr/>
        </p:nvPicPr>
        <p:blipFill>
          <a:blip r:embed="rId3"/>
          <a:stretch>
            <a:fillRect/>
          </a:stretch>
        </p:blipFill>
        <p:spPr>
          <a:xfrm>
            <a:off x="6394399" y="1456639"/>
            <a:ext cx="241402" cy="241402"/>
          </a:xfrm>
          <a:prstGeom prst="rect">
            <a:avLst/>
          </a:prstGeom>
        </p:spPr>
      </p:pic>
      <p:sp>
        <p:nvSpPr>
          <p:cNvPr id="16" name="text-114"/>
          <p:cNvSpPr txBox="1"/>
          <p:nvPr/>
        </p:nvSpPr>
        <p:spPr>
          <a:xfrm>
            <a:off x="6903720" y="1325880"/>
            <a:ext cx="1691640" cy="502920"/>
          </a:xfrm>
          <a:prstGeom prst="rect">
            <a:avLst/>
          </a:prstGeom>
          <a:noFill/>
          <a:ln/>
        </p:spPr>
        <p:txBody>
          <a:bodyPr wrap="square" lIns="0" tIns="0" rIns="0" bIns="0" rtlCol="0" anchor="ctr"/>
          <a:lstStyle/>
          <a:p>
            <a:pPr indent="0" marL="0">
              <a:buNone/>
            </a:pPr>
            <a:r>
              <a:rPr lang="en-US" sz="1600" b="1" dirty="0">
                <a:solidFill>
                  <a:schemeClr val="tx1"/>
                </a:solidFill>
              </a:rPr>
              <a:t>Work over time</a:t>
            </a:r>
            <a:endParaRPr lang="en-US" sz="1600" dirty="0"/>
          </a:p>
        </p:txBody>
      </p:sp>
      <p:sp>
        <p:nvSpPr>
          <p:cNvPr id="17" name="text-115"/>
          <p:cNvSpPr txBox="1"/>
          <p:nvPr/>
        </p:nvSpPr>
        <p:spPr>
          <a:xfrm>
            <a:off x="6263640" y="1947672"/>
            <a:ext cx="2286000" cy="548640"/>
          </a:xfrm>
          <a:prstGeom prst="rect">
            <a:avLst/>
          </a:prstGeom>
          <a:noFill/>
          <a:ln/>
        </p:spPr>
        <p:txBody>
          <a:bodyPr wrap="square" lIns="0" tIns="0" rIns="0" bIns="0" rtlCol="0" anchor="t"/>
          <a:lstStyle/>
          <a:p>
            <a:pPr indent="0" marL="0">
              <a:buNone/>
            </a:pPr>
            <a:r>
              <a:rPr lang="en-US" sz="1400" dirty="0">
                <a:solidFill>
                  <a:schemeClr val="tx1"/>
                </a:solidFill>
              </a:rPr>
              <a:t>Commits, milestones and feedback</a:t>
            </a:r>
            <a:endParaRPr lang="en-US" sz="1400" dirty="0"/>
          </a:p>
        </p:txBody>
      </p:sp>
      <p:sp>
        <p:nvSpPr>
          <p:cNvPr id="18" name="card-116"/>
          <p:cNvSpPr/>
          <p:nvPr/>
        </p:nvSpPr>
        <p:spPr>
          <a:xfrm>
            <a:off x="457200" y="2743200"/>
            <a:ext cx="2606040" cy="1444752"/>
          </a:xfrm>
          <a:prstGeom prst="roundRect">
            <a:avLst>
              <a:gd name="adj" fmla="val 5063"/>
            </a:avLst>
          </a:prstGeom>
          <a:solidFill>
            <a:schemeClr val="bg2"/>
          </a:solidFill>
          <a:ln w="9525">
            <a:solidFill>
              <a:schemeClr val="bg2"/>
            </a:solidFill>
            <a:prstDash val="solid"/>
          </a:ln>
        </p:spPr>
      </p:sp>
      <p:sp>
        <p:nvSpPr>
          <p:cNvPr id="19" name="icon-bg-117"/>
          <p:cNvSpPr/>
          <p:nvPr/>
        </p:nvSpPr>
        <p:spPr>
          <a:xfrm>
            <a:off x="640080" y="2926080"/>
            <a:ext cx="502920" cy="502920"/>
          </a:xfrm>
          <a:prstGeom prst="ellipse">
            <a:avLst/>
          </a:prstGeom>
          <a:solidFill>
            <a:schemeClr val="bg1"/>
          </a:solidFill>
          <a:ln w="12700">
            <a:solidFill>
              <a:schemeClr val="bg1"/>
            </a:solidFill>
            <a:prstDash val="solid"/>
          </a:ln>
        </p:spPr>
      </p:sp>
      <p:pic>
        <p:nvPicPr>
          <p:cNvPr id="20" name="icon-118" descr="preencoded.png">    </p:cNvPr>
          <p:cNvPicPr>
            <a:picLocks noChangeAspect="1"/>
          </p:cNvPicPr>
          <p:nvPr/>
        </p:nvPicPr>
        <p:blipFill>
          <a:blip r:embed="rId4"/>
          <a:stretch>
            <a:fillRect/>
          </a:stretch>
        </p:blipFill>
        <p:spPr>
          <a:xfrm>
            <a:off x="770839" y="3056839"/>
            <a:ext cx="241402" cy="241402"/>
          </a:xfrm>
          <a:prstGeom prst="rect">
            <a:avLst/>
          </a:prstGeom>
        </p:spPr>
      </p:pic>
      <p:sp>
        <p:nvSpPr>
          <p:cNvPr id="21" name="text-119"/>
          <p:cNvSpPr txBox="1"/>
          <p:nvPr/>
        </p:nvSpPr>
        <p:spPr>
          <a:xfrm>
            <a:off x="1280160" y="2926080"/>
            <a:ext cx="1691640" cy="502920"/>
          </a:xfrm>
          <a:prstGeom prst="rect">
            <a:avLst/>
          </a:prstGeom>
          <a:noFill/>
          <a:ln/>
        </p:spPr>
        <p:txBody>
          <a:bodyPr wrap="square" lIns="0" tIns="0" rIns="0" bIns="0" rtlCol="0" anchor="ctr"/>
          <a:lstStyle/>
          <a:p>
            <a:pPr indent="0" marL="0">
              <a:buNone/>
            </a:pPr>
            <a:r>
              <a:rPr lang="en-US" sz="1600" b="1" dirty="0">
                <a:solidFill>
                  <a:schemeClr val="tx1"/>
                </a:solidFill>
              </a:rPr>
              <a:t>Outcome</a:t>
            </a:r>
            <a:endParaRPr lang="en-US" sz="1600" dirty="0"/>
          </a:p>
        </p:txBody>
      </p:sp>
      <p:sp>
        <p:nvSpPr>
          <p:cNvPr id="22" name="text-120"/>
          <p:cNvSpPr txBox="1"/>
          <p:nvPr/>
        </p:nvSpPr>
        <p:spPr>
          <a:xfrm>
            <a:off x="640080" y="3547872"/>
            <a:ext cx="2286000" cy="548640"/>
          </a:xfrm>
          <a:prstGeom prst="rect">
            <a:avLst/>
          </a:prstGeom>
          <a:noFill/>
          <a:ln/>
        </p:spPr>
        <p:txBody>
          <a:bodyPr wrap="square" lIns="0" tIns="0" rIns="0" bIns="0" rtlCol="0" anchor="t"/>
          <a:lstStyle/>
          <a:p>
            <a:pPr indent="0" marL="0">
              <a:buNone/>
            </a:pPr>
            <a:r>
              <a:rPr lang="en-US" sz="1400" dirty="0">
                <a:solidFill>
                  <a:schemeClr val="tx1"/>
                </a:solidFill>
              </a:rPr>
              <a:t>A grade, a portfolio piece, a job</a:t>
            </a:r>
            <a:endParaRPr lang="en-US" sz="1400" dirty="0"/>
          </a:p>
        </p:txBody>
      </p:sp>
      <p:sp>
        <p:nvSpPr>
          <p:cNvPr id="23" name="card-121"/>
          <p:cNvSpPr/>
          <p:nvPr/>
        </p:nvSpPr>
        <p:spPr>
          <a:xfrm>
            <a:off x="3268980" y="2743200"/>
            <a:ext cx="2606040" cy="1444752"/>
          </a:xfrm>
          <a:prstGeom prst="roundRect">
            <a:avLst>
              <a:gd name="adj" fmla="val 5063"/>
            </a:avLst>
          </a:prstGeom>
          <a:solidFill>
            <a:schemeClr val="accent1"/>
          </a:solidFill>
          <a:ln w="9525">
            <a:solidFill>
              <a:schemeClr val="accent1"/>
            </a:solidFill>
            <a:prstDash val="solid"/>
          </a:ln>
        </p:spPr>
      </p:sp>
      <p:sp>
        <p:nvSpPr>
          <p:cNvPr id="24" name="icon-bg-122"/>
          <p:cNvSpPr/>
          <p:nvPr/>
        </p:nvSpPr>
        <p:spPr>
          <a:xfrm>
            <a:off x="3451860" y="2926080"/>
            <a:ext cx="502920" cy="502920"/>
          </a:xfrm>
          <a:prstGeom prst="ellipse">
            <a:avLst/>
          </a:prstGeom>
          <a:solidFill>
            <a:srgbClr val="7C7FF5"/>
          </a:solidFill>
          <a:ln w="12700">
            <a:solidFill>
              <a:srgbClr val="7C7FF5"/>
            </a:solidFill>
            <a:prstDash val="solid"/>
          </a:ln>
        </p:spPr>
      </p:sp>
      <p:pic>
        <p:nvPicPr>
          <p:cNvPr id="25" name="icon-123" descr="preencoded.png">    </p:cNvPr>
          <p:cNvPicPr>
            <a:picLocks noChangeAspect="1"/>
          </p:cNvPicPr>
          <p:nvPr/>
        </p:nvPicPr>
        <p:blipFill>
          <a:blip r:embed="rId5"/>
          <a:stretch>
            <a:fillRect/>
          </a:stretch>
        </p:blipFill>
        <p:spPr>
          <a:xfrm>
            <a:off x="3582619" y="3056839"/>
            <a:ext cx="241402" cy="241402"/>
          </a:xfrm>
          <a:prstGeom prst="rect">
            <a:avLst/>
          </a:prstGeom>
        </p:spPr>
      </p:pic>
      <p:sp>
        <p:nvSpPr>
          <p:cNvPr id="26" name="text-124"/>
          <p:cNvSpPr txBox="1"/>
          <p:nvPr/>
        </p:nvSpPr>
        <p:spPr>
          <a:xfrm>
            <a:off x="4091940" y="2926080"/>
            <a:ext cx="1691640" cy="502920"/>
          </a:xfrm>
          <a:prstGeom prst="rect">
            <a:avLst/>
          </a:prstGeom>
          <a:noFill/>
          <a:ln/>
        </p:spPr>
        <p:txBody>
          <a:bodyPr wrap="square" lIns="0" tIns="0" rIns="0" bIns="0" rtlCol="0" anchor="ctr"/>
          <a:lstStyle/>
          <a:p>
            <a:pPr indent="0" marL="0">
              <a:buNone/>
            </a:pPr>
            <a:r>
              <a:rPr lang="en-US" sz="1600" b="1" dirty="0">
                <a:solidFill>
                  <a:schemeClr val="bg1"/>
                </a:solidFill>
              </a:rPr>
              <a:t>Evidence</a:t>
            </a:r>
            <a:endParaRPr lang="en-US" sz="1600" dirty="0"/>
          </a:p>
        </p:txBody>
      </p:sp>
      <p:sp>
        <p:nvSpPr>
          <p:cNvPr id="27" name="text-125"/>
          <p:cNvSpPr txBox="1"/>
          <p:nvPr/>
        </p:nvSpPr>
        <p:spPr>
          <a:xfrm>
            <a:off x="3451860" y="3547872"/>
            <a:ext cx="2286000" cy="548640"/>
          </a:xfrm>
          <a:prstGeom prst="rect">
            <a:avLst/>
          </a:prstGeom>
          <a:noFill/>
          <a:ln/>
        </p:spPr>
        <p:txBody>
          <a:bodyPr wrap="square" lIns="0" tIns="0" rIns="0" bIns="0" rtlCol="0" anchor="t"/>
          <a:lstStyle/>
          <a:p>
            <a:pPr indent="0" marL="0">
              <a:buNone/>
            </a:pPr>
            <a:r>
              <a:rPr lang="en-US" sz="1400" dirty="0">
                <a:solidFill>
                  <a:schemeClr val="bg1"/>
                </a:solidFill>
              </a:rPr>
              <a:t>Proof that each claim was met</a:t>
            </a:r>
            <a:endParaRPr lang="en-US" sz="1400" dirty="0"/>
          </a:p>
        </p:txBody>
      </p:sp>
      <p:sp>
        <p:nvSpPr>
          <p:cNvPr id="28" name="card-126"/>
          <p:cNvSpPr/>
          <p:nvPr/>
        </p:nvSpPr>
        <p:spPr>
          <a:xfrm>
            <a:off x="6080760" y="2743200"/>
            <a:ext cx="2606040" cy="1444752"/>
          </a:xfrm>
          <a:prstGeom prst="roundRect">
            <a:avLst>
              <a:gd name="adj" fmla="val 5063"/>
            </a:avLst>
          </a:prstGeom>
          <a:solidFill>
            <a:schemeClr val="accent1"/>
          </a:solidFill>
          <a:ln w="9525">
            <a:solidFill>
              <a:schemeClr val="accent1"/>
            </a:solidFill>
            <a:prstDash val="solid"/>
          </a:ln>
        </p:spPr>
      </p:sp>
      <p:sp>
        <p:nvSpPr>
          <p:cNvPr id="29" name="icon-bg-127"/>
          <p:cNvSpPr/>
          <p:nvPr/>
        </p:nvSpPr>
        <p:spPr>
          <a:xfrm>
            <a:off x="6263640" y="2926080"/>
            <a:ext cx="502920" cy="502920"/>
          </a:xfrm>
          <a:prstGeom prst="ellipse">
            <a:avLst/>
          </a:prstGeom>
          <a:solidFill>
            <a:srgbClr val="7C7FF5"/>
          </a:solidFill>
          <a:ln w="12700">
            <a:solidFill>
              <a:srgbClr val="7C7FF5"/>
            </a:solidFill>
            <a:prstDash val="solid"/>
          </a:ln>
        </p:spPr>
      </p:sp>
      <p:pic>
        <p:nvPicPr>
          <p:cNvPr id="30" name="icon-128" descr="preencoded.png">    </p:cNvPr>
          <p:cNvPicPr>
            <a:picLocks noChangeAspect="1"/>
          </p:cNvPicPr>
          <p:nvPr/>
        </p:nvPicPr>
        <p:blipFill>
          <a:blip r:embed="rId6"/>
          <a:stretch>
            <a:fillRect/>
          </a:stretch>
        </p:blipFill>
        <p:spPr>
          <a:xfrm>
            <a:off x="6394399" y="3056839"/>
            <a:ext cx="241402" cy="241402"/>
          </a:xfrm>
          <a:prstGeom prst="rect">
            <a:avLst/>
          </a:prstGeom>
        </p:spPr>
      </p:pic>
      <p:sp>
        <p:nvSpPr>
          <p:cNvPr id="31" name="text-129"/>
          <p:cNvSpPr txBox="1"/>
          <p:nvPr/>
        </p:nvSpPr>
        <p:spPr>
          <a:xfrm>
            <a:off x="6903720" y="2926080"/>
            <a:ext cx="1691640" cy="502920"/>
          </a:xfrm>
          <a:prstGeom prst="rect">
            <a:avLst/>
          </a:prstGeom>
          <a:noFill/>
          <a:ln/>
        </p:spPr>
        <p:txBody>
          <a:bodyPr wrap="square" lIns="0" tIns="0" rIns="0" bIns="0" rtlCol="0" anchor="ctr"/>
          <a:lstStyle/>
          <a:p>
            <a:pPr indent="0" marL="0">
              <a:buNone/>
            </a:pPr>
            <a:r>
              <a:rPr lang="en-US" sz="1600" b="1" dirty="0">
                <a:solidFill>
                  <a:schemeClr val="bg1"/>
                </a:solidFill>
              </a:rPr>
              <a:t>Demo</a:t>
            </a:r>
            <a:endParaRPr lang="en-US" sz="1600" dirty="0"/>
          </a:p>
        </p:txBody>
      </p:sp>
      <p:sp>
        <p:nvSpPr>
          <p:cNvPr id="32" name="text-130"/>
          <p:cNvSpPr txBox="1"/>
          <p:nvPr/>
        </p:nvSpPr>
        <p:spPr>
          <a:xfrm>
            <a:off x="6263640" y="3547872"/>
            <a:ext cx="2286000" cy="548640"/>
          </a:xfrm>
          <a:prstGeom prst="rect">
            <a:avLst/>
          </a:prstGeom>
          <a:noFill/>
          <a:ln/>
        </p:spPr>
        <p:txBody>
          <a:bodyPr wrap="square" lIns="0" tIns="0" rIns="0" bIns="0" rtlCol="0" anchor="t"/>
          <a:lstStyle/>
          <a:p>
            <a:pPr indent="0" marL="0">
              <a:buNone/>
            </a:pPr>
            <a:r>
              <a:rPr lang="en-US" sz="1400" dirty="0">
                <a:solidFill>
                  <a:schemeClr val="bg1"/>
                </a:solidFill>
              </a:rPr>
              <a:t>Something people can see or try</a:t>
            </a:r>
            <a:endParaRPr lang="en-US" sz="1400" dirty="0"/>
          </a:p>
        </p:txBody>
      </p:sp>
      <p:sp>
        <p:nvSpPr>
          <p:cNvPr id="33" name="chip-131"/>
          <p:cNvSpPr/>
          <p:nvPr/>
        </p:nvSpPr>
        <p:spPr>
          <a:xfrm>
            <a:off x="3451860" y="2615184"/>
            <a:ext cx="4960620" cy="256032"/>
          </a:xfrm>
          <a:prstGeom prst="roundRect">
            <a:avLst>
              <a:gd name="adj" fmla="val 50000"/>
            </a:avLst>
          </a:prstGeom>
          <a:solidFill>
            <a:schemeClr val="accent4"/>
          </a:solidFill>
          <a:ln w="12700">
            <a:solidFill>
              <a:schemeClr val="accent4"/>
            </a:solidFill>
            <a:prstDash val="solid"/>
          </a:ln>
        </p:spPr>
      </p:sp>
      <p:sp>
        <p:nvSpPr>
          <p:cNvPr id="34" name="text-132"/>
          <p:cNvSpPr txBox="1"/>
          <p:nvPr/>
        </p:nvSpPr>
        <p:spPr>
          <a:xfrm>
            <a:off x="3451860" y="2615184"/>
            <a:ext cx="4960620" cy="256032"/>
          </a:xfrm>
          <a:prstGeom prst="rect">
            <a:avLst/>
          </a:prstGeom>
          <a:noFill/>
          <a:ln/>
        </p:spPr>
        <p:txBody>
          <a:bodyPr wrap="square" lIns="0" tIns="0" rIns="0" bIns="0" rtlCol="0" anchor="ctr"/>
          <a:lstStyle/>
          <a:p>
            <a:pPr algn="ctr" indent="0" marL="0">
              <a:buNone/>
            </a:pPr>
            <a:r>
              <a:rPr lang="en-US" sz="1100" b="1" dirty="0">
                <a:solidFill>
                  <a:schemeClr val="tx1"/>
                </a:solidFill>
              </a:rPr>
              <a:t>Varies by project type</a:t>
            </a:r>
            <a:endParaRPr lang="en-US" sz="1100" dirty="0"/>
          </a:p>
        </p:txBody>
      </p:sp>
      <p:sp>
        <p:nvSpPr>
          <p:cNvPr id="35" name="text-133"/>
          <p:cNvSpPr txBox="1"/>
          <p:nvPr/>
        </p:nvSpPr>
        <p:spPr>
          <a:xfrm>
            <a:off x="457200" y="4315968"/>
            <a:ext cx="8229600" cy="320040"/>
          </a:xfrm>
          <a:prstGeom prst="rect">
            <a:avLst/>
          </a:prstGeom>
          <a:noFill/>
          <a:ln/>
        </p:spPr>
        <p:txBody>
          <a:bodyPr wrap="square" lIns="0" tIns="0" rIns="0" bIns="0" rtlCol="0" anchor="t"/>
          <a:lstStyle/>
          <a:p>
            <a:pPr indent="0" marL="0">
              <a:buNone/>
            </a:pPr>
            <a:r>
              <a:rPr lang="en-US" sz="1400" b="1" dirty="0">
                <a:solidFill>
                  <a:schemeClr val="tx1"/>
                </a:solidFill>
              </a:rPr>
              <a:t>Four parts look the same for every project → the shared core.  </a:t>
            </a:r>
            <a:pPr indent="0" marL="0">
              <a:buNone/>
            </a:pPr>
            <a:r>
              <a:rPr lang="en-US" sz="1400" dirty="0">
                <a:solidFill>
                  <a:schemeClr val="tx1"/>
                </a:solidFill>
              </a:rPr>
              <a:t>Two change with the project type → handled by plug-in modules.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How it works</a:t>
            </a:r>
            <a:endParaRPr lang="en-US" sz="3200" dirty="0"/>
          </a:p>
        </p:txBody>
      </p:sp>
      <p:sp>
        <p:nvSpPr>
          <p:cNvPr id="3" name="card-134"/>
          <p:cNvSpPr/>
          <p:nvPr/>
        </p:nvSpPr>
        <p:spPr>
          <a:xfrm>
            <a:off x="457200" y="1097280"/>
            <a:ext cx="1426464" cy="1508760"/>
          </a:xfrm>
          <a:prstGeom prst="roundRect">
            <a:avLst>
              <a:gd name="adj" fmla="val 5128"/>
            </a:avLst>
          </a:prstGeom>
          <a:solidFill>
            <a:schemeClr val="bg2"/>
          </a:solidFill>
          <a:ln w="9525">
            <a:solidFill>
              <a:schemeClr val="bg2"/>
            </a:solidFill>
            <a:prstDash val="solid"/>
          </a:ln>
        </p:spPr>
      </p:sp>
      <p:sp>
        <p:nvSpPr>
          <p:cNvPr id="4" name="icon-bg-135"/>
          <p:cNvSpPr/>
          <p:nvPr/>
        </p:nvSpPr>
        <p:spPr>
          <a:xfrm>
            <a:off x="941832" y="1234440"/>
            <a:ext cx="457200" cy="457200"/>
          </a:xfrm>
          <a:prstGeom prst="ellipse">
            <a:avLst/>
          </a:prstGeom>
          <a:solidFill>
            <a:schemeClr val="bg1"/>
          </a:solidFill>
          <a:ln w="12700">
            <a:solidFill>
              <a:schemeClr val="bg1"/>
            </a:solidFill>
            <a:prstDash val="solid"/>
          </a:ln>
        </p:spPr>
      </p:sp>
      <p:pic>
        <p:nvPicPr>
          <p:cNvPr id="5" name="icon-136" descr="preencoded.png">    </p:cNvPr>
          <p:cNvPicPr>
            <a:picLocks noChangeAspect="1"/>
          </p:cNvPicPr>
          <p:nvPr/>
        </p:nvPicPr>
        <p:blipFill>
          <a:blip r:embed="rId1"/>
          <a:stretch>
            <a:fillRect/>
          </a:stretch>
        </p:blipFill>
        <p:spPr>
          <a:xfrm>
            <a:off x="1060704" y="1353312"/>
            <a:ext cx="219456" cy="219456"/>
          </a:xfrm>
          <a:prstGeom prst="rect">
            <a:avLst/>
          </a:prstGeom>
        </p:spPr>
      </p:pic>
      <p:sp>
        <p:nvSpPr>
          <p:cNvPr id="6" name="text-137"/>
          <p:cNvSpPr txBox="1"/>
          <p:nvPr/>
        </p:nvSpPr>
        <p:spPr>
          <a:xfrm>
            <a:off x="530352" y="1755648"/>
            <a:ext cx="1280160" cy="256032"/>
          </a:xfrm>
          <a:prstGeom prst="rect">
            <a:avLst/>
          </a:prstGeom>
          <a:noFill/>
          <a:ln/>
        </p:spPr>
        <p:txBody>
          <a:bodyPr wrap="square" lIns="0" tIns="0" rIns="0" bIns="0" rtlCol="0" anchor="t"/>
          <a:lstStyle/>
          <a:p>
            <a:pPr algn="ctr" indent="0" marL="0">
              <a:buNone/>
            </a:pPr>
            <a:r>
              <a:rPr lang="en-US" sz="1300" b="1" dirty="0">
                <a:solidFill>
                  <a:schemeClr val="tx1"/>
                </a:solidFill>
              </a:rPr>
              <a:t>Student codes</a:t>
            </a:r>
            <a:endParaRPr lang="en-US" sz="1300" dirty="0"/>
          </a:p>
        </p:txBody>
      </p:sp>
      <p:sp>
        <p:nvSpPr>
          <p:cNvPr id="7" name="text-138"/>
          <p:cNvSpPr txBox="1"/>
          <p:nvPr/>
        </p:nvSpPr>
        <p:spPr>
          <a:xfrm>
            <a:off x="548640" y="2011680"/>
            <a:ext cx="1243584" cy="548640"/>
          </a:xfrm>
          <a:prstGeom prst="rect">
            <a:avLst/>
          </a:prstGeom>
          <a:noFill/>
          <a:ln/>
        </p:spPr>
        <p:txBody>
          <a:bodyPr wrap="square" lIns="0" tIns="0" rIns="0" bIns="0" rtlCol="0" anchor="t"/>
          <a:lstStyle/>
          <a:p>
            <a:pPr algn="ctr" indent="0" marL="0">
              <a:buNone/>
            </a:pPr>
            <a:r>
              <a:rPr lang="en-US" sz="1100" dirty="0">
                <a:solidFill>
                  <a:schemeClr val="tx1"/>
                </a:solidFill>
              </a:rPr>
              <a:t>Builds and tests on their laptop, as today</a:t>
            </a:r>
            <a:endParaRPr lang="en-US" sz="1100" dirty="0"/>
          </a:p>
        </p:txBody>
      </p:sp>
      <p:sp>
        <p:nvSpPr>
          <p:cNvPr id="8" name="arrow-139"/>
          <p:cNvSpPr/>
          <p:nvPr/>
        </p:nvSpPr>
        <p:spPr>
          <a:xfrm>
            <a:off x="1920240" y="1737360"/>
            <a:ext cx="201168" cy="237744"/>
          </a:xfrm>
          <a:prstGeom prst="rightArrow">
            <a:avLst/>
          </a:prstGeom>
          <a:solidFill>
            <a:schemeClr val="accent2"/>
          </a:solidFill>
          <a:ln w="12700">
            <a:solidFill>
              <a:schemeClr val="accent2"/>
            </a:solidFill>
            <a:prstDash val="solid"/>
          </a:ln>
        </p:spPr>
      </p:sp>
      <p:sp>
        <p:nvSpPr>
          <p:cNvPr id="9" name="card-140"/>
          <p:cNvSpPr/>
          <p:nvPr/>
        </p:nvSpPr>
        <p:spPr>
          <a:xfrm>
            <a:off x="2157984" y="1097280"/>
            <a:ext cx="1426464" cy="1508760"/>
          </a:xfrm>
          <a:prstGeom prst="roundRect">
            <a:avLst>
              <a:gd name="adj" fmla="val 5128"/>
            </a:avLst>
          </a:prstGeom>
          <a:solidFill>
            <a:schemeClr val="bg2"/>
          </a:solidFill>
          <a:ln w="9525">
            <a:solidFill>
              <a:schemeClr val="bg2"/>
            </a:solidFill>
            <a:prstDash val="solid"/>
          </a:ln>
        </p:spPr>
      </p:sp>
      <p:sp>
        <p:nvSpPr>
          <p:cNvPr id="10" name="icon-bg-141"/>
          <p:cNvSpPr/>
          <p:nvPr/>
        </p:nvSpPr>
        <p:spPr>
          <a:xfrm>
            <a:off x="2642616" y="1234440"/>
            <a:ext cx="457200" cy="457200"/>
          </a:xfrm>
          <a:prstGeom prst="ellipse">
            <a:avLst/>
          </a:prstGeom>
          <a:solidFill>
            <a:schemeClr val="bg1"/>
          </a:solidFill>
          <a:ln w="12700">
            <a:solidFill>
              <a:schemeClr val="bg1"/>
            </a:solidFill>
            <a:prstDash val="solid"/>
          </a:ln>
        </p:spPr>
      </p:sp>
      <p:pic>
        <p:nvPicPr>
          <p:cNvPr id="11" name="icon-142" descr="preencoded.png">    </p:cNvPr>
          <p:cNvPicPr>
            <a:picLocks noChangeAspect="1"/>
          </p:cNvPicPr>
          <p:nvPr/>
        </p:nvPicPr>
        <p:blipFill>
          <a:blip r:embed="rId2"/>
          <a:stretch>
            <a:fillRect/>
          </a:stretch>
        </p:blipFill>
        <p:spPr>
          <a:xfrm>
            <a:off x="2761488" y="1353312"/>
            <a:ext cx="219456" cy="219456"/>
          </a:xfrm>
          <a:prstGeom prst="rect">
            <a:avLst/>
          </a:prstGeom>
        </p:spPr>
      </p:pic>
      <p:sp>
        <p:nvSpPr>
          <p:cNvPr id="12" name="text-143"/>
          <p:cNvSpPr txBox="1"/>
          <p:nvPr/>
        </p:nvSpPr>
        <p:spPr>
          <a:xfrm>
            <a:off x="2231136" y="1755648"/>
            <a:ext cx="1280160" cy="256032"/>
          </a:xfrm>
          <a:prstGeom prst="rect">
            <a:avLst/>
          </a:prstGeom>
          <a:noFill/>
          <a:ln/>
        </p:spPr>
        <p:txBody>
          <a:bodyPr wrap="square" lIns="0" tIns="0" rIns="0" bIns="0" rtlCol="0" anchor="t"/>
          <a:lstStyle/>
          <a:p>
            <a:pPr algn="ctr" indent="0" marL="0">
              <a:buNone/>
            </a:pPr>
            <a:r>
              <a:rPr lang="en-US" sz="1300" b="1" dirty="0">
                <a:solidFill>
                  <a:schemeClr val="tx1"/>
                </a:solidFill>
              </a:rPr>
              <a:t>Pushes to GitHub</a:t>
            </a:r>
            <a:endParaRPr lang="en-US" sz="1300" dirty="0"/>
          </a:p>
        </p:txBody>
      </p:sp>
      <p:sp>
        <p:nvSpPr>
          <p:cNvPr id="13" name="text-144"/>
          <p:cNvSpPr txBox="1"/>
          <p:nvPr/>
        </p:nvSpPr>
        <p:spPr>
          <a:xfrm>
            <a:off x="2249424" y="2011680"/>
            <a:ext cx="1243584" cy="548640"/>
          </a:xfrm>
          <a:prstGeom prst="rect">
            <a:avLst/>
          </a:prstGeom>
          <a:noFill/>
          <a:ln/>
        </p:spPr>
        <p:txBody>
          <a:bodyPr wrap="square" lIns="0" tIns="0" rIns="0" bIns="0" rtlCol="0" anchor="t"/>
          <a:lstStyle/>
          <a:p>
            <a:pPr algn="ctr" indent="0" marL="0">
              <a:buNone/>
            </a:pPr>
            <a:r>
              <a:rPr lang="en-US" sz="1100" dirty="0">
                <a:solidFill>
                  <a:schemeClr val="tx1"/>
                </a:solidFill>
              </a:rPr>
              <a:t>Adds one small prosho.yaml file</a:t>
            </a:r>
            <a:endParaRPr lang="en-US" sz="1100" dirty="0"/>
          </a:p>
        </p:txBody>
      </p:sp>
      <p:sp>
        <p:nvSpPr>
          <p:cNvPr id="14" name="arrow-145"/>
          <p:cNvSpPr/>
          <p:nvPr/>
        </p:nvSpPr>
        <p:spPr>
          <a:xfrm>
            <a:off x="3621024" y="1737360"/>
            <a:ext cx="201168" cy="237744"/>
          </a:xfrm>
          <a:prstGeom prst="rightArrow">
            <a:avLst/>
          </a:prstGeom>
          <a:solidFill>
            <a:schemeClr val="accent2"/>
          </a:solidFill>
          <a:ln w="12700">
            <a:solidFill>
              <a:schemeClr val="accent2"/>
            </a:solidFill>
            <a:prstDash val="solid"/>
          </a:ln>
        </p:spPr>
      </p:sp>
      <p:sp>
        <p:nvSpPr>
          <p:cNvPr id="15" name="card-146"/>
          <p:cNvSpPr/>
          <p:nvPr/>
        </p:nvSpPr>
        <p:spPr>
          <a:xfrm>
            <a:off x="3858768" y="1097280"/>
            <a:ext cx="1426464" cy="1508760"/>
          </a:xfrm>
          <a:prstGeom prst="roundRect">
            <a:avLst>
              <a:gd name="adj" fmla="val 5128"/>
            </a:avLst>
          </a:prstGeom>
          <a:solidFill>
            <a:schemeClr val="bg2"/>
          </a:solidFill>
          <a:ln w="9525">
            <a:solidFill>
              <a:schemeClr val="bg2"/>
            </a:solidFill>
            <a:prstDash val="solid"/>
          </a:ln>
        </p:spPr>
      </p:sp>
      <p:sp>
        <p:nvSpPr>
          <p:cNvPr id="16" name="icon-bg-147"/>
          <p:cNvSpPr/>
          <p:nvPr/>
        </p:nvSpPr>
        <p:spPr>
          <a:xfrm>
            <a:off x="4343400" y="1234440"/>
            <a:ext cx="457200" cy="457200"/>
          </a:xfrm>
          <a:prstGeom prst="ellipse">
            <a:avLst/>
          </a:prstGeom>
          <a:solidFill>
            <a:schemeClr val="bg1"/>
          </a:solidFill>
          <a:ln w="12700">
            <a:solidFill>
              <a:schemeClr val="bg1"/>
            </a:solidFill>
            <a:prstDash val="solid"/>
          </a:ln>
        </p:spPr>
      </p:sp>
      <p:pic>
        <p:nvPicPr>
          <p:cNvPr id="17" name="icon-148" descr="preencoded.png">    </p:cNvPr>
          <p:cNvPicPr>
            <a:picLocks noChangeAspect="1"/>
          </p:cNvPicPr>
          <p:nvPr/>
        </p:nvPicPr>
        <p:blipFill>
          <a:blip r:embed="rId3"/>
          <a:stretch>
            <a:fillRect/>
          </a:stretch>
        </p:blipFill>
        <p:spPr>
          <a:xfrm>
            <a:off x="4462272" y="1353312"/>
            <a:ext cx="219456" cy="219456"/>
          </a:xfrm>
          <a:prstGeom prst="rect">
            <a:avLst/>
          </a:prstGeom>
        </p:spPr>
      </p:pic>
      <p:sp>
        <p:nvSpPr>
          <p:cNvPr id="18" name="text-149"/>
          <p:cNvSpPr txBox="1"/>
          <p:nvPr/>
        </p:nvSpPr>
        <p:spPr>
          <a:xfrm>
            <a:off x="3931920" y="1755648"/>
            <a:ext cx="1280160" cy="256032"/>
          </a:xfrm>
          <a:prstGeom prst="rect">
            <a:avLst/>
          </a:prstGeom>
          <a:noFill/>
          <a:ln/>
        </p:spPr>
        <p:txBody>
          <a:bodyPr wrap="square" lIns="0" tIns="0" rIns="0" bIns="0" rtlCol="0" anchor="t"/>
          <a:lstStyle/>
          <a:p>
            <a:pPr algn="ctr" indent="0" marL="0">
              <a:buNone/>
            </a:pPr>
            <a:r>
              <a:rPr lang="en-US" sz="1300" b="1" dirty="0">
                <a:solidFill>
                  <a:schemeClr val="tx1"/>
                </a:solidFill>
              </a:rPr>
              <a:t>Checks run</a:t>
            </a:r>
            <a:endParaRPr lang="en-US" sz="1300" dirty="0"/>
          </a:p>
        </p:txBody>
      </p:sp>
      <p:sp>
        <p:nvSpPr>
          <p:cNvPr id="19" name="text-150"/>
          <p:cNvSpPr txBox="1"/>
          <p:nvPr/>
        </p:nvSpPr>
        <p:spPr>
          <a:xfrm>
            <a:off x="3950208" y="2011680"/>
            <a:ext cx="1243584" cy="548640"/>
          </a:xfrm>
          <a:prstGeom prst="rect">
            <a:avLst/>
          </a:prstGeom>
          <a:noFill/>
          <a:ln/>
        </p:spPr>
        <p:txBody>
          <a:bodyPr wrap="square" lIns="0" tIns="0" rIns="0" bIns="0" rtlCol="0" anchor="t"/>
          <a:lstStyle/>
          <a:p>
            <a:pPr algn="ctr" indent="0" marL="0">
              <a:buNone/>
            </a:pPr>
            <a:r>
              <a:rPr lang="en-US" sz="1100" dirty="0">
                <a:solidFill>
                  <a:schemeClr val="tx1"/>
                </a:solidFill>
              </a:rPr>
              <a:t>GitHub Actions send evidence to LVAMO</a:t>
            </a:r>
            <a:endParaRPr lang="en-US" sz="1100" dirty="0"/>
          </a:p>
        </p:txBody>
      </p:sp>
      <p:sp>
        <p:nvSpPr>
          <p:cNvPr id="20" name="arrow-151"/>
          <p:cNvSpPr/>
          <p:nvPr/>
        </p:nvSpPr>
        <p:spPr>
          <a:xfrm>
            <a:off x="5321808" y="1737360"/>
            <a:ext cx="201168" cy="237744"/>
          </a:xfrm>
          <a:prstGeom prst="rightArrow">
            <a:avLst/>
          </a:prstGeom>
          <a:solidFill>
            <a:schemeClr val="accent2"/>
          </a:solidFill>
          <a:ln w="12700">
            <a:solidFill>
              <a:schemeClr val="accent2"/>
            </a:solidFill>
            <a:prstDash val="solid"/>
          </a:ln>
        </p:spPr>
      </p:sp>
      <p:sp>
        <p:nvSpPr>
          <p:cNvPr id="21" name="card-152"/>
          <p:cNvSpPr/>
          <p:nvPr/>
        </p:nvSpPr>
        <p:spPr>
          <a:xfrm>
            <a:off x="5559552" y="1097280"/>
            <a:ext cx="1426464" cy="1508760"/>
          </a:xfrm>
          <a:prstGeom prst="roundRect">
            <a:avLst>
              <a:gd name="adj" fmla="val 5128"/>
            </a:avLst>
          </a:prstGeom>
          <a:solidFill>
            <a:schemeClr val="accent1"/>
          </a:solidFill>
          <a:ln w="9525">
            <a:solidFill>
              <a:schemeClr val="accent1"/>
            </a:solidFill>
            <a:prstDash val="solid"/>
          </a:ln>
        </p:spPr>
      </p:sp>
      <p:pic>
        <p:nvPicPr>
          <p:cNvPr id="22" name="step-logo" descr="preencoded.png">    </p:cNvPr>
          <p:cNvPicPr>
            <a:picLocks noChangeAspect="1"/>
          </p:cNvPicPr>
          <p:nvPr/>
        </p:nvPicPr>
        <p:blipFill>
          <a:blip r:embed="rId4"/>
          <a:stretch>
            <a:fillRect/>
          </a:stretch>
        </p:blipFill>
        <p:spPr>
          <a:xfrm>
            <a:off x="6044184" y="1234440"/>
            <a:ext cx="457200" cy="457200"/>
          </a:xfrm>
          <a:prstGeom prst="rect">
            <a:avLst/>
          </a:prstGeom>
        </p:spPr>
      </p:pic>
      <p:sp>
        <p:nvSpPr>
          <p:cNvPr id="23" name="text-153"/>
          <p:cNvSpPr txBox="1"/>
          <p:nvPr/>
        </p:nvSpPr>
        <p:spPr>
          <a:xfrm>
            <a:off x="5632704" y="1755648"/>
            <a:ext cx="1280160" cy="256032"/>
          </a:xfrm>
          <a:prstGeom prst="rect">
            <a:avLst/>
          </a:prstGeom>
          <a:noFill/>
          <a:ln/>
        </p:spPr>
        <p:txBody>
          <a:bodyPr wrap="square" lIns="0" tIns="0" rIns="0" bIns="0" rtlCol="0" anchor="t"/>
          <a:lstStyle/>
          <a:p>
            <a:pPr algn="ctr" indent="0" marL="0">
              <a:buNone/>
            </a:pPr>
            <a:r>
              <a:rPr lang="en-US" sz="1300" b="1" dirty="0">
                <a:solidFill>
                  <a:schemeClr val="bg1"/>
                </a:solidFill>
              </a:rPr>
              <a:t>ProSho builds</a:t>
            </a:r>
            <a:endParaRPr lang="en-US" sz="1300" dirty="0"/>
          </a:p>
        </p:txBody>
      </p:sp>
      <p:sp>
        <p:nvSpPr>
          <p:cNvPr id="24" name="text-154"/>
          <p:cNvSpPr txBox="1"/>
          <p:nvPr/>
        </p:nvSpPr>
        <p:spPr>
          <a:xfrm>
            <a:off x="5650992" y="2011680"/>
            <a:ext cx="1243584" cy="548640"/>
          </a:xfrm>
          <a:prstGeom prst="rect">
            <a:avLst/>
          </a:prstGeom>
          <a:noFill/>
          <a:ln/>
        </p:spPr>
        <p:txBody>
          <a:bodyPr wrap="square" lIns="0" tIns="0" rIns="0" bIns="0" rtlCol="0" anchor="t"/>
          <a:lstStyle/>
          <a:p>
            <a:pPr algn="ctr" indent="0" marL="0">
              <a:buNone/>
            </a:pPr>
            <a:r>
              <a:rPr lang="en-US" sz="1100" dirty="0">
                <a:solidFill>
                  <a:schemeClr val="bg1"/>
                </a:solidFill>
              </a:rPr>
              <a:t>Shared core + the right module</a:t>
            </a:r>
            <a:endParaRPr lang="en-US" sz="1100" dirty="0"/>
          </a:p>
        </p:txBody>
      </p:sp>
      <p:sp>
        <p:nvSpPr>
          <p:cNvPr id="25" name="arrow-155"/>
          <p:cNvSpPr/>
          <p:nvPr/>
        </p:nvSpPr>
        <p:spPr>
          <a:xfrm>
            <a:off x="7022592" y="1737360"/>
            <a:ext cx="201168" cy="237744"/>
          </a:xfrm>
          <a:prstGeom prst="rightArrow">
            <a:avLst/>
          </a:prstGeom>
          <a:solidFill>
            <a:schemeClr val="accent2"/>
          </a:solidFill>
          <a:ln w="12700">
            <a:solidFill>
              <a:schemeClr val="accent2"/>
            </a:solidFill>
            <a:prstDash val="solid"/>
          </a:ln>
        </p:spPr>
      </p:sp>
      <p:sp>
        <p:nvSpPr>
          <p:cNvPr id="26" name="card-156"/>
          <p:cNvSpPr/>
          <p:nvPr/>
        </p:nvSpPr>
        <p:spPr>
          <a:xfrm>
            <a:off x="7260336" y="1097280"/>
            <a:ext cx="1426464" cy="1508760"/>
          </a:xfrm>
          <a:prstGeom prst="roundRect">
            <a:avLst>
              <a:gd name="adj" fmla="val 5128"/>
            </a:avLst>
          </a:prstGeom>
          <a:solidFill>
            <a:schemeClr val="bg2"/>
          </a:solidFill>
          <a:ln w="9525">
            <a:solidFill>
              <a:schemeClr val="bg2"/>
            </a:solidFill>
            <a:prstDash val="solid"/>
          </a:ln>
        </p:spPr>
      </p:sp>
      <p:sp>
        <p:nvSpPr>
          <p:cNvPr id="27" name="icon-bg-157"/>
          <p:cNvSpPr/>
          <p:nvPr/>
        </p:nvSpPr>
        <p:spPr>
          <a:xfrm>
            <a:off x="7744968" y="1234440"/>
            <a:ext cx="457200" cy="457200"/>
          </a:xfrm>
          <a:prstGeom prst="ellipse">
            <a:avLst/>
          </a:prstGeom>
          <a:solidFill>
            <a:schemeClr val="bg1"/>
          </a:solidFill>
          <a:ln w="12700">
            <a:solidFill>
              <a:schemeClr val="bg1"/>
            </a:solidFill>
            <a:prstDash val="solid"/>
          </a:ln>
        </p:spPr>
      </p:sp>
      <p:pic>
        <p:nvPicPr>
          <p:cNvPr id="28" name="icon-158" descr="preencoded.png">    </p:cNvPr>
          <p:cNvPicPr>
            <a:picLocks noChangeAspect="1"/>
          </p:cNvPicPr>
          <p:nvPr/>
        </p:nvPicPr>
        <p:blipFill>
          <a:blip r:embed="rId5"/>
          <a:stretch>
            <a:fillRect/>
          </a:stretch>
        </p:blipFill>
        <p:spPr>
          <a:xfrm>
            <a:off x="7863840" y="1353312"/>
            <a:ext cx="219456" cy="219456"/>
          </a:xfrm>
          <a:prstGeom prst="rect">
            <a:avLst/>
          </a:prstGeom>
        </p:spPr>
      </p:pic>
      <p:sp>
        <p:nvSpPr>
          <p:cNvPr id="29" name="text-159"/>
          <p:cNvSpPr txBox="1"/>
          <p:nvPr/>
        </p:nvSpPr>
        <p:spPr>
          <a:xfrm>
            <a:off x="7333488" y="1755648"/>
            <a:ext cx="1280160" cy="256032"/>
          </a:xfrm>
          <a:prstGeom prst="rect">
            <a:avLst/>
          </a:prstGeom>
          <a:noFill/>
          <a:ln/>
        </p:spPr>
        <p:txBody>
          <a:bodyPr wrap="square" lIns="0" tIns="0" rIns="0" bIns="0" rtlCol="0" anchor="t"/>
          <a:lstStyle/>
          <a:p>
            <a:pPr algn="ctr" indent="0" marL="0">
              <a:buNone/>
            </a:pPr>
            <a:r>
              <a:rPr lang="en-US" sz="1300" b="1" dirty="0">
                <a:solidFill>
                  <a:schemeClr val="tx1"/>
                </a:solidFill>
              </a:rPr>
              <a:t>Page goes live</a:t>
            </a:r>
            <a:endParaRPr lang="en-US" sz="1300" dirty="0"/>
          </a:p>
        </p:txBody>
      </p:sp>
      <p:sp>
        <p:nvSpPr>
          <p:cNvPr id="30" name="text-160"/>
          <p:cNvSpPr txBox="1"/>
          <p:nvPr/>
        </p:nvSpPr>
        <p:spPr>
          <a:xfrm>
            <a:off x="7351776" y="2011680"/>
            <a:ext cx="1243584" cy="548640"/>
          </a:xfrm>
          <a:prstGeom prst="rect">
            <a:avLst/>
          </a:prstGeom>
          <a:noFill/>
          <a:ln/>
        </p:spPr>
        <p:txBody>
          <a:bodyPr wrap="square" lIns="0" tIns="0" rIns="0" bIns="0" rtlCol="0" anchor="t"/>
          <a:lstStyle/>
          <a:p>
            <a:pPr algn="ctr" indent="0" marL="0">
              <a:buNone/>
            </a:pPr>
            <a:r>
              <a:rPr lang="en-US" sz="1100" dirty="0">
                <a:solidFill>
                  <a:schemeClr val="tx1"/>
                </a:solidFill>
              </a:rPr>
              <a:t>One link for examiners and recruiters</a:t>
            </a:r>
            <a:endParaRPr lang="en-US" sz="1100" dirty="0"/>
          </a:p>
        </p:txBody>
      </p:sp>
      <p:sp>
        <p:nvSpPr>
          <p:cNvPr id="31" name="card-161"/>
          <p:cNvSpPr/>
          <p:nvPr/>
        </p:nvSpPr>
        <p:spPr>
          <a:xfrm>
            <a:off x="457200" y="2834640"/>
            <a:ext cx="4023360" cy="1737360"/>
          </a:xfrm>
          <a:prstGeom prst="roundRect">
            <a:avLst>
              <a:gd name="adj" fmla="val 4211"/>
            </a:avLst>
          </a:prstGeom>
          <a:solidFill>
            <a:schemeClr val="tx2"/>
          </a:solidFill>
          <a:ln w="9525">
            <a:solidFill>
              <a:schemeClr val="tx2"/>
            </a:solidFill>
            <a:prstDash val="solid"/>
          </a:ln>
        </p:spPr>
      </p:sp>
      <p:sp>
        <p:nvSpPr>
          <p:cNvPr id="32" name="text-162"/>
          <p:cNvSpPr txBox="1"/>
          <p:nvPr/>
        </p:nvSpPr>
        <p:spPr>
          <a:xfrm>
            <a:off x="640080" y="2926080"/>
            <a:ext cx="2743200" cy="228600"/>
          </a:xfrm>
          <a:prstGeom prst="rect">
            <a:avLst/>
          </a:prstGeom>
          <a:noFill/>
          <a:ln/>
        </p:spPr>
        <p:txBody>
          <a:bodyPr wrap="square" lIns="0" tIns="0" rIns="0" bIns="0" rtlCol="0" anchor="t"/>
          <a:lstStyle/>
          <a:p>
            <a:pPr indent="0" marL="0">
              <a:buNone/>
            </a:pPr>
            <a:r>
              <a:rPr lang="en-US" sz="1000" b="1" dirty="0">
                <a:solidFill>
                  <a:schemeClr val="accent2"/>
                </a:solidFill>
              </a:rPr>
              <a:t>prosho.yaml</a:t>
            </a:r>
            <a:endParaRPr lang="en-US" sz="1000" dirty="0"/>
          </a:p>
        </p:txBody>
      </p:sp>
      <p:sp>
        <p:nvSpPr>
          <p:cNvPr id="33" name="text-163"/>
          <p:cNvSpPr txBox="1"/>
          <p:nvPr/>
        </p:nvSpPr>
        <p:spPr>
          <a:xfrm>
            <a:off x="640080" y="3172968"/>
            <a:ext cx="3749040" cy="132588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version: 1</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title: HeatRisk EU</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type: data-science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claims:</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 id: predict-2026</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metric: prediction_error_pct</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target: { op: abs_lte, value: 25 }</a:t>
            </a:r>
            <a:endParaRPr lang="en-US" sz="1100" dirty="0"/>
          </a:p>
        </p:txBody>
      </p:sp>
      <p:sp>
        <p:nvSpPr>
          <p:cNvPr id="34" name="text-164"/>
          <p:cNvSpPr txBox="1"/>
          <p:nvPr/>
        </p:nvSpPr>
        <p:spPr>
          <a:xfrm>
            <a:off x="4754880" y="2880360"/>
            <a:ext cx="3931920" cy="320040"/>
          </a:xfrm>
          <a:prstGeom prst="rect">
            <a:avLst/>
          </a:prstGeom>
          <a:noFill/>
          <a:ln/>
        </p:spPr>
        <p:txBody>
          <a:bodyPr wrap="square" lIns="0" tIns="0" rIns="0" bIns="0" rtlCol="0" anchor="t"/>
          <a:lstStyle/>
          <a:p>
            <a:pPr indent="0" marL="0">
              <a:buNone/>
            </a:pPr>
            <a:r>
              <a:rPr lang="en-US" sz="1600" b="1" dirty="0">
                <a:solidFill>
                  <a:schemeClr val="tx1"/>
                </a:solidFill>
              </a:rPr>
              <a:t>The only new thing for the student</a:t>
            </a:r>
            <a:endParaRPr lang="en-US" sz="1600" dirty="0"/>
          </a:p>
        </p:txBody>
      </p:sp>
      <p:sp>
        <p:nvSpPr>
          <p:cNvPr id="35" name="text-165"/>
          <p:cNvSpPr txBox="1"/>
          <p:nvPr/>
        </p:nvSpPr>
        <p:spPr>
          <a:xfrm>
            <a:off x="4754880" y="3291840"/>
            <a:ext cx="393192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short file that describes the project and its claims</a:t>
            </a:r>
            <a:endParaRPr lang="en-US" sz="1400" dirty="0"/>
          </a:p>
          <a:p>
            <a:pPr marL="342900" indent="-342900">
              <a:spcAft>
                <a:spcPts val="600"/>
              </a:spcAft>
              <a:buSzPct val="100000"/>
              <a:buChar char="•"/>
            </a:pPr>
            <a:r>
              <a:rPr lang="en-US" sz="1400" dirty="0">
                <a:solidFill>
                  <a:schemeClr val="tx1"/>
                </a:solidFill>
              </a:rPr>
              <a:t>An optional CI step that reports results on every push</a:t>
            </a:r>
            <a:endParaRPr lang="en-US" sz="1400" dirty="0"/>
          </a:p>
          <a:p>
            <a:pPr marL="342900" indent="-342900">
              <a:spcAft>
                <a:spcPts val="600"/>
              </a:spcAft>
              <a:buSzPct val="100000"/>
              <a:buChar char="•"/>
            </a:pPr>
            <a:r>
              <a:rPr lang="en-US" sz="1400" dirty="0">
                <a:solidFill>
                  <a:schemeClr val="tx1"/>
                </a:solidFill>
              </a:rPr>
              <a:t>Everything else stays in their normal Git workflow</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1463040"/>
            <a:ext cx="5120640" cy="320040"/>
          </a:xfrm>
          <a:prstGeom prst="rect">
            <a:avLst/>
          </a:prstGeom>
          <a:noFill/>
          <a:ln/>
        </p:spPr>
        <p:txBody>
          <a:bodyPr wrap="square" lIns="0" tIns="0" rIns="0" bIns="0" rtlCol="0"/>
          <a:lstStyle/>
          <a:p>
            <a:pPr indent="0" marL="0">
              <a:buNone/>
            </a:pPr>
            <a:r>
              <a:rPr lang="en-US" sz="1300" b="1" spc="200" kern="0" dirty="0">
                <a:solidFill>
                  <a:schemeClr val="accent2"/>
                </a:solidFill>
              </a:rPr>
              <a:t>EXAMPLE 1 · DATA SCIENCE</a:t>
            </a:r>
            <a:endParaRPr lang="en-US" sz="1300" dirty="0"/>
          </a:p>
        </p:txBody>
      </p:sp>
      <p:sp>
        <p:nvSpPr>
          <p:cNvPr id="3" name="Text 0"/>
          <p:cNvSpPr/>
          <p:nvPr>
            <p:ph idx="101" type="title" hasCustomPrompt="1"/>
          </p:nvPr>
        </p:nvSpPr>
        <p:spPr>
          <a:xfrm>
            <a:off x="457200" y="1828800"/>
            <a:ext cx="5120640" cy="822960"/>
          </a:xfrm>
          <a:prstGeom prst="rect">
            <a:avLst/>
          </a:prstGeom>
          <a:noFill/>
          <a:ln/>
        </p:spPr>
        <p:txBody>
          <a:bodyPr wrap="square" lIns="0" tIns="0" rIns="0" bIns="0" rtlCol="0" anchor="t"/>
          <a:lstStyle/>
          <a:p>
            <a:pPr indent="0" marL="0">
              <a:buNone/>
            </a:pPr>
            <a:r>
              <a:rPr lang="en-US" sz="4000" b="1" dirty="0">
                <a:solidFill>
                  <a:schemeClr val="bg1"/>
                </a:solidFill>
              </a:rPr>
              <a:t>HeatRisk EU</a:t>
            </a:r>
            <a:endParaRPr lang="en-US" sz="4000" dirty="0"/>
          </a:p>
        </p:txBody>
      </p:sp>
      <p:sp>
        <p:nvSpPr>
          <p:cNvPr id="4" name="Text 0"/>
          <p:cNvSpPr/>
          <p:nvPr>
            <p:ph idx="102" type="body" hasCustomPrompt="1"/>
          </p:nvPr>
        </p:nvSpPr>
        <p:spPr>
          <a:xfrm>
            <a:off x="457200" y="2743200"/>
            <a:ext cx="4937760" cy="1188720"/>
          </a:xfrm>
          <a:prstGeom prst="rect">
            <a:avLst/>
          </a:prstGeom>
          <a:noFill/>
          <a:ln/>
        </p:spPr>
        <p:txBody>
          <a:bodyPr wrap="square" lIns="0" tIns="0" rIns="0" bIns="0" rtlCol="0" anchor="t"/>
          <a:lstStyle/>
          <a:p>
            <a:pPr indent="0" marL="0">
              <a:buNone/>
            </a:pPr>
            <a:r>
              <a:rPr lang="en-US" sz="1600" dirty="0">
                <a:solidFill>
                  <a:schemeClr val="bg2"/>
                </a:solidFill>
              </a:rPr>
              <a:t>A real MSc capstone at UE Potsdam: who is most at risk from summer heat in Germany, France, Italy, Spain and Greece</a:t>
            </a:r>
            <a:endParaRPr lang="en-US" sz="1600" dirty="0"/>
          </a:p>
        </p:txBody>
      </p:sp>
      <p:sp>
        <p:nvSpPr>
          <p:cNvPr id="5" name="heat-166"/>
          <p:cNvSpPr/>
          <p:nvPr/>
        </p:nvSpPr>
        <p:spPr>
          <a:xfrm>
            <a:off x="5852160" y="1188720"/>
            <a:ext cx="236913" cy="254000"/>
          </a:xfrm>
          <a:prstGeom prst="rect">
            <a:avLst/>
          </a:prstGeom>
          <a:solidFill>
            <a:srgbClr val="FCD34D"/>
          </a:solidFill>
          <a:ln w="12700">
            <a:solidFill>
              <a:srgbClr val="FCD34D"/>
            </a:solidFill>
            <a:prstDash val="solid"/>
          </a:ln>
        </p:spPr>
      </p:sp>
      <p:sp>
        <p:nvSpPr>
          <p:cNvPr id="6" name="heat-167"/>
          <p:cNvSpPr/>
          <p:nvPr/>
        </p:nvSpPr>
        <p:spPr>
          <a:xfrm>
            <a:off x="6111933" y="1188720"/>
            <a:ext cx="236913" cy="254000"/>
          </a:xfrm>
          <a:prstGeom prst="rect">
            <a:avLst/>
          </a:prstGeom>
          <a:solidFill>
            <a:srgbClr val="FBBF24"/>
          </a:solidFill>
          <a:ln w="12700">
            <a:solidFill>
              <a:srgbClr val="FBBF24"/>
            </a:solidFill>
            <a:prstDash val="solid"/>
          </a:ln>
        </p:spPr>
      </p:sp>
      <p:sp>
        <p:nvSpPr>
          <p:cNvPr id="7" name="heat-168"/>
          <p:cNvSpPr/>
          <p:nvPr/>
        </p:nvSpPr>
        <p:spPr>
          <a:xfrm>
            <a:off x="6371705" y="1188720"/>
            <a:ext cx="236913" cy="254000"/>
          </a:xfrm>
          <a:prstGeom prst="rect">
            <a:avLst/>
          </a:prstGeom>
          <a:solidFill>
            <a:srgbClr val="FBBF24"/>
          </a:solidFill>
          <a:ln w="12700">
            <a:solidFill>
              <a:srgbClr val="FBBF24"/>
            </a:solidFill>
            <a:prstDash val="solid"/>
          </a:ln>
        </p:spPr>
      </p:sp>
      <p:sp>
        <p:nvSpPr>
          <p:cNvPr id="8" name="heat-169"/>
          <p:cNvSpPr/>
          <p:nvPr/>
        </p:nvSpPr>
        <p:spPr>
          <a:xfrm>
            <a:off x="6631478" y="1188720"/>
            <a:ext cx="236913" cy="254000"/>
          </a:xfrm>
          <a:prstGeom prst="rect">
            <a:avLst/>
          </a:prstGeom>
          <a:solidFill>
            <a:srgbClr val="F97316"/>
          </a:solidFill>
          <a:ln w="12700">
            <a:solidFill>
              <a:srgbClr val="F97316"/>
            </a:solidFill>
            <a:prstDash val="solid"/>
          </a:ln>
        </p:spPr>
      </p:sp>
      <p:sp>
        <p:nvSpPr>
          <p:cNvPr id="9" name="heat-170"/>
          <p:cNvSpPr/>
          <p:nvPr/>
        </p:nvSpPr>
        <p:spPr>
          <a:xfrm>
            <a:off x="6891251" y="1188720"/>
            <a:ext cx="236913" cy="254000"/>
          </a:xfrm>
          <a:prstGeom prst="rect">
            <a:avLst/>
          </a:prstGeom>
          <a:solidFill>
            <a:srgbClr val="FBBF24"/>
          </a:solidFill>
          <a:ln w="12700">
            <a:solidFill>
              <a:srgbClr val="FBBF24"/>
            </a:solidFill>
            <a:prstDash val="solid"/>
          </a:ln>
        </p:spPr>
      </p:sp>
      <p:sp>
        <p:nvSpPr>
          <p:cNvPr id="10" name="heat-171"/>
          <p:cNvSpPr/>
          <p:nvPr/>
        </p:nvSpPr>
        <p:spPr>
          <a:xfrm>
            <a:off x="7151024" y="1188720"/>
            <a:ext cx="236913" cy="254000"/>
          </a:xfrm>
          <a:prstGeom prst="rect">
            <a:avLst/>
          </a:prstGeom>
          <a:solidFill>
            <a:srgbClr val="FBBF24"/>
          </a:solidFill>
          <a:ln w="12700">
            <a:solidFill>
              <a:srgbClr val="FBBF24"/>
            </a:solidFill>
            <a:prstDash val="solid"/>
          </a:ln>
        </p:spPr>
      </p:sp>
      <p:sp>
        <p:nvSpPr>
          <p:cNvPr id="11" name="heat-172"/>
          <p:cNvSpPr/>
          <p:nvPr/>
        </p:nvSpPr>
        <p:spPr>
          <a:xfrm>
            <a:off x="7410796" y="1188720"/>
            <a:ext cx="236913" cy="254000"/>
          </a:xfrm>
          <a:prstGeom prst="rect">
            <a:avLst/>
          </a:prstGeom>
          <a:solidFill>
            <a:srgbClr val="FCD34D"/>
          </a:solidFill>
          <a:ln w="12700">
            <a:solidFill>
              <a:srgbClr val="FCD34D"/>
            </a:solidFill>
            <a:prstDash val="solid"/>
          </a:ln>
        </p:spPr>
      </p:sp>
      <p:sp>
        <p:nvSpPr>
          <p:cNvPr id="12" name="heat-173"/>
          <p:cNvSpPr/>
          <p:nvPr/>
        </p:nvSpPr>
        <p:spPr>
          <a:xfrm>
            <a:off x="7670569" y="1188720"/>
            <a:ext cx="236913" cy="254000"/>
          </a:xfrm>
          <a:prstGeom prst="rect">
            <a:avLst/>
          </a:prstGeom>
          <a:solidFill>
            <a:srgbClr val="FDE68A"/>
          </a:solidFill>
          <a:ln w="12700">
            <a:solidFill>
              <a:srgbClr val="FDE68A"/>
            </a:solidFill>
            <a:prstDash val="solid"/>
          </a:ln>
        </p:spPr>
      </p:sp>
      <p:sp>
        <p:nvSpPr>
          <p:cNvPr id="13" name="heat-174"/>
          <p:cNvSpPr/>
          <p:nvPr/>
        </p:nvSpPr>
        <p:spPr>
          <a:xfrm>
            <a:off x="7930342" y="1188720"/>
            <a:ext cx="236913" cy="254000"/>
          </a:xfrm>
          <a:prstGeom prst="rect">
            <a:avLst/>
          </a:prstGeom>
          <a:solidFill>
            <a:srgbClr val="FDE68A"/>
          </a:solidFill>
          <a:ln w="12700">
            <a:solidFill>
              <a:srgbClr val="FDE68A"/>
            </a:solidFill>
            <a:prstDash val="solid"/>
          </a:ln>
        </p:spPr>
      </p:sp>
      <p:sp>
        <p:nvSpPr>
          <p:cNvPr id="14" name="heat-175"/>
          <p:cNvSpPr/>
          <p:nvPr/>
        </p:nvSpPr>
        <p:spPr>
          <a:xfrm>
            <a:off x="8190115" y="1188720"/>
            <a:ext cx="236913" cy="254000"/>
          </a:xfrm>
          <a:prstGeom prst="rect">
            <a:avLst/>
          </a:prstGeom>
          <a:solidFill>
            <a:srgbClr val="FEF3C7"/>
          </a:solidFill>
          <a:ln w="12700">
            <a:solidFill>
              <a:srgbClr val="FEF3C7"/>
            </a:solidFill>
            <a:prstDash val="solid"/>
          </a:ln>
        </p:spPr>
      </p:sp>
      <p:sp>
        <p:nvSpPr>
          <p:cNvPr id="15" name="heat-176"/>
          <p:cNvSpPr/>
          <p:nvPr/>
        </p:nvSpPr>
        <p:spPr>
          <a:xfrm>
            <a:off x="8449887" y="1188720"/>
            <a:ext cx="236913" cy="254000"/>
          </a:xfrm>
          <a:prstGeom prst="rect">
            <a:avLst/>
          </a:prstGeom>
          <a:solidFill>
            <a:srgbClr val="FDE68A"/>
          </a:solidFill>
          <a:ln w="12700">
            <a:solidFill>
              <a:srgbClr val="FDE68A"/>
            </a:solidFill>
            <a:prstDash val="solid"/>
          </a:ln>
        </p:spPr>
      </p:sp>
      <p:sp>
        <p:nvSpPr>
          <p:cNvPr id="16" name="heat-177"/>
          <p:cNvSpPr/>
          <p:nvPr/>
        </p:nvSpPr>
        <p:spPr>
          <a:xfrm>
            <a:off x="5852160" y="1465580"/>
            <a:ext cx="236913" cy="254000"/>
          </a:xfrm>
          <a:prstGeom prst="rect">
            <a:avLst/>
          </a:prstGeom>
          <a:solidFill>
            <a:srgbClr val="FCD34D"/>
          </a:solidFill>
          <a:ln w="12700">
            <a:solidFill>
              <a:srgbClr val="FCD34D"/>
            </a:solidFill>
            <a:prstDash val="solid"/>
          </a:ln>
        </p:spPr>
      </p:sp>
      <p:sp>
        <p:nvSpPr>
          <p:cNvPr id="17" name="heat-178"/>
          <p:cNvSpPr/>
          <p:nvPr/>
        </p:nvSpPr>
        <p:spPr>
          <a:xfrm>
            <a:off x="6111933" y="1465580"/>
            <a:ext cx="236913" cy="254000"/>
          </a:xfrm>
          <a:prstGeom prst="rect">
            <a:avLst/>
          </a:prstGeom>
          <a:solidFill>
            <a:srgbClr val="F97316"/>
          </a:solidFill>
          <a:ln w="12700">
            <a:solidFill>
              <a:srgbClr val="F97316"/>
            </a:solidFill>
            <a:prstDash val="solid"/>
          </a:ln>
        </p:spPr>
      </p:sp>
      <p:sp>
        <p:nvSpPr>
          <p:cNvPr id="18" name="heat-179"/>
          <p:cNvSpPr/>
          <p:nvPr/>
        </p:nvSpPr>
        <p:spPr>
          <a:xfrm>
            <a:off x="6371705" y="1465580"/>
            <a:ext cx="236913" cy="254000"/>
          </a:xfrm>
          <a:prstGeom prst="rect">
            <a:avLst/>
          </a:prstGeom>
          <a:solidFill>
            <a:srgbClr val="EF4444"/>
          </a:solidFill>
          <a:ln w="12700">
            <a:solidFill>
              <a:srgbClr val="EF4444"/>
            </a:solidFill>
            <a:prstDash val="solid"/>
          </a:ln>
        </p:spPr>
      </p:sp>
      <p:sp>
        <p:nvSpPr>
          <p:cNvPr id="19" name="heat-180"/>
          <p:cNvSpPr/>
          <p:nvPr/>
        </p:nvSpPr>
        <p:spPr>
          <a:xfrm>
            <a:off x="6631478" y="1465580"/>
            <a:ext cx="236913" cy="254000"/>
          </a:xfrm>
          <a:prstGeom prst="rect">
            <a:avLst/>
          </a:prstGeom>
          <a:solidFill>
            <a:srgbClr val="EF4444"/>
          </a:solidFill>
          <a:ln w="12700">
            <a:solidFill>
              <a:srgbClr val="EF4444"/>
            </a:solidFill>
            <a:prstDash val="solid"/>
          </a:ln>
        </p:spPr>
      </p:sp>
      <p:sp>
        <p:nvSpPr>
          <p:cNvPr id="20" name="heat-181"/>
          <p:cNvSpPr/>
          <p:nvPr/>
        </p:nvSpPr>
        <p:spPr>
          <a:xfrm>
            <a:off x="6891251" y="1465580"/>
            <a:ext cx="236913" cy="254000"/>
          </a:xfrm>
          <a:prstGeom prst="rect">
            <a:avLst/>
          </a:prstGeom>
          <a:solidFill>
            <a:srgbClr val="EF4444"/>
          </a:solidFill>
          <a:ln w="12700">
            <a:solidFill>
              <a:srgbClr val="EF4444"/>
            </a:solidFill>
            <a:prstDash val="solid"/>
          </a:ln>
        </p:spPr>
      </p:sp>
      <p:sp>
        <p:nvSpPr>
          <p:cNvPr id="21" name="heat-182"/>
          <p:cNvSpPr/>
          <p:nvPr/>
        </p:nvSpPr>
        <p:spPr>
          <a:xfrm>
            <a:off x="7151024" y="1465580"/>
            <a:ext cx="236913" cy="254000"/>
          </a:xfrm>
          <a:prstGeom prst="rect">
            <a:avLst/>
          </a:prstGeom>
          <a:solidFill>
            <a:srgbClr val="FBBF24"/>
          </a:solidFill>
          <a:ln w="12700">
            <a:solidFill>
              <a:srgbClr val="FBBF24"/>
            </a:solidFill>
            <a:prstDash val="solid"/>
          </a:ln>
        </p:spPr>
      </p:sp>
      <p:sp>
        <p:nvSpPr>
          <p:cNvPr id="22" name="heat-183"/>
          <p:cNvSpPr/>
          <p:nvPr/>
        </p:nvSpPr>
        <p:spPr>
          <a:xfrm>
            <a:off x="7410796" y="1465580"/>
            <a:ext cx="236913" cy="254000"/>
          </a:xfrm>
          <a:prstGeom prst="rect">
            <a:avLst/>
          </a:prstGeom>
          <a:solidFill>
            <a:srgbClr val="FBBF24"/>
          </a:solidFill>
          <a:ln w="12700">
            <a:solidFill>
              <a:srgbClr val="FBBF24"/>
            </a:solidFill>
            <a:prstDash val="solid"/>
          </a:ln>
        </p:spPr>
      </p:sp>
      <p:sp>
        <p:nvSpPr>
          <p:cNvPr id="23" name="heat-184"/>
          <p:cNvSpPr/>
          <p:nvPr/>
        </p:nvSpPr>
        <p:spPr>
          <a:xfrm>
            <a:off x="7670569" y="1465580"/>
            <a:ext cx="236913" cy="254000"/>
          </a:xfrm>
          <a:prstGeom prst="rect">
            <a:avLst/>
          </a:prstGeom>
          <a:solidFill>
            <a:srgbClr val="FCD34D"/>
          </a:solidFill>
          <a:ln w="12700">
            <a:solidFill>
              <a:srgbClr val="FCD34D"/>
            </a:solidFill>
            <a:prstDash val="solid"/>
          </a:ln>
        </p:spPr>
      </p:sp>
      <p:sp>
        <p:nvSpPr>
          <p:cNvPr id="24" name="heat-185"/>
          <p:cNvSpPr/>
          <p:nvPr/>
        </p:nvSpPr>
        <p:spPr>
          <a:xfrm>
            <a:off x="7930342" y="1465580"/>
            <a:ext cx="236913" cy="254000"/>
          </a:xfrm>
          <a:prstGeom prst="rect">
            <a:avLst/>
          </a:prstGeom>
          <a:solidFill>
            <a:srgbClr val="FDE68A"/>
          </a:solidFill>
          <a:ln w="12700">
            <a:solidFill>
              <a:srgbClr val="FDE68A"/>
            </a:solidFill>
            <a:prstDash val="solid"/>
          </a:ln>
        </p:spPr>
      </p:sp>
      <p:sp>
        <p:nvSpPr>
          <p:cNvPr id="25" name="heat-186"/>
          <p:cNvSpPr/>
          <p:nvPr/>
        </p:nvSpPr>
        <p:spPr>
          <a:xfrm>
            <a:off x="8190115" y="1465580"/>
            <a:ext cx="236913" cy="254000"/>
          </a:xfrm>
          <a:prstGeom prst="rect">
            <a:avLst/>
          </a:prstGeom>
          <a:solidFill>
            <a:srgbClr val="FDE68A"/>
          </a:solidFill>
          <a:ln w="12700">
            <a:solidFill>
              <a:srgbClr val="FDE68A"/>
            </a:solidFill>
            <a:prstDash val="solid"/>
          </a:ln>
        </p:spPr>
      </p:sp>
      <p:sp>
        <p:nvSpPr>
          <p:cNvPr id="26" name="heat-187"/>
          <p:cNvSpPr/>
          <p:nvPr/>
        </p:nvSpPr>
        <p:spPr>
          <a:xfrm>
            <a:off x="8449887" y="1465580"/>
            <a:ext cx="236913" cy="254000"/>
          </a:xfrm>
          <a:prstGeom prst="rect">
            <a:avLst/>
          </a:prstGeom>
          <a:solidFill>
            <a:srgbClr val="FEF3C7"/>
          </a:solidFill>
          <a:ln w="12700">
            <a:solidFill>
              <a:srgbClr val="FEF3C7"/>
            </a:solidFill>
            <a:prstDash val="solid"/>
          </a:ln>
        </p:spPr>
      </p:sp>
      <p:sp>
        <p:nvSpPr>
          <p:cNvPr id="27" name="heat-188"/>
          <p:cNvSpPr/>
          <p:nvPr/>
        </p:nvSpPr>
        <p:spPr>
          <a:xfrm>
            <a:off x="5852160" y="1742440"/>
            <a:ext cx="236913" cy="254000"/>
          </a:xfrm>
          <a:prstGeom prst="rect">
            <a:avLst/>
          </a:prstGeom>
          <a:solidFill>
            <a:srgbClr val="FCD34D"/>
          </a:solidFill>
          <a:ln w="12700">
            <a:solidFill>
              <a:srgbClr val="FCD34D"/>
            </a:solidFill>
            <a:prstDash val="solid"/>
          </a:ln>
        </p:spPr>
      </p:sp>
      <p:sp>
        <p:nvSpPr>
          <p:cNvPr id="28" name="heat-189"/>
          <p:cNvSpPr/>
          <p:nvPr/>
        </p:nvSpPr>
        <p:spPr>
          <a:xfrm>
            <a:off x="6111933" y="1742440"/>
            <a:ext cx="236913" cy="254000"/>
          </a:xfrm>
          <a:prstGeom prst="rect">
            <a:avLst/>
          </a:prstGeom>
          <a:solidFill>
            <a:srgbClr val="F97316"/>
          </a:solidFill>
          <a:ln w="12700">
            <a:solidFill>
              <a:srgbClr val="F97316"/>
            </a:solidFill>
            <a:prstDash val="solid"/>
          </a:ln>
        </p:spPr>
      </p:sp>
      <p:sp>
        <p:nvSpPr>
          <p:cNvPr id="29" name="heat-190"/>
          <p:cNvSpPr/>
          <p:nvPr/>
        </p:nvSpPr>
        <p:spPr>
          <a:xfrm>
            <a:off x="6371705" y="1742440"/>
            <a:ext cx="236913" cy="254000"/>
          </a:xfrm>
          <a:prstGeom prst="rect">
            <a:avLst/>
          </a:prstGeom>
          <a:solidFill>
            <a:srgbClr val="B91C1C"/>
          </a:solidFill>
          <a:ln w="12700">
            <a:solidFill>
              <a:srgbClr val="B91C1C"/>
            </a:solidFill>
            <a:prstDash val="solid"/>
          </a:ln>
        </p:spPr>
      </p:sp>
      <p:sp>
        <p:nvSpPr>
          <p:cNvPr id="30" name="heat-191"/>
          <p:cNvSpPr/>
          <p:nvPr/>
        </p:nvSpPr>
        <p:spPr>
          <a:xfrm>
            <a:off x="6631478" y="1742440"/>
            <a:ext cx="236913" cy="254000"/>
          </a:xfrm>
          <a:prstGeom prst="rect">
            <a:avLst/>
          </a:prstGeom>
          <a:solidFill>
            <a:srgbClr val="B91C1C"/>
          </a:solidFill>
          <a:ln w="12700">
            <a:solidFill>
              <a:srgbClr val="B91C1C"/>
            </a:solidFill>
            <a:prstDash val="solid"/>
          </a:ln>
        </p:spPr>
      </p:sp>
      <p:sp>
        <p:nvSpPr>
          <p:cNvPr id="31" name="heat-192"/>
          <p:cNvSpPr/>
          <p:nvPr/>
        </p:nvSpPr>
        <p:spPr>
          <a:xfrm>
            <a:off x="6891251" y="1742440"/>
            <a:ext cx="236913" cy="254000"/>
          </a:xfrm>
          <a:prstGeom prst="rect">
            <a:avLst/>
          </a:prstGeom>
          <a:solidFill>
            <a:srgbClr val="EF4444"/>
          </a:solidFill>
          <a:ln w="12700">
            <a:solidFill>
              <a:srgbClr val="EF4444"/>
            </a:solidFill>
            <a:prstDash val="solid"/>
          </a:ln>
        </p:spPr>
      </p:sp>
      <p:sp>
        <p:nvSpPr>
          <p:cNvPr id="32" name="heat-193"/>
          <p:cNvSpPr/>
          <p:nvPr/>
        </p:nvSpPr>
        <p:spPr>
          <a:xfrm>
            <a:off x="7151024" y="1742440"/>
            <a:ext cx="236913" cy="254000"/>
          </a:xfrm>
          <a:prstGeom prst="rect">
            <a:avLst/>
          </a:prstGeom>
          <a:solidFill>
            <a:srgbClr val="F97316"/>
          </a:solidFill>
          <a:ln w="12700">
            <a:solidFill>
              <a:srgbClr val="F97316"/>
            </a:solidFill>
            <a:prstDash val="solid"/>
          </a:ln>
        </p:spPr>
      </p:sp>
      <p:sp>
        <p:nvSpPr>
          <p:cNvPr id="33" name="heat-194"/>
          <p:cNvSpPr/>
          <p:nvPr/>
        </p:nvSpPr>
        <p:spPr>
          <a:xfrm>
            <a:off x="7410796" y="1742440"/>
            <a:ext cx="236913" cy="254000"/>
          </a:xfrm>
          <a:prstGeom prst="rect">
            <a:avLst/>
          </a:prstGeom>
          <a:solidFill>
            <a:srgbClr val="FBBF24"/>
          </a:solidFill>
          <a:ln w="12700">
            <a:solidFill>
              <a:srgbClr val="FBBF24"/>
            </a:solidFill>
            <a:prstDash val="solid"/>
          </a:ln>
        </p:spPr>
      </p:sp>
      <p:sp>
        <p:nvSpPr>
          <p:cNvPr id="34" name="heat-195"/>
          <p:cNvSpPr/>
          <p:nvPr/>
        </p:nvSpPr>
        <p:spPr>
          <a:xfrm>
            <a:off x="7670569" y="1742440"/>
            <a:ext cx="236913" cy="254000"/>
          </a:xfrm>
          <a:prstGeom prst="rect">
            <a:avLst/>
          </a:prstGeom>
          <a:solidFill>
            <a:srgbClr val="FBBF24"/>
          </a:solidFill>
          <a:ln w="12700">
            <a:solidFill>
              <a:srgbClr val="FBBF24"/>
            </a:solidFill>
            <a:prstDash val="solid"/>
          </a:ln>
        </p:spPr>
      </p:sp>
      <p:sp>
        <p:nvSpPr>
          <p:cNvPr id="35" name="heat-196"/>
          <p:cNvSpPr/>
          <p:nvPr/>
        </p:nvSpPr>
        <p:spPr>
          <a:xfrm>
            <a:off x="7930342" y="1742440"/>
            <a:ext cx="236913" cy="254000"/>
          </a:xfrm>
          <a:prstGeom prst="rect">
            <a:avLst/>
          </a:prstGeom>
          <a:solidFill>
            <a:srgbClr val="FCD34D"/>
          </a:solidFill>
          <a:ln w="12700">
            <a:solidFill>
              <a:srgbClr val="FCD34D"/>
            </a:solidFill>
            <a:prstDash val="solid"/>
          </a:ln>
        </p:spPr>
      </p:sp>
      <p:sp>
        <p:nvSpPr>
          <p:cNvPr id="36" name="heat-197"/>
          <p:cNvSpPr/>
          <p:nvPr/>
        </p:nvSpPr>
        <p:spPr>
          <a:xfrm>
            <a:off x="8190115" y="1742440"/>
            <a:ext cx="236913" cy="254000"/>
          </a:xfrm>
          <a:prstGeom prst="rect">
            <a:avLst/>
          </a:prstGeom>
          <a:solidFill>
            <a:srgbClr val="FDE68A"/>
          </a:solidFill>
          <a:ln w="12700">
            <a:solidFill>
              <a:srgbClr val="FDE68A"/>
            </a:solidFill>
            <a:prstDash val="solid"/>
          </a:ln>
        </p:spPr>
      </p:sp>
      <p:sp>
        <p:nvSpPr>
          <p:cNvPr id="37" name="heat-198"/>
          <p:cNvSpPr/>
          <p:nvPr/>
        </p:nvSpPr>
        <p:spPr>
          <a:xfrm>
            <a:off x="8449887" y="1742440"/>
            <a:ext cx="236913" cy="254000"/>
          </a:xfrm>
          <a:prstGeom prst="rect">
            <a:avLst/>
          </a:prstGeom>
          <a:solidFill>
            <a:srgbClr val="FDE68A"/>
          </a:solidFill>
          <a:ln w="12700">
            <a:solidFill>
              <a:srgbClr val="FDE68A"/>
            </a:solidFill>
            <a:prstDash val="solid"/>
          </a:ln>
        </p:spPr>
      </p:sp>
      <p:sp>
        <p:nvSpPr>
          <p:cNvPr id="38" name="heat-199"/>
          <p:cNvSpPr/>
          <p:nvPr/>
        </p:nvSpPr>
        <p:spPr>
          <a:xfrm>
            <a:off x="5852160" y="2019300"/>
            <a:ext cx="236913" cy="254000"/>
          </a:xfrm>
          <a:prstGeom prst="rect">
            <a:avLst/>
          </a:prstGeom>
          <a:solidFill>
            <a:srgbClr val="FCD34D"/>
          </a:solidFill>
          <a:ln w="12700">
            <a:solidFill>
              <a:srgbClr val="FCD34D"/>
            </a:solidFill>
            <a:prstDash val="solid"/>
          </a:ln>
        </p:spPr>
      </p:sp>
      <p:sp>
        <p:nvSpPr>
          <p:cNvPr id="39" name="heat-200"/>
          <p:cNvSpPr/>
          <p:nvPr/>
        </p:nvSpPr>
        <p:spPr>
          <a:xfrm>
            <a:off x="6111933" y="2019300"/>
            <a:ext cx="236913" cy="254000"/>
          </a:xfrm>
          <a:prstGeom prst="rect">
            <a:avLst/>
          </a:prstGeom>
          <a:solidFill>
            <a:srgbClr val="FBBF24"/>
          </a:solidFill>
          <a:ln w="12700">
            <a:solidFill>
              <a:srgbClr val="FBBF24"/>
            </a:solidFill>
            <a:prstDash val="solid"/>
          </a:ln>
        </p:spPr>
      </p:sp>
      <p:sp>
        <p:nvSpPr>
          <p:cNvPr id="40" name="heat-201"/>
          <p:cNvSpPr/>
          <p:nvPr/>
        </p:nvSpPr>
        <p:spPr>
          <a:xfrm>
            <a:off x="6371705" y="2019300"/>
            <a:ext cx="236913" cy="254000"/>
          </a:xfrm>
          <a:prstGeom prst="rect">
            <a:avLst/>
          </a:prstGeom>
          <a:solidFill>
            <a:srgbClr val="EF4444"/>
          </a:solidFill>
          <a:ln w="12700">
            <a:solidFill>
              <a:srgbClr val="EF4444"/>
            </a:solidFill>
            <a:prstDash val="solid"/>
          </a:ln>
        </p:spPr>
      </p:sp>
      <p:sp>
        <p:nvSpPr>
          <p:cNvPr id="41" name="heat-202"/>
          <p:cNvSpPr/>
          <p:nvPr/>
        </p:nvSpPr>
        <p:spPr>
          <a:xfrm>
            <a:off x="6631478" y="2019300"/>
            <a:ext cx="236913" cy="254000"/>
          </a:xfrm>
          <a:prstGeom prst="rect">
            <a:avLst/>
          </a:prstGeom>
          <a:solidFill>
            <a:srgbClr val="B91C1C"/>
          </a:solidFill>
          <a:ln w="12700">
            <a:solidFill>
              <a:srgbClr val="B91C1C"/>
            </a:solidFill>
            <a:prstDash val="solid"/>
          </a:ln>
        </p:spPr>
      </p:sp>
      <p:sp>
        <p:nvSpPr>
          <p:cNvPr id="42" name="heat-203"/>
          <p:cNvSpPr/>
          <p:nvPr/>
        </p:nvSpPr>
        <p:spPr>
          <a:xfrm>
            <a:off x="6891251" y="2019300"/>
            <a:ext cx="236913" cy="254000"/>
          </a:xfrm>
          <a:prstGeom prst="rect">
            <a:avLst/>
          </a:prstGeom>
          <a:solidFill>
            <a:srgbClr val="EF4444"/>
          </a:solidFill>
          <a:ln w="12700">
            <a:solidFill>
              <a:srgbClr val="EF4444"/>
            </a:solidFill>
            <a:prstDash val="solid"/>
          </a:ln>
        </p:spPr>
      </p:sp>
      <p:sp>
        <p:nvSpPr>
          <p:cNvPr id="43" name="heat-204"/>
          <p:cNvSpPr/>
          <p:nvPr/>
        </p:nvSpPr>
        <p:spPr>
          <a:xfrm>
            <a:off x="7151024" y="2019300"/>
            <a:ext cx="236913" cy="254000"/>
          </a:xfrm>
          <a:prstGeom prst="rect">
            <a:avLst/>
          </a:prstGeom>
          <a:solidFill>
            <a:srgbClr val="FBBF24"/>
          </a:solidFill>
          <a:ln w="12700">
            <a:solidFill>
              <a:srgbClr val="FBBF24"/>
            </a:solidFill>
            <a:prstDash val="solid"/>
          </a:ln>
        </p:spPr>
      </p:sp>
      <p:sp>
        <p:nvSpPr>
          <p:cNvPr id="44" name="heat-205"/>
          <p:cNvSpPr/>
          <p:nvPr/>
        </p:nvSpPr>
        <p:spPr>
          <a:xfrm>
            <a:off x="7410796" y="2019300"/>
            <a:ext cx="236913" cy="254000"/>
          </a:xfrm>
          <a:prstGeom prst="rect">
            <a:avLst/>
          </a:prstGeom>
          <a:solidFill>
            <a:srgbClr val="FBBF24"/>
          </a:solidFill>
          <a:ln w="12700">
            <a:solidFill>
              <a:srgbClr val="FBBF24"/>
            </a:solidFill>
            <a:prstDash val="solid"/>
          </a:ln>
        </p:spPr>
      </p:sp>
      <p:sp>
        <p:nvSpPr>
          <p:cNvPr id="45" name="heat-206"/>
          <p:cNvSpPr/>
          <p:nvPr/>
        </p:nvSpPr>
        <p:spPr>
          <a:xfrm>
            <a:off x="7670569" y="2019300"/>
            <a:ext cx="236913" cy="254000"/>
          </a:xfrm>
          <a:prstGeom prst="rect">
            <a:avLst/>
          </a:prstGeom>
          <a:solidFill>
            <a:srgbClr val="FBBF24"/>
          </a:solidFill>
          <a:ln w="12700">
            <a:solidFill>
              <a:srgbClr val="FBBF24"/>
            </a:solidFill>
            <a:prstDash val="solid"/>
          </a:ln>
        </p:spPr>
      </p:sp>
      <p:sp>
        <p:nvSpPr>
          <p:cNvPr id="46" name="heat-207"/>
          <p:cNvSpPr/>
          <p:nvPr/>
        </p:nvSpPr>
        <p:spPr>
          <a:xfrm>
            <a:off x="7930342" y="2019300"/>
            <a:ext cx="236913" cy="254000"/>
          </a:xfrm>
          <a:prstGeom prst="rect">
            <a:avLst/>
          </a:prstGeom>
          <a:solidFill>
            <a:srgbClr val="FBBF24"/>
          </a:solidFill>
          <a:ln w="12700">
            <a:solidFill>
              <a:srgbClr val="FBBF24"/>
            </a:solidFill>
            <a:prstDash val="solid"/>
          </a:ln>
        </p:spPr>
      </p:sp>
      <p:sp>
        <p:nvSpPr>
          <p:cNvPr id="47" name="heat-208"/>
          <p:cNvSpPr/>
          <p:nvPr/>
        </p:nvSpPr>
        <p:spPr>
          <a:xfrm>
            <a:off x="8190115" y="2019300"/>
            <a:ext cx="236913" cy="254000"/>
          </a:xfrm>
          <a:prstGeom prst="rect">
            <a:avLst/>
          </a:prstGeom>
          <a:solidFill>
            <a:srgbClr val="FCD34D"/>
          </a:solidFill>
          <a:ln w="12700">
            <a:solidFill>
              <a:srgbClr val="FCD34D"/>
            </a:solidFill>
            <a:prstDash val="solid"/>
          </a:ln>
        </p:spPr>
      </p:sp>
      <p:sp>
        <p:nvSpPr>
          <p:cNvPr id="48" name="heat-209"/>
          <p:cNvSpPr/>
          <p:nvPr/>
        </p:nvSpPr>
        <p:spPr>
          <a:xfrm>
            <a:off x="8449887" y="2019300"/>
            <a:ext cx="236913" cy="254000"/>
          </a:xfrm>
          <a:prstGeom prst="rect">
            <a:avLst/>
          </a:prstGeom>
          <a:solidFill>
            <a:srgbClr val="FDE68A"/>
          </a:solidFill>
          <a:ln w="12700">
            <a:solidFill>
              <a:srgbClr val="FDE68A"/>
            </a:solidFill>
            <a:prstDash val="solid"/>
          </a:ln>
        </p:spPr>
      </p:sp>
      <p:sp>
        <p:nvSpPr>
          <p:cNvPr id="49" name="heat-210"/>
          <p:cNvSpPr/>
          <p:nvPr/>
        </p:nvSpPr>
        <p:spPr>
          <a:xfrm>
            <a:off x="5852160" y="2296160"/>
            <a:ext cx="236913" cy="254000"/>
          </a:xfrm>
          <a:prstGeom prst="rect">
            <a:avLst/>
          </a:prstGeom>
          <a:solidFill>
            <a:srgbClr val="FCD34D"/>
          </a:solidFill>
          <a:ln w="12700">
            <a:solidFill>
              <a:srgbClr val="FCD34D"/>
            </a:solidFill>
            <a:prstDash val="solid"/>
          </a:ln>
        </p:spPr>
      </p:sp>
      <p:sp>
        <p:nvSpPr>
          <p:cNvPr id="50" name="heat-211"/>
          <p:cNvSpPr/>
          <p:nvPr/>
        </p:nvSpPr>
        <p:spPr>
          <a:xfrm>
            <a:off x="6111933" y="2296160"/>
            <a:ext cx="236913" cy="254000"/>
          </a:xfrm>
          <a:prstGeom prst="rect">
            <a:avLst/>
          </a:prstGeom>
          <a:solidFill>
            <a:srgbClr val="FBBF24"/>
          </a:solidFill>
          <a:ln w="12700">
            <a:solidFill>
              <a:srgbClr val="FBBF24"/>
            </a:solidFill>
            <a:prstDash val="solid"/>
          </a:ln>
        </p:spPr>
      </p:sp>
      <p:sp>
        <p:nvSpPr>
          <p:cNvPr id="51" name="heat-212"/>
          <p:cNvSpPr/>
          <p:nvPr/>
        </p:nvSpPr>
        <p:spPr>
          <a:xfrm>
            <a:off x="6371705" y="2296160"/>
            <a:ext cx="236913" cy="254000"/>
          </a:xfrm>
          <a:prstGeom prst="rect">
            <a:avLst/>
          </a:prstGeom>
          <a:solidFill>
            <a:srgbClr val="FBBF24"/>
          </a:solidFill>
          <a:ln w="12700">
            <a:solidFill>
              <a:srgbClr val="FBBF24"/>
            </a:solidFill>
            <a:prstDash val="solid"/>
          </a:ln>
        </p:spPr>
      </p:sp>
      <p:sp>
        <p:nvSpPr>
          <p:cNvPr id="52" name="heat-213"/>
          <p:cNvSpPr/>
          <p:nvPr/>
        </p:nvSpPr>
        <p:spPr>
          <a:xfrm>
            <a:off x="6631478" y="2296160"/>
            <a:ext cx="236913" cy="254000"/>
          </a:xfrm>
          <a:prstGeom prst="rect">
            <a:avLst/>
          </a:prstGeom>
          <a:solidFill>
            <a:srgbClr val="F97316"/>
          </a:solidFill>
          <a:ln w="12700">
            <a:solidFill>
              <a:srgbClr val="F97316"/>
            </a:solidFill>
            <a:prstDash val="solid"/>
          </a:ln>
        </p:spPr>
      </p:sp>
      <p:sp>
        <p:nvSpPr>
          <p:cNvPr id="53" name="heat-214"/>
          <p:cNvSpPr/>
          <p:nvPr/>
        </p:nvSpPr>
        <p:spPr>
          <a:xfrm>
            <a:off x="6891251" y="2296160"/>
            <a:ext cx="236913" cy="254000"/>
          </a:xfrm>
          <a:prstGeom prst="rect">
            <a:avLst/>
          </a:prstGeom>
          <a:solidFill>
            <a:srgbClr val="F97316"/>
          </a:solidFill>
          <a:ln w="12700">
            <a:solidFill>
              <a:srgbClr val="F97316"/>
            </a:solidFill>
            <a:prstDash val="solid"/>
          </a:ln>
        </p:spPr>
      </p:sp>
      <p:sp>
        <p:nvSpPr>
          <p:cNvPr id="54" name="heat-215"/>
          <p:cNvSpPr/>
          <p:nvPr/>
        </p:nvSpPr>
        <p:spPr>
          <a:xfrm>
            <a:off x="7151024" y="2296160"/>
            <a:ext cx="236913" cy="254000"/>
          </a:xfrm>
          <a:prstGeom prst="rect">
            <a:avLst/>
          </a:prstGeom>
          <a:solidFill>
            <a:srgbClr val="FBBF24"/>
          </a:solidFill>
          <a:ln w="12700">
            <a:solidFill>
              <a:srgbClr val="FBBF24"/>
            </a:solidFill>
            <a:prstDash val="solid"/>
          </a:ln>
        </p:spPr>
      </p:sp>
      <p:sp>
        <p:nvSpPr>
          <p:cNvPr id="55" name="heat-216"/>
          <p:cNvSpPr/>
          <p:nvPr/>
        </p:nvSpPr>
        <p:spPr>
          <a:xfrm>
            <a:off x="7410796" y="2296160"/>
            <a:ext cx="236913" cy="254000"/>
          </a:xfrm>
          <a:prstGeom prst="rect">
            <a:avLst/>
          </a:prstGeom>
          <a:solidFill>
            <a:srgbClr val="FBBF24"/>
          </a:solidFill>
          <a:ln w="12700">
            <a:solidFill>
              <a:srgbClr val="FBBF24"/>
            </a:solidFill>
            <a:prstDash val="solid"/>
          </a:ln>
        </p:spPr>
      </p:sp>
      <p:sp>
        <p:nvSpPr>
          <p:cNvPr id="56" name="heat-217"/>
          <p:cNvSpPr/>
          <p:nvPr/>
        </p:nvSpPr>
        <p:spPr>
          <a:xfrm>
            <a:off x="7670569" y="2296160"/>
            <a:ext cx="236913" cy="254000"/>
          </a:xfrm>
          <a:prstGeom prst="rect">
            <a:avLst/>
          </a:prstGeom>
          <a:solidFill>
            <a:srgbClr val="FBBF24"/>
          </a:solidFill>
          <a:ln w="12700">
            <a:solidFill>
              <a:srgbClr val="FBBF24"/>
            </a:solidFill>
            <a:prstDash val="solid"/>
          </a:ln>
        </p:spPr>
      </p:sp>
      <p:sp>
        <p:nvSpPr>
          <p:cNvPr id="57" name="heat-218"/>
          <p:cNvSpPr/>
          <p:nvPr/>
        </p:nvSpPr>
        <p:spPr>
          <a:xfrm>
            <a:off x="7930342" y="2296160"/>
            <a:ext cx="236913" cy="254000"/>
          </a:xfrm>
          <a:prstGeom prst="rect">
            <a:avLst/>
          </a:prstGeom>
          <a:solidFill>
            <a:srgbClr val="FBBF24"/>
          </a:solidFill>
          <a:ln w="12700">
            <a:solidFill>
              <a:srgbClr val="FBBF24"/>
            </a:solidFill>
            <a:prstDash val="solid"/>
          </a:ln>
        </p:spPr>
      </p:sp>
      <p:sp>
        <p:nvSpPr>
          <p:cNvPr id="58" name="heat-219"/>
          <p:cNvSpPr/>
          <p:nvPr/>
        </p:nvSpPr>
        <p:spPr>
          <a:xfrm>
            <a:off x="8190115" y="2296160"/>
            <a:ext cx="236913" cy="254000"/>
          </a:xfrm>
          <a:prstGeom prst="rect">
            <a:avLst/>
          </a:prstGeom>
          <a:solidFill>
            <a:srgbClr val="FBBF24"/>
          </a:solidFill>
          <a:ln w="12700">
            <a:solidFill>
              <a:srgbClr val="FBBF24"/>
            </a:solidFill>
            <a:prstDash val="solid"/>
          </a:ln>
        </p:spPr>
      </p:sp>
      <p:sp>
        <p:nvSpPr>
          <p:cNvPr id="59" name="heat-220"/>
          <p:cNvSpPr/>
          <p:nvPr/>
        </p:nvSpPr>
        <p:spPr>
          <a:xfrm>
            <a:off x="8449887" y="2296160"/>
            <a:ext cx="236913" cy="254000"/>
          </a:xfrm>
          <a:prstGeom prst="rect">
            <a:avLst/>
          </a:prstGeom>
          <a:solidFill>
            <a:srgbClr val="FCD34D"/>
          </a:solidFill>
          <a:ln w="12700">
            <a:solidFill>
              <a:srgbClr val="FCD34D"/>
            </a:solidFill>
            <a:prstDash val="solid"/>
          </a:ln>
        </p:spPr>
      </p:sp>
      <p:sp>
        <p:nvSpPr>
          <p:cNvPr id="60" name="heat-221"/>
          <p:cNvSpPr/>
          <p:nvPr/>
        </p:nvSpPr>
        <p:spPr>
          <a:xfrm>
            <a:off x="5852160" y="2573020"/>
            <a:ext cx="236913" cy="254000"/>
          </a:xfrm>
          <a:prstGeom prst="rect">
            <a:avLst/>
          </a:prstGeom>
          <a:solidFill>
            <a:srgbClr val="FCD34D"/>
          </a:solidFill>
          <a:ln w="12700">
            <a:solidFill>
              <a:srgbClr val="FCD34D"/>
            </a:solidFill>
            <a:prstDash val="solid"/>
          </a:ln>
        </p:spPr>
      </p:sp>
      <p:sp>
        <p:nvSpPr>
          <p:cNvPr id="61" name="heat-222"/>
          <p:cNvSpPr/>
          <p:nvPr/>
        </p:nvSpPr>
        <p:spPr>
          <a:xfrm>
            <a:off x="6111933" y="2573020"/>
            <a:ext cx="236913" cy="254000"/>
          </a:xfrm>
          <a:prstGeom prst="rect">
            <a:avLst/>
          </a:prstGeom>
          <a:solidFill>
            <a:srgbClr val="FCD34D"/>
          </a:solidFill>
          <a:ln w="12700">
            <a:solidFill>
              <a:srgbClr val="FCD34D"/>
            </a:solidFill>
            <a:prstDash val="solid"/>
          </a:ln>
        </p:spPr>
      </p:sp>
      <p:sp>
        <p:nvSpPr>
          <p:cNvPr id="62" name="heat-223"/>
          <p:cNvSpPr/>
          <p:nvPr/>
        </p:nvSpPr>
        <p:spPr>
          <a:xfrm>
            <a:off x="6371705" y="2573020"/>
            <a:ext cx="236913" cy="254000"/>
          </a:xfrm>
          <a:prstGeom prst="rect">
            <a:avLst/>
          </a:prstGeom>
          <a:solidFill>
            <a:srgbClr val="FCD34D"/>
          </a:solidFill>
          <a:ln w="12700">
            <a:solidFill>
              <a:srgbClr val="FCD34D"/>
            </a:solidFill>
            <a:prstDash val="solid"/>
          </a:ln>
        </p:spPr>
      </p:sp>
      <p:sp>
        <p:nvSpPr>
          <p:cNvPr id="63" name="heat-224"/>
          <p:cNvSpPr/>
          <p:nvPr/>
        </p:nvSpPr>
        <p:spPr>
          <a:xfrm>
            <a:off x="6631478" y="2573020"/>
            <a:ext cx="236913" cy="254000"/>
          </a:xfrm>
          <a:prstGeom prst="rect">
            <a:avLst/>
          </a:prstGeom>
          <a:solidFill>
            <a:srgbClr val="FCD34D"/>
          </a:solidFill>
          <a:ln w="12700">
            <a:solidFill>
              <a:srgbClr val="FCD34D"/>
            </a:solidFill>
            <a:prstDash val="solid"/>
          </a:ln>
        </p:spPr>
      </p:sp>
      <p:sp>
        <p:nvSpPr>
          <p:cNvPr id="64" name="heat-225"/>
          <p:cNvSpPr/>
          <p:nvPr/>
        </p:nvSpPr>
        <p:spPr>
          <a:xfrm>
            <a:off x="6891251" y="2573020"/>
            <a:ext cx="236913" cy="254000"/>
          </a:xfrm>
          <a:prstGeom prst="rect">
            <a:avLst/>
          </a:prstGeom>
          <a:solidFill>
            <a:srgbClr val="FCD34D"/>
          </a:solidFill>
          <a:ln w="12700">
            <a:solidFill>
              <a:srgbClr val="FCD34D"/>
            </a:solidFill>
            <a:prstDash val="solid"/>
          </a:ln>
        </p:spPr>
      </p:sp>
      <p:sp>
        <p:nvSpPr>
          <p:cNvPr id="65" name="heat-226"/>
          <p:cNvSpPr/>
          <p:nvPr/>
        </p:nvSpPr>
        <p:spPr>
          <a:xfrm>
            <a:off x="7151024" y="2573020"/>
            <a:ext cx="236913" cy="254000"/>
          </a:xfrm>
          <a:prstGeom prst="rect">
            <a:avLst/>
          </a:prstGeom>
          <a:solidFill>
            <a:srgbClr val="FCD34D"/>
          </a:solidFill>
          <a:ln w="12700">
            <a:solidFill>
              <a:srgbClr val="FCD34D"/>
            </a:solidFill>
            <a:prstDash val="solid"/>
          </a:ln>
        </p:spPr>
      </p:sp>
      <p:sp>
        <p:nvSpPr>
          <p:cNvPr id="66" name="heat-227"/>
          <p:cNvSpPr/>
          <p:nvPr/>
        </p:nvSpPr>
        <p:spPr>
          <a:xfrm>
            <a:off x="7410796" y="2573020"/>
            <a:ext cx="236913" cy="254000"/>
          </a:xfrm>
          <a:prstGeom prst="rect">
            <a:avLst/>
          </a:prstGeom>
          <a:solidFill>
            <a:srgbClr val="FBBF24"/>
          </a:solidFill>
          <a:ln w="12700">
            <a:solidFill>
              <a:srgbClr val="FBBF24"/>
            </a:solidFill>
            <a:prstDash val="solid"/>
          </a:ln>
        </p:spPr>
      </p:sp>
      <p:sp>
        <p:nvSpPr>
          <p:cNvPr id="67" name="heat-228"/>
          <p:cNvSpPr/>
          <p:nvPr/>
        </p:nvSpPr>
        <p:spPr>
          <a:xfrm>
            <a:off x="7670569" y="2573020"/>
            <a:ext cx="236913" cy="254000"/>
          </a:xfrm>
          <a:prstGeom prst="rect">
            <a:avLst/>
          </a:prstGeom>
          <a:solidFill>
            <a:srgbClr val="F97316"/>
          </a:solidFill>
          <a:ln w="12700">
            <a:solidFill>
              <a:srgbClr val="F97316"/>
            </a:solidFill>
            <a:prstDash val="solid"/>
          </a:ln>
        </p:spPr>
      </p:sp>
      <p:sp>
        <p:nvSpPr>
          <p:cNvPr id="68" name="heat-229"/>
          <p:cNvSpPr/>
          <p:nvPr/>
        </p:nvSpPr>
        <p:spPr>
          <a:xfrm>
            <a:off x="7930342" y="2573020"/>
            <a:ext cx="236913" cy="254000"/>
          </a:xfrm>
          <a:prstGeom prst="rect">
            <a:avLst/>
          </a:prstGeom>
          <a:solidFill>
            <a:srgbClr val="F97316"/>
          </a:solidFill>
          <a:ln w="12700">
            <a:solidFill>
              <a:srgbClr val="F97316"/>
            </a:solidFill>
            <a:prstDash val="solid"/>
          </a:ln>
        </p:spPr>
      </p:sp>
      <p:sp>
        <p:nvSpPr>
          <p:cNvPr id="69" name="heat-230"/>
          <p:cNvSpPr/>
          <p:nvPr/>
        </p:nvSpPr>
        <p:spPr>
          <a:xfrm>
            <a:off x="8190115" y="2573020"/>
            <a:ext cx="236913" cy="254000"/>
          </a:xfrm>
          <a:prstGeom prst="rect">
            <a:avLst/>
          </a:prstGeom>
          <a:solidFill>
            <a:srgbClr val="F97316"/>
          </a:solidFill>
          <a:ln w="12700">
            <a:solidFill>
              <a:srgbClr val="F97316"/>
            </a:solidFill>
            <a:prstDash val="solid"/>
          </a:ln>
        </p:spPr>
      </p:sp>
      <p:sp>
        <p:nvSpPr>
          <p:cNvPr id="70" name="heat-231"/>
          <p:cNvSpPr/>
          <p:nvPr/>
        </p:nvSpPr>
        <p:spPr>
          <a:xfrm>
            <a:off x="8449887" y="2573020"/>
            <a:ext cx="236913" cy="254000"/>
          </a:xfrm>
          <a:prstGeom prst="rect">
            <a:avLst/>
          </a:prstGeom>
          <a:solidFill>
            <a:srgbClr val="FBBF24"/>
          </a:solidFill>
          <a:ln w="12700">
            <a:solidFill>
              <a:srgbClr val="FBBF24"/>
            </a:solidFill>
            <a:prstDash val="solid"/>
          </a:ln>
        </p:spPr>
      </p:sp>
      <p:sp>
        <p:nvSpPr>
          <p:cNvPr id="71" name="heat-232"/>
          <p:cNvSpPr/>
          <p:nvPr/>
        </p:nvSpPr>
        <p:spPr>
          <a:xfrm>
            <a:off x="5852160" y="2849880"/>
            <a:ext cx="236913" cy="254000"/>
          </a:xfrm>
          <a:prstGeom prst="rect">
            <a:avLst/>
          </a:prstGeom>
          <a:solidFill>
            <a:srgbClr val="FEF3C7"/>
          </a:solidFill>
          <a:ln w="12700">
            <a:solidFill>
              <a:srgbClr val="FEF3C7"/>
            </a:solidFill>
            <a:prstDash val="solid"/>
          </a:ln>
        </p:spPr>
      </p:sp>
      <p:sp>
        <p:nvSpPr>
          <p:cNvPr id="72" name="heat-233"/>
          <p:cNvSpPr/>
          <p:nvPr/>
        </p:nvSpPr>
        <p:spPr>
          <a:xfrm>
            <a:off x="6111933" y="2849880"/>
            <a:ext cx="236913" cy="254000"/>
          </a:xfrm>
          <a:prstGeom prst="rect">
            <a:avLst/>
          </a:prstGeom>
          <a:solidFill>
            <a:srgbClr val="FDE68A"/>
          </a:solidFill>
          <a:ln w="12700">
            <a:solidFill>
              <a:srgbClr val="FDE68A"/>
            </a:solidFill>
            <a:prstDash val="solid"/>
          </a:ln>
        </p:spPr>
      </p:sp>
      <p:sp>
        <p:nvSpPr>
          <p:cNvPr id="73" name="heat-234"/>
          <p:cNvSpPr/>
          <p:nvPr/>
        </p:nvSpPr>
        <p:spPr>
          <a:xfrm>
            <a:off x="6371705" y="2849880"/>
            <a:ext cx="236913" cy="254000"/>
          </a:xfrm>
          <a:prstGeom prst="rect">
            <a:avLst/>
          </a:prstGeom>
          <a:solidFill>
            <a:srgbClr val="FDE68A"/>
          </a:solidFill>
          <a:ln w="12700">
            <a:solidFill>
              <a:srgbClr val="FDE68A"/>
            </a:solidFill>
            <a:prstDash val="solid"/>
          </a:ln>
        </p:spPr>
      </p:sp>
      <p:sp>
        <p:nvSpPr>
          <p:cNvPr id="74" name="heat-235"/>
          <p:cNvSpPr/>
          <p:nvPr/>
        </p:nvSpPr>
        <p:spPr>
          <a:xfrm>
            <a:off x="6631478" y="2849880"/>
            <a:ext cx="236913" cy="254000"/>
          </a:xfrm>
          <a:prstGeom prst="rect">
            <a:avLst/>
          </a:prstGeom>
          <a:solidFill>
            <a:srgbClr val="FDE68A"/>
          </a:solidFill>
          <a:ln w="12700">
            <a:solidFill>
              <a:srgbClr val="FDE68A"/>
            </a:solidFill>
            <a:prstDash val="solid"/>
          </a:ln>
        </p:spPr>
      </p:sp>
      <p:sp>
        <p:nvSpPr>
          <p:cNvPr id="75" name="heat-236"/>
          <p:cNvSpPr/>
          <p:nvPr/>
        </p:nvSpPr>
        <p:spPr>
          <a:xfrm>
            <a:off x="6891251" y="2849880"/>
            <a:ext cx="236913" cy="254000"/>
          </a:xfrm>
          <a:prstGeom prst="rect">
            <a:avLst/>
          </a:prstGeom>
          <a:solidFill>
            <a:srgbClr val="FDE68A"/>
          </a:solidFill>
          <a:ln w="12700">
            <a:solidFill>
              <a:srgbClr val="FDE68A"/>
            </a:solidFill>
            <a:prstDash val="solid"/>
          </a:ln>
        </p:spPr>
      </p:sp>
      <p:sp>
        <p:nvSpPr>
          <p:cNvPr id="76" name="heat-237"/>
          <p:cNvSpPr/>
          <p:nvPr/>
        </p:nvSpPr>
        <p:spPr>
          <a:xfrm>
            <a:off x="7151024" y="2849880"/>
            <a:ext cx="236913" cy="254000"/>
          </a:xfrm>
          <a:prstGeom prst="rect">
            <a:avLst/>
          </a:prstGeom>
          <a:solidFill>
            <a:srgbClr val="FCD34D"/>
          </a:solidFill>
          <a:ln w="12700">
            <a:solidFill>
              <a:srgbClr val="FCD34D"/>
            </a:solidFill>
            <a:prstDash val="solid"/>
          </a:ln>
        </p:spPr>
      </p:sp>
      <p:sp>
        <p:nvSpPr>
          <p:cNvPr id="77" name="heat-238"/>
          <p:cNvSpPr/>
          <p:nvPr/>
        </p:nvSpPr>
        <p:spPr>
          <a:xfrm>
            <a:off x="7410796" y="2849880"/>
            <a:ext cx="236913" cy="254000"/>
          </a:xfrm>
          <a:prstGeom prst="rect">
            <a:avLst/>
          </a:prstGeom>
          <a:solidFill>
            <a:srgbClr val="F97316"/>
          </a:solidFill>
          <a:ln w="12700">
            <a:solidFill>
              <a:srgbClr val="F97316"/>
            </a:solidFill>
            <a:prstDash val="solid"/>
          </a:ln>
        </p:spPr>
      </p:sp>
      <p:sp>
        <p:nvSpPr>
          <p:cNvPr id="78" name="heat-239"/>
          <p:cNvSpPr/>
          <p:nvPr/>
        </p:nvSpPr>
        <p:spPr>
          <a:xfrm>
            <a:off x="7670569" y="2849880"/>
            <a:ext cx="236913" cy="254000"/>
          </a:xfrm>
          <a:prstGeom prst="rect">
            <a:avLst/>
          </a:prstGeom>
          <a:solidFill>
            <a:srgbClr val="F97316"/>
          </a:solidFill>
          <a:ln w="12700">
            <a:solidFill>
              <a:srgbClr val="F97316"/>
            </a:solidFill>
            <a:prstDash val="solid"/>
          </a:ln>
        </p:spPr>
      </p:sp>
      <p:sp>
        <p:nvSpPr>
          <p:cNvPr id="79" name="heat-240"/>
          <p:cNvSpPr/>
          <p:nvPr/>
        </p:nvSpPr>
        <p:spPr>
          <a:xfrm>
            <a:off x="7930342" y="2849880"/>
            <a:ext cx="236913" cy="254000"/>
          </a:xfrm>
          <a:prstGeom prst="rect">
            <a:avLst/>
          </a:prstGeom>
          <a:solidFill>
            <a:srgbClr val="EF4444"/>
          </a:solidFill>
          <a:ln w="12700">
            <a:solidFill>
              <a:srgbClr val="EF4444"/>
            </a:solidFill>
            <a:prstDash val="solid"/>
          </a:ln>
        </p:spPr>
      </p:sp>
      <p:sp>
        <p:nvSpPr>
          <p:cNvPr id="80" name="heat-241"/>
          <p:cNvSpPr/>
          <p:nvPr/>
        </p:nvSpPr>
        <p:spPr>
          <a:xfrm>
            <a:off x="8190115" y="2849880"/>
            <a:ext cx="236913" cy="254000"/>
          </a:xfrm>
          <a:prstGeom prst="rect">
            <a:avLst/>
          </a:prstGeom>
          <a:solidFill>
            <a:srgbClr val="F97316"/>
          </a:solidFill>
          <a:ln w="12700">
            <a:solidFill>
              <a:srgbClr val="F97316"/>
            </a:solidFill>
            <a:prstDash val="solid"/>
          </a:ln>
        </p:spPr>
      </p:sp>
      <p:sp>
        <p:nvSpPr>
          <p:cNvPr id="81" name="heat-242"/>
          <p:cNvSpPr/>
          <p:nvPr/>
        </p:nvSpPr>
        <p:spPr>
          <a:xfrm>
            <a:off x="8449887" y="2849880"/>
            <a:ext cx="236913" cy="254000"/>
          </a:xfrm>
          <a:prstGeom prst="rect">
            <a:avLst/>
          </a:prstGeom>
          <a:solidFill>
            <a:srgbClr val="FBBF24"/>
          </a:solidFill>
          <a:ln w="12700">
            <a:solidFill>
              <a:srgbClr val="FBBF24"/>
            </a:solidFill>
            <a:prstDash val="solid"/>
          </a:ln>
        </p:spPr>
      </p:sp>
      <p:sp>
        <p:nvSpPr>
          <p:cNvPr id="82" name="heat-243"/>
          <p:cNvSpPr/>
          <p:nvPr/>
        </p:nvSpPr>
        <p:spPr>
          <a:xfrm>
            <a:off x="5852160" y="3126740"/>
            <a:ext cx="236913" cy="254000"/>
          </a:xfrm>
          <a:prstGeom prst="rect">
            <a:avLst/>
          </a:prstGeom>
          <a:solidFill>
            <a:srgbClr val="FEF3C7"/>
          </a:solidFill>
          <a:ln w="12700">
            <a:solidFill>
              <a:srgbClr val="FEF3C7"/>
            </a:solidFill>
            <a:prstDash val="solid"/>
          </a:ln>
        </p:spPr>
      </p:sp>
      <p:sp>
        <p:nvSpPr>
          <p:cNvPr id="83" name="heat-244"/>
          <p:cNvSpPr/>
          <p:nvPr/>
        </p:nvSpPr>
        <p:spPr>
          <a:xfrm>
            <a:off x="6111933" y="3126740"/>
            <a:ext cx="236913" cy="254000"/>
          </a:xfrm>
          <a:prstGeom prst="rect">
            <a:avLst/>
          </a:prstGeom>
          <a:solidFill>
            <a:srgbClr val="FEF3C7"/>
          </a:solidFill>
          <a:ln w="12700">
            <a:solidFill>
              <a:srgbClr val="FEF3C7"/>
            </a:solidFill>
            <a:prstDash val="solid"/>
          </a:ln>
        </p:spPr>
      </p:sp>
      <p:sp>
        <p:nvSpPr>
          <p:cNvPr id="84" name="heat-245"/>
          <p:cNvSpPr/>
          <p:nvPr/>
        </p:nvSpPr>
        <p:spPr>
          <a:xfrm>
            <a:off x="6371705" y="3126740"/>
            <a:ext cx="236913" cy="254000"/>
          </a:xfrm>
          <a:prstGeom prst="rect">
            <a:avLst/>
          </a:prstGeom>
          <a:solidFill>
            <a:srgbClr val="FDE68A"/>
          </a:solidFill>
          <a:ln w="12700">
            <a:solidFill>
              <a:srgbClr val="FDE68A"/>
            </a:solidFill>
            <a:prstDash val="solid"/>
          </a:ln>
        </p:spPr>
      </p:sp>
      <p:sp>
        <p:nvSpPr>
          <p:cNvPr id="85" name="heat-246"/>
          <p:cNvSpPr/>
          <p:nvPr/>
        </p:nvSpPr>
        <p:spPr>
          <a:xfrm>
            <a:off x="6631478" y="3126740"/>
            <a:ext cx="236913" cy="254000"/>
          </a:xfrm>
          <a:prstGeom prst="rect">
            <a:avLst/>
          </a:prstGeom>
          <a:solidFill>
            <a:srgbClr val="FEF3C7"/>
          </a:solidFill>
          <a:ln w="12700">
            <a:solidFill>
              <a:srgbClr val="FEF3C7"/>
            </a:solidFill>
            <a:prstDash val="solid"/>
          </a:ln>
        </p:spPr>
      </p:sp>
      <p:sp>
        <p:nvSpPr>
          <p:cNvPr id="86" name="heat-247"/>
          <p:cNvSpPr/>
          <p:nvPr/>
        </p:nvSpPr>
        <p:spPr>
          <a:xfrm>
            <a:off x="6891251" y="3126740"/>
            <a:ext cx="236913" cy="254000"/>
          </a:xfrm>
          <a:prstGeom prst="rect">
            <a:avLst/>
          </a:prstGeom>
          <a:solidFill>
            <a:srgbClr val="FDE68A"/>
          </a:solidFill>
          <a:ln w="12700">
            <a:solidFill>
              <a:srgbClr val="FDE68A"/>
            </a:solidFill>
            <a:prstDash val="solid"/>
          </a:ln>
        </p:spPr>
      </p:sp>
      <p:sp>
        <p:nvSpPr>
          <p:cNvPr id="87" name="heat-248"/>
          <p:cNvSpPr/>
          <p:nvPr/>
        </p:nvSpPr>
        <p:spPr>
          <a:xfrm>
            <a:off x="7151024" y="3126740"/>
            <a:ext cx="236913" cy="254000"/>
          </a:xfrm>
          <a:prstGeom prst="rect">
            <a:avLst/>
          </a:prstGeom>
          <a:solidFill>
            <a:srgbClr val="FCD34D"/>
          </a:solidFill>
          <a:ln w="12700">
            <a:solidFill>
              <a:srgbClr val="FCD34D"/>
            </a:solidFill>
            <a:prstDash val="solid"/>
          </a:ln>
        </p:spPr>
      </p:sp>
      <p:sp>
        <p:nvSpPr>
          <p:cNvPr id="88" name="heat-249"/>
          <p:cNvSpPr/>
          <p:nvPr/>
        </p:nvSpPr>
        <p:spPr>
          <a:xfrm>
            <a:off x="7410796" y="3126740"/>
            <a:ext cx="236913" cy="254000"/>
          </a:xfrm>
          <a:prstGeom prst="rect">
            <a:avLst/>
          </a:prstGeom>
          <a:solidFill>
            <a:srgbClr val="FBBF24"/>
          </a:solidFill>
          <a:ln w="12700">
            <a:solidFill>
              <a:srgbClr val="FBBF24"/>
            </a:solidFill>
            <a:prstDash val="solid"/>
          </a:ln>
        </p:spPr>
      </p:sp>
      <p:sp>
        <p:nvSpPr>
          <p:cNvPr id="89" name="heat-250"/>
          <p:cNvSpPr/>
          <p:nvPr/>
        </p:nvSpPr>
        <p:spPr>
          <a:xfrm>
            <a:off x="7670569" y="3126740"/>
            <a:ext cx="236913" cy="254000"/>
          </a:xfrm>
          <a:prstGeom prst="rect">
            <a:avLst/>
          </a:prstGeom>
          <a:solidFill>
            <a:srgbClr val="EF4444"/>
          </a:solidFill>
          <a:ln w="12700">
            <a:solidFill>
              <a:srgbClr val="EF4444"/>
            </a:solidFill>
            <a:prstDash val="solid"/>
          </a:ln>
        </p:spPr>
      </p:sp>
      <p:sp>
        <p:nvSpPr>
          <p:cNvPr id="90" name="heat-251"/>
          <p:cNvSpPr/>
          <p:nvPr/>
        </p:nvSpPr>
        <p:spPr>
          <a:xfrm>
            <a:off x="7930342" y="3126740"/>
            <a:ext cx="236913" cy="254000"/>
          </a:xfrm>
          <a:prstGeom prst="rect">
            <a:avLst/>
          </a:prstGeom>
          <a:solidFill>
            <a:srgbClr val="F97316"/>
          </a:solidFill>
          <a:ln w="12700">
            <a:solidFill>
              <a:srgbClr val="F97316"/>
            </a:solidFill>
            <a:prstDash val="solid"/>
          </a:ln>
        </p:spPr>
      </p:sp>
      <p:sp>
        <p:nvSpPr>
          <p:cNvPr id="91" name="heat-252"/>
          <p:cNvSpPr/>
          <p:nvPr/>
        </p:nvSpPr>
        <p:spPr>
          <a:xfrm>
            <a:off x="8190115" y="3126740"/>
            <a:ext cx="236913" cy="254000"/>
          </a:xfrm>
          <a:prstGeom prst="rect">
            <a:avLst/>
          </a:prstGeom>
          <a:solidFill>
            <a:srgbClr val="F97316"/>
          </a:solidFill>
          <a:ln w="12700">
            <a:solidFill>
              <a:srgbClr val="F97316"/>
            </a:solidFill>
            <a:prstDash val="solid"/>
          </a:ln>
        </p:spPr>
      </p:sp>
      <p:sp>
        <p:nvSpPr>
          <p:cNvPr id="92" name="heat-253"/>
          <p:cNvSpPr/>
          <p:nvPr/>
        </p:nvSpPr>
        <p:spPr>
          <a:xfrm>
            <a:off x="8449887" y="3126740"/>
            <a:ext cx="236913" cy="254000"/>
          </a:xfrm>
          <a:prstGeom prst="rect">
            <a:avLst/>
          </a:prstGeom>
          <a:solidFill>
            <a:srgbClr val="FBBF24"/>
          </a:solidFill>
          <a:ln w="12700">
            <a:solidFill>
              <a:srgbClr val="FBBF24"/>
            </a:solidFill>
            <a:prstDash val="solid"/>
          </a:ln>
        </p:spPr>
      </p:sp>
      <p:sp>
        <p:nvSpPr>
          <p:cNvPr id="93" name="heat-254"/>
          <p:cNvSpPr/>
          <p:nvPr/>
        </p:nvSpPr>
        <p:spPr>
          <a:xfrm>
            <a:off x="5852160" y="3403600"/>
            <a:ext cx="236913" cy="254000"/>
          </a:xfrm>
          <a:prstGeom prst="rect">
            <a:avLst/>
          </a:prstGeom>
          <a:solidFill>
            <a:srgbClr val="FEF3C7"/>
          </a:solidFill>
          <a:ln w="12700">
            <a:solidFill>
              <a:srgbClr val="FEF3C7"/>
            </a:solidFill>
            <a:prstDash val="solid"/>
          </a:ln>
        </p:spPr>
      </p:sp>
      <p:sp>
        <p:nvSpPr>
          <p:cNvPr id="94" name="heat-255"/>
          <p:cNvSpPr/>
          <p:nvPr/>
        </p:nvSpPr>
        <p:spPr>
          <a:xfrm>
            <a:off x="6111933" y="3403600"/>
            <a:ext cx="236913" cy="254000"/>
          </a:xfrm>
          <a:prstGeom prst="rect">
            <a:avLst/>
          </a:prstGeom>
          <a:solidFill>
            <a:srgbClr val="FEF3C7"/>
          </a:solidFill>
          <a:ln w="12700">
            <a:solidFill>
              <a:srgbClr val="FEF3C7"/>
            </a:solidFill>
            <a:prstDash val="solid"/>
          </a:ln>
        </p:spPr>
      </p:sp>
      <p:sp>
        <p:nvSpPr>
          <p:cNvPr id="95" name="heat-256"/>
          <p:cNvSpPr/>
          <p:nvPr/>
        </p:nvSpPr>
        <p:spPr>
          <a:xfrm>
            <a:off x="6371705" y="3403600"/>
            <a:ext cx="236913" cy="254000"/>
          </a:xfrm>
          <a:prstGeom prst="rect">
            <a:avLst/>
          </a:prstGeom>
          <a:solidFill>
            <a:srgbClr val="FEF3C7"/>
          </a:solidFill>
          <a:ln w="12700">
            <a:solidFill>
              <a:srgbClr val="FEF3C7"/>
            </a:solidFill>
            <a:prstDash val="solid"/>
          </a:ln>
        </p:spPr>
      </p:sp>
      <p:sp>
        <p:nvSpPr>
          <p:cNvPr id="96" name="heat-257"/>
          <p:cNvSpPr/>
          <p:nvPr/>
        </p:nvSpPr>
        <p:spPr>
          <a:xfrm>
            <a:off x="6631478" y="3403600"/>
            <a:ext cx="236913" cy="254000"/>
          </a:xfrm>
          <a:prstGeom prst="rect">
            <a:avLst/>
          </a:prstGeom>
          <a:solidFill>
            <a:srgbClr val="FDE68A"/>
          </a:solidFill>
          <a:ln w="12700">
            <a:solidFill>
              <a:srgbClr val="FDE68A"/>
            </a:solidFill>
            <a:prstDash val="solid"/>
          </a:ln>
        </p:spPr>
      </p:sp>
      <p:sp>
        <p:nvSpPr>
          <p:cNvPr id="97" name="heat-258"/>
          <p:cNvSpPr/>
          <p:nvPr/>
        </p:nvSpPr>
        <p:spPr>
          <a:xfrm>
            <a:off x="6891251" y="3403600"/>
            <a:ext cx="236913" cy="254000"/>
          </a:xfrm>
          <a:prstGeom prst="rect">
            <a:avLst/>
          </a:prstGeom>
          <a:solidFill>
            <a:srgbClr val="FDE68A"/>
          </a:solidFill>
          <a:ln w="12700">
            <a:solidFill>
              <a:srgbClr val="FDE68A"/>
            </a:solidFill>
            <a:prstDash val="solid"/>
          </a:ln>
        </p:spPr>
      </p:sp>
      <p:sp>
        <p:nvSpPr>
          <p:cNvPr id="98" name="heat-259"/>
          <p:cNvSpPr/>
          <p:nvPr/>
        </p:nvSpPr>
        <p:spPr>
          <a:xfrm>
            <a:off x="7151024" y="3403600"/>
            <a:ext cx="236913" cy="254000"/>
          </a:xfrm>
          <a:prstGeom prst="rect">
            <a:avLst/>
          </a:prstGeom>
          <a:solidFill>
            <a:srgbClr val="FDE68A"/>
          </a:solidFill>
          <a:ln w="12700">
            <a:solidFill>
              <a:srgbClr val="FDE68A"/>
            </a:solidFill>
            <a:prstDash val="solid"/>
          </a:ln>
        </p:spPr>
      </p:sp>
      <p:sp>
        <p:nvSpPr>
          <p:cNvPr id="99" name="heat-260"/>
          <p:cNvSpPr/>
          <p:nvPr/>
        </p:nvSpPr>
        <p:spPr>
          <a:xfrm>
            <a:off x="7410796" y="3403600"/>
            <a:ext cx="236913" cy="254000"/>
          </a:xfrm>
          <a:prstGeom prst="rect">
            <a:avLst/>
          </a:prstGeom>
          <a:solidFill>
            <a:srgbClr val="FCD34D"/>
          </a:solidFill>
          <a:ln w="12700">
            <a:solidFill>
              <a:srgbClr val="FCD34D"/>
            </a:solidFill>
            <a:prstDash val="solid"/>
          </a:ln>
        </p:spPr>
      </p:sp>
      <p:sp>
        <p:nvSpPr>
          <p:cNvPr id="100" name="heat-261"/>
          <p:cNvSpPr/>
          <p:nvPr/>
        </p:nvSpPr>
        <p:spPr>
          <a:xfrm>
            <a:off x="7670569" y="3403600"/>
            <a:ext cx="236913" cy="254000"/>
          </a:xfrm>
          <a:prstGeom prst="rect">
            <a:avLst/>
          </a:prstGeom>
          <a:solidFill>
            <a:srgbClr val="FBBF24"/>
          </a:solidFill>
          <a:ln w="12700">
            <a:solidFill>
              <a:srgbClr val="FBBF24"/>
            </a:solidFill>
            <a:prstDash val="solid"/>
          </a:ln>
        </p:spPr>
      </p:sp>
      <p:sp>
        <p:nvSpPr>
          <p:cNvPr id="101" name="heat-262"/>
          <p:cNvSpPr/>
          <p:nvPr/>
        </p:nvSpPr>
        <p:spPr>
          <a:xfrm>
            <a:off x="7930342" y="3403600"/>
            <a:ext cx="236913" cy="254000"/>
          </a:xfrm>
          <a:prstGeom prst="rect">
            <a:avLst/>
          </a:prstGeom>
          <a:solidFill>
            <a:srgbClr val="F97316"/>
          </a:solidFill>
          <a:ln w="12700">
            <a:solidFill>
              <a:srgbClr val="F97316"/>
            </a:solidFill>
            <a:prstDash val="solid"/>
          </a:ln>
        </p:spPr>
      </p:sp>
      <p:sp>
        <p:nvSpPr>
          <p:cNvPr id="102" name="heat-263"/>
          <p:cNvSpPr/>
          <p:nvPr/>
        </p:nvSpPr>
        <p:spPr>
          <a:xfrm>
            <a:off x="8190115" y="3403600"/>
            <a:ext cx="236913" cy="254000"/>
          </a:xfrm>
          <a:prstGeom prst="rect">
            <a:avLst/>
          </a:prstGeom>
          <a:solidFill>
            <a:srgbClr val="FBBF24"/>
          </a:solidFill>
          <a:ln w="12700">
            <a:solidFill>
              <a:srgbClr val="FBBF24"/>
            </a:solidFill>
            <a:prstDash val="solid"/>
          </a:ln>
        </p:spPr>
      </p:sp>
      <p:sp>
        <p:nvSpPr>
          <p:cNvPr id="103" name="heat-264"/>
          <p:cNvSpPr/>
          <p:nvPr/>
        </p:nvSpPr>
        <p:spPr>
          <a:xfrm>
            <a:off x="8449887" y="3403600"/>
            <a:ext cx="236913" cy="254000"/>
          </a:xfrm>
          <a:prstGeom prst="rect">
            <a:avLst/>
          </a:prstGeom>
          <a:solidFill>
            <a:srgbClr val="FCD34D"/>
          </a:solidFill>
          <a:ln w="12700">
            <a:solidFill>
              <a:srgbClr val="FCD34D"/>
            </a:solidFill>
            <a:prstDash val="solid"/>
          </a:ln>
        </p:spPr>
      </p:sp>
      <p:sp>
        <p:nvSpPr>
          <p:cNvPr id="104" name="text-265"/>
          <p:cNvSpPr txBox="1"/>
          <p:nvPr/>
        </p:nvSpPr>
        <p:spPr>
          <a:xfrm>
            <a:off x="5852160" y="3749040"/>
            <a:ext cx="2834640" cy="228600"/>
          </a:xfrm>
          <a:prstGeom prst="rect">
            <a:avLst/>
          </a:prstGeom>
          <a:noFill/>
          <a:ln/>
        </p:spPr>
        <p:txBody>
          <a:bodyPr wrap="square" lIns="0" tIns="0" rIns="0" bIns="0" rtlCol="0" anchor="t"/>
          <a:lstStyle/>
          <a:p>
            <a:pPr indent="0" marL="0">
              <a:buNone/>
            </a:pPr>
            <a:r>
              <a:rPr lang="en-US" sz="1000" dirty="0">
                <a:solidFill>
                  <a:srgbClr val="7D93B8"/>
                </a:solidFill>
              </a:rPr>
              <a:t>Heat vulnerability, 1 km grid (illustrative)</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93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HeatRisk EU on ProSho</a:t>
            </a:r>
            <a:endParaRPr lang="en-US" sz="3200" dirty="0"/>
          </a:p>
        </p:txBody>
      </p:sp>
      <p:sp>
        <p:nvSpPr>
          <p:cNvPr id="3" name="browser-266"/>
          <p:cNvSpPr/>
          <p:nvPr/>
        </p:nvSpPr>
        <p:spPr>
          <a:xfrm>
            <a:off x="457200" y="1097280"/>
            <a:ext cx="5760720" cy="3547872"/>
          </a:xfrm>
          <a:prstGeom prst="roundRect">
            <a:avLst>
              <a:gd name="adj" fmla="val 2062"/>
            </a:avLst>
          </a:prstGeom>
          <a:solidFill>
            <a:schemeClr val="bg1"/>
          </a:solidFill>
          <a:ln w="12700">
            <a:solidFill>
              <a:srgbClr val="C7CCE0"/>
            </a:solidFill>
            <a:prstDash val="solid"/>
          </a:ln>
        </p:spPr>
      </p:sp>
      <p:sp>
        <p:nvSpPr>
          <p:cNvPr id="4" name="browser-divider-267"/>
          <p:cNvSpPr/>
          <p:nvPr/>
        </p:nvSpPr>
        <p:spPr>
          <a:xfrm>
            <a:off x="475488" y="1371600"/>
            <a:ext cx="5724144" cy="9144"/>
          </a:xfrm>
          <a:prstGeom prst="rect">
            <a:avLst/>
          </a:prstGeom>
          <a:solidFill>
            <a:srgbClr val="E2E5F0"/>
          </a:solidFill>
          <a:ln w="12700">
            <a:solidFill>
              <a:srgbClr val="E2E5F0"/>
            </a:solidFill>
            <a:prstDash val="solid"/>
          </a:ln>
        </p:spPr>
      </p:sp>
      <p:sp>
        <p:nvSpPr>
          <p:cNvPr id="5" name="dot-268"/>
          <p:cNvSpPr/>
          <p:nvPr/>
        </p:nvSpPr>
        <p:spPr>
          <a:xfrm>
            <a:off x="585216" y="1188720"/>
            <a:ext cx="91440" cy="91440"/>
          </a:xfrm>
          <a:prstGeom prst="ellipse">
            <a:avLst/>
          </a:prstGeom>
          <a:solidFill>
            <a:srgbClr val="EF4444"/>
          </a:solidFill>
          <a:ln w="12700">
            <a:solidFill>
              <a:srgbClr val="EF4444"/>
            </a:solidFill>
            <a:prstDash val="solid"/>
          </a:ln>
        </p:spPr>
      </p:sp>
      <p:sp>
        <p:nvSpPr>
          <p:cNvPr id="6" name="dot-269"/>
          <p:cNvSpPr/>
          <p:nvPr/>
        </p:nvSpPr>
        <p:spPr>
          <a:xfrm>
            <a:off x="731520" y="1188720"/>
            <a:ext cx="91440" cy="91440"/>
          </a:xfrm>
          <a:prstGeom prst="ellipse">
            <a:avLst/>
          </a:prstGeom>
          <a:solidFill>
            <a:srgbClr val="F59E0B"/>
          </a:solidFill>
          <a:ln w="12700">
            <a:solidFill>
              <a:srgbClr val="F59E0B"/>
            </a:solidFill>
            <a:prstDash val="solid"/>
          </a:ln>
        </p:spPr>
      </p:sp>
      <p:sp>
        <p:nvSpPr>
          <p:cNvPr id="7" name="dot-270"/>
          <p:cNvSpPr/>
          <p:nvPr/>
        </p:nvSpPr>
        <p:spPr>
          <a:xfrm>
            <a:off x="877824" y="1188720"/>
            <a:ext cx="91440" cy="91440"/>
          </a:xfrm>
          <a:prstGeom prst="ellipse">
            <a:avLst/>
          </a:prstGeom>
          <a:solidFill>
            <a:srgbClr val="10B981"/>
          </a:solidFill>
          <a:ln w="12700">
            <a:solidFill>
              <a:srgbClr val="10B981"/>
            </a:solidFill>
            <a:prstDash val="solid"/>
          </a:ln>
        </p:spPr>
      </p:sp>
      <p:sp>
        <p:nvSpPr>
          <p:cNvPr id="8" name="url-bar-271"/>
          <p:cNvSpPr/>
          <p:nvPr/>
        </p:nvSpPr>
        <p:spPr>
          <a:xfrm>
            <a:off x="1097280" y="1152144"/>
            <a:ext cx="3017520" cy="173736"/>
          </a:xfrm>
          <a:prstGeom prst="roundRect">
            <a:avLst>
              <a:gd name="adj" fmla="val 47368"/>
            </a:avLst>
          </a:prstGeom>
          <a:solidFill>
            <a:srgbClr val="F1F3F9"/>
          </a:solidFill>
          <a:ln w="12700">
            <a:solidFill>
              <a:srgbClr val="F1F3F9"/>
            </a:solidFill>
            <a:prstDash val="solid"/>
          </a:ln>
        </p:spPr>
      </p:sp>
      <p:sp>
        <p:nvSpPr>
          <p:cNvPr id="9" name="text-272"/>
          <p:cNvSpPr txBox="1"/>
          <p:nvPr/>
        </p:nvSpPr>
        <p:spPr>
          <a:xfrm>
            <a:off x="1188720" y="1152144"/>
            <a:ext cx="2834640" cy="173736"/>
          </a:xfrm>
          <a:prstGeom prst="rect">
            <a:avLst/>
          </a:prstGeom>
          <a:noFill/>
          <a:ln/>
        </p:spPr>
        <p:txBody>
          <a:bodyPr wrap="square" lIns="0" tIns="0" rIns="0" bIns="0" rtlCol="0" anchor="ctr"/>
          <a:lstStyle/>
          <a:p>
            <a:pPr indent="0" marL="0">
              <a:buNone/>
            </a:pPr>
            <a:r>
              <a:rPr lang="en-US" sz="1000" dirty="0">
                <a:solidFill>
                  <a:schemeClr val="accent6"/>
                </a:solidFill>
              </a:rPr>
              <a:t>🔒 lvamo.com/prosho/heatrisk-eu</a:t>
            </a:r>
            <a:endParaRPr lang="en-US" sz="1000" dirty="0"/>
          </a:p>
        </p:txBody>
      </p:sp>
      <p:sp>
        <p:nvSpPr>
          <p:cNvPr id="10" name="text-273"/>
          <p:cNvSpPr txBox="1"/>
          <p:nvPr/>
        </p:nvSpPr>
        <p:spPr>
          <a:xfrm>
            <a:off x="640080" y="1481328"/>
            <a:ext cx="3291840" cy="29260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HeatRisk EU</a:t>
            </a:r>
            <a:endParaRPr lang="en-US" sz="1600" dirty="0"/>
          </a:p>
        </p:txBody>
      </p:sp>
      <p:sp>
        <p:nvSpPr>
          <p:cNvPr id="11" name="text-274"/>
          <p:cNvSpPr txBox="1"/>
          <p:nvPr/>
        </p:nvSpPr>
        <p:spPr>
          <a:xfrm>
            <a:off x="640080" y="1773936"/>
            <a:ext cx="3474720" cy="201168"/>
          </a:xfrm>
          <a:prstGeom prst="rect">
            <a:avLst/>
          </a:prstGeom>
          <a:noFill/>
          <a:ln/>
        </p:spPr>
        <p:txBody>
          <a:bodyPr wrap="square" lIns="0" tIns="0" rIns="0" bIns="0" rtlCol="0" anchor="t"/>
          <a:lstStyle/>
          <a:p>
            <a:pPr indent="0" marL="0">
              <a:buNone/>
            </a:pPr>
            <a:r>
              <a:rPr lang="en-US" sz="1000" dirty="0">
                <a:solidFill>
                  <a:schemeClr val="accent6"/>
                </a:solidFill>
              </a:rPr>
              <a:t>Student name · MSc Data Science · UE Potsdam</a:t>
            </a:r>
            <a:endParaRPr lang="en-US" sz="1000" dirty="0"/>
          </a:p>
        </p:txBody>
      </p:sp>
      <p:sp>
        <p:nvSpPr>
          <p:cNvPr id="12" name="chip-275"/>
          <p:cNvSpPr/>
          <p:nvPr/>
        </p:nvSpPr>
        <p:spPr>
          <a:xfrm>
            <a:off x="4069080" y="1527048"/>
            <a:ext cx="960120" cy="219456"/>
          </a:xfrm>
          <a:prstGeom prst="roundRect">
            <a:avLst>
              <a:gd name="adj" fmla="val 50000"/>
            </a:avLst>
          </a:prstGeom>
          <a:solidFill>
            <a:schemeClr val="bg2"/>
          </a:solidFill>
          <a:ln w="12700">
            <a:solidFill>
              <a:schemeClr val="bg2"/>
            </a:solidFill>
            <a:prstDash val="solid"/>
          </a:ln>
        </p:spPr>
      </p:sp>
      <p:sp>
        <p:nvSpPr>
          <p:cNvPr id="13" name="text-276"/>
          <p:cNvSpPr txBox="1"/>
          <p:nvPr/>
        </p:nvSpPr>
        <p:spPr>
          <a:xfrm>
            <a:off x="4069080" y="1527048"/>
            <a:ext cx="960120" cy="219456"/>
          </a:xfrm>
          <a:prstGeom prst="rect">
            <a:avLst/>
          </a:prstGeom>
          <a:noFill/>
          <a:ln/>
        </p:spPr>
        <p:txBody>
          <a:bodyPr wrap="square" lIns="0" tIns="0" rIns="0" bIns="0" rtlCol="0" anchor="ctr"/>
          <a:lstStyle/>
          <a:p>
            <a:pPr algn="ctr" indent="0" marL="0">
              <a:buNone/>
            </a:pPr>
            <a:r>
              <a:rPr lang="en-US" sz="1000" b="1" dirty="0">
                <a:solidFill>
                  <a:schemeClr val="accent1"/>
                </a:solidFill>
              </a:rPr>
              <a:t>Data science</a:t>
            </a:r>
            <a:endParaRPr lang="en-US" sz="1000" dirty="0"/>
          </a:p>
        </p:txBody>
      </p:sp>
      <p:sp>
        <p:nvSpPr>
          <p:cNvPr id="14" name="chip-277"/>
          <p:cNvSpPr/>
          <p:nvPr/>
        </p:nvSpPr>
        <p:spPr>
          <a:xfrm>
            <a:off x="5074920" y="1527048"/>
            <a:ext cx="1005840" cy="219456"/>
          </a:xfrm>
          <a:prstGeom prst="roundRect">
            <a:avLst>
              <a:gd name="adj" fmla="val 50000"/>
            </a:avLst>
          </a:prstGeom>
          <a:solidFill>
            <a:schemeClr val="accent1"/>
          </a:solidFill>
          <a:ln w="12700">
            <a:solidFill>
              <a:schemeClr val="accent1"/>
            </a:solidFill>
            <a:prstDash val="solid"/>
          </a:ln>
        </p:spPr>
      </p:sp>
      <p:sp>
        <p:nvSpPr>
          <p:cNvPr id="15" name="text-278"/>
          <p:cNvSpPr txBox="1"/>
          <p:nvPr/>
        </p:nvSpPr>
        <p:spPr>
          <a:xfrm>
            <a:off x="5074920" y="1527048"/>
            <a:ext cx="1005840" cy="219456"/>
          </a:xfrm>
          <a:prstGeom prst="rect">
            <a:avLst/>
          </a:prstGeom>
          <a:noFill/>
          <a:ln/>
        </p:spPr>
        <p:txBody>
          <a:bodyPr wrap="square" lIns="0" tIns="0" rIns="0" bIns="0" rtlCol="0" anchor="ctr"/>
          <a:lstStyle/>
          <a:p>
            <a:pPr algn="ctr" indent="0" marL="0">
              <a:buNone/>
            </a:pPr>
            <a:r>
              <a:rPr lang="en-US" sz="900" b="1" dirty="0">
                <a:solidFill>
                  <a:schemeClr val="bg1"/>
                </a:solidFill>
              </a:rPr>
              <a:t>Mentored via LVAMO</a:t>
            </a:r>
            <a:endParaRPr lang="en-US" sz="900" dirty="0"/>
          </a:p>
        </p:txBody>
      </p:sp>
      <p:sp>
        <p:nvSpPr>
          <p:cNvPr id="16" name="divider-279"/>
          <p:cNvSpPr/>
          <p:nvPr/>
        </p:nvSpPr>
        <p:spPr>
          <a:xfrm>
            <a:off x="640080" y="2039112"/>
            <a:ext cx="5394960" cy="9144"/>
          </a:xfrm>
          <a:prstGeom prst="rect">
            <a:avLst/>
          </a:prstGeom>
          <a:solidFill>
            <a:srgbClr val="E2E5F0"/>
          </a:solidFill>
          <a:ln w="12700">
            <a:solidFill>
              <a:srgbClr val="E2E5F0"/>
            </a:solidFill>
            <a:prstDash val="solid"/>
          </a:ln>
        </p:spPr>
      </p:sp>
      <p:sp>
        <p:nvSpPr>
          <p:cNvPr id="17" name="text-280"/>
          <p:cNvSpPr txBox="1"/>
          <p:nvPr/>
        </p:nvSpPr>
        <p:spPr>
          <a:xfrm>
            <a:off x="640080" y="2121408"/>
            <a:ext cx="1371600" cy="201168"/>
          </a:xfrm>
          <a:prstGeom prst="rect">
            <a:avLst/>
          </a:prstGeom>
          <a:noFill/>
          <a:ln/>
        </p:spPr>
        <p:txBody>
          <a:bodyPr wrap="square" lIns="0" tIns="0" rIns="0" bIns="0" rtlCol="0" anchor="t"/>
          <a:lstStyle/>
          <a:p>
            <a:pPr indent="0" marL="0">
              <a:buNone/>
            </a:pPr>
            <a:r>
              <a:rPr lang="en-US" sz="1000" b="1" spc="150" kern="0" dirty="0">
                <a:solidFill>
                  <a:schemeClr val="accent1"/>
                </a:solidFill>
              </a:rPr>
              <a:t>CLAIMS</a:t>
            </a:r>
            <a:endParaRPr lang="en-US" sz="1000" dirty="0"/>
          </a:p>
        </p:txBody>
      </p:sp>
      <p:sp>
        <p:nvSpPr>
          <p:cNvPr id="18" name="card-281"/>
          <p:cNvSpPr/>
          <p:nvPr/>
        </p:nvSpPr>
        <p:spPr>
          <a:xfrm>
            <a:off x="640080" y="2359152"/>
            <a:ext cx="3154680" cy="484632"/>
          </a:xfrm>
          <a:prstGeom prst="roundRect">
            <a:avLst>
              <a:gd name="adj" fmla="val 15094"/>
            </a:avLst>
          </a:prstGeom>
          <a:solidFill>
            <a:srgbClr val="F6F7FC"/>
          </a:solidFill>
          <a:ln w="9525">
            <a:solidFill>
              <a:srgbClr val="E2E5F0"/>
            </a:solidFill>
            <a:prstDash val="solid"/>
          </a:ln>
        </p:spPr>
      </p:sp>
      <p:sp>
        <p:nvSpPr>
          <p:cNvPr id="19" name="text-282"/>
          <p:cNvSpPr txBox="1"/>
          <p:nvPr/>
        </p:nvSpPr>
        <p:spPr>
          <a:xfrm>
            <a:off x="731520" y="2404872"/>
            <a:ext cx="2194560" cy="411480"/>
          </a:xfrm>
          <a:prstGeom prst="rect">
            <a:avLst/>
          </a:prstGeom>
          <a:noFill/>
          <a:ln/>
        </p:spPr>
        <p:txBody>
          <a:bodyPr wrap="square" lIns="0" tIns="0" rIns="0" bIns="0" rtlCol="0" anchor="ctr"/>
          <a:lstStyle/>
          <a:p>
            <a:pPr indent="0" marL="0">
              <a:buNone/>
            </a:pPr>
            <a:r>
              <a:rPr lang="en-US" sz="1050" b="1" dirty="0">
                <a:solidFill>
                  <a:schemeClr val="tx1"/>
                </a:solidFill>
              </a:rPr>
              <a:t>Risk curve for every NUTS 3 region</a:t>
            </a:r>
            <a:endParaRPr lang="en-US" sz="1050" dirty="0"/>
          </a:p>
          <a:p>
            <a:pPr indent="0" marL="0">
              <a:buNone/>
            </a:pPr>
            <a:r>
              <a:rPr lang="en-US" sz="1000" dirty="0">
                <a:solidFill>
                  <a:schemeClr val="accent6"/>
                </a:solidFill>
              </a:rPr>
              <a:t>Fitted for all 5 countries</a:t>
            </a:r>
            <a:endParaRPr lang="en-US" sz="1050" dirty="0"/>
          </a:p>
        </p:txBody>
      </p:sp>
      <p:sp>
        <p:nvSpPr>
          <p:cNvPr id="20" name="chip-283"/>
          <p:cNvSpPr/>
          <p:nvPr/>
        </p:nvSpPr>
        <p:spPr>
          <a:xfrm>
            <a:off x="2971800" y="2491740"/>
            <a:ext cx="731520" cy="219456"/>
          </a:xfrm>
          <a:prstGeom prst="roundRect">
            <a:avLst>
              <a:gd name="adj" fmla="val 50000"/>
            </a:avLst>
          </a:prstGeom>
          <a:solidFill>
            <a:schemeClr val="accent3"/>
          </a:solidFill>
          <a:ln w="12700">
            <a:solidFill>
              <a:schemeClr val="accent3"/>
            </a:solidFill>
            <a:prstDash val="solid"/>
          </a:ln>
        </p:spPr>
      </p:sp>
      <p:sp>
        <p:nvSpPr>
          <p:cNvPr id="21" name="text-284"/>
          <p:cNvSpPr txBox="1"/>
          <p:nvPr/>
        </p:nvSpPr>
        <p:spPr>
          <a:xfrm>
            <a:off x="2971800" y="2491740"/>
            <a:ext cx="731520" cy="219456"/>
          </a:xfrm>
          <a:prstGeom prst="rect">
            <a:avLst/>
          </a:prstGeom>
          <a:noFill/>
          <a:ln/>
        </p:spPr>
        <p:txBody>
          <a:bodyPr wrap="square" lIns="0" tIns="0" rIns="0" bIns="0" rtlCol="0" anchor="ctr"/>
          <a:lstStyle/>
          <a:p>
            <a:pPr algn="ctr" indent="0" marL="0">
              <a:buNone/>
            </a:pPr>
            <a:r>
              <a:rPr lang="en-US" sz="1000" b="1" dirty="0">
                <a:solidFill>
                  <a:schemeClr val="bg1"/>
                </a:solidFill>
              </a:rPr>
              <a:t>✓ Met</a:t>
            </a:r>
            <a:endParaRPr lang="en-US" sz="1000" dirty="0"/>
          </a:p>
        </p:txBody>
      </p:sp>
      <p:sp>
        <p:nvSpPr>
          <p:cNvPr id="22" name="card-285"/>
          <p:cNvSpPr/>
          <p:nvPr/>
        </p:nvSpPr>
        <p:spPr>
          <a:xfrm>
            <a:off x="640080" y="2907792"/>
            <a:ext cx="3154680" cy="484632"/>
          </a:xfrm>
          <a:prstGeom prst="roundRect">
            <a:avLst>
              <a:gd name="adj" fmla="val 15094"/>
            </a:avLst>
          </a:prstGeom>
          <a:solidFill>
            <a:srgbClr val="F6F7FC"/>
          </a:solidFill>
          <a:ln w="9525">
            <a:solidFill>
              <a:srgbClr val="E2E5F0"/>
            </a:solidFill>
            <a:prstDash val="solid"/>
          </a:ln>
        </p:spPr>
      </p:sp>
      <p:sp>
        <p:nvSpPr>
          <p:cNvPr id="23" name="text-286"/>
          <p:cNvSpPr txBox="1"/>
          <p:nvPr/>
        </p:nvSpPr>
        <p:spPr>
          <a:xfrm>
            <a:off x="731520" y="2953512"/>
            <a:ext cx="2194560" cy="411480"/>
          </a:xfrm>
          <a:prstGeom prst="rect">
            <a:avLst/>
          </a:prstGeom>
          <a:noFill/>
          <a:ln/>
        </p:spPr>
        <p:txBody>
          <a:bodyPr wrap="square" lIns="0" tIns="0" rIns="0" bIns="0" rtlCol="0" anchor="ctr"/>
          <a:lstStyle/>
          <a:p>
            <a:pPr indent="0" marL="0">
              <a:buNone/>
            </a:pPr>
            <a:r>
              <a:rPr lang="en-US" sz="1050" b="1" dirty="0">
                <a:solidFill>
                  <a:schemeClr val="tx1"/>
                </a:solidFill>
              </a:rPr>
              <a:t>1 km maps for five capitals</a:t>
            </a:r>
            <a:endParaRPr lang="en-US" sz="1050" dirty="0"/>
          </a:p>
          <a:p>
            <a:pPr indent="0" marL="0">
              <a:buNone/>
            </a:pPr>
            <a:r>
              <a:rPr lang="en-US" sz="1000" dirty="0">
                <a:solidFill>
                  <a:schemeClr val="accent6"/>
                </a:solidFill>
              </a:rPr>
              <a:t>Berlin, Paris, Rome done</a:t>
            </a:r>
            <a:endParaRPr lang="en-US" sz="1050" dirty="0"/>
          </a:p>
        </p:txBody>
      </p:sp>
      <p:sp>
        <p:nvSpPr>
          <p:cNvPr id="24" name="chip-287"/>
          <p:cNvSpPr/>
          <p:nvPr/>
        </p:nvSpPr>
        <p:spPr>
          <a:xfrm>
            <a:off x="2971800" y="3040380"/>
            <a:ext cx="731520" cy="219456"/>
          </a:xfrm>
          <a:prstGeom prst="roundRect">
            <a:avLst>
              <a:gd name="adj" fmla="val 50000"/>
            </a:avLst>
          </a:prstGeom>
          <a:solidFill>
            <a:schemeClr val="accent4"/>
          </a:solidFill>
          <a:ln w="12700">
            <a:solidFill>
              <a:schemeClr val="accent4"/>
            </a:solidFill>
            <a:prstDash val="solid"/>
          </a:ln>
        </p:spPr>
      </p:sp>
      <p:sp>
        <p:nvSpPr>
          <p:cNvPr id="25" name="text-288"/>
          <p:cNvSpPr txBox="1"/>
          <p:nvPr/>
        </p:nvSpPr>
        <p:spPr>
          <a:xfrm>
            <a:off x="2971800" y="3040380"/>
            <a:ext cx="731520" cy="219456"/>
          </a:xfrm>
          <a:prstGeom prst="rect">
            <a:avLst/>
          </a:prstGeom>
          <a:noFill/>
          <a:ln/>
        </p:spPr>
        <p:txBody>
          <a:bodyPr wrap="square" lIns="0" tIns="0" rIns="0" bIns="0" rtlCol="0" anchor="ctr"/>
          <a:lstStyle/>
          <a:p>
            <a:pPr algn="ctr" indent="0" marL="0">
              <a:buNone/>
            </a:pPr>
            <a:r>
              <a:rPr lang="en-US" sz="1000" b="1" dirty="0">
                <a:solidFill>
                  <a:schemeClr val="tx1"/>
                </a:solidFill>
              </a:rPr>
              <a:t>In progress</a:t>
            </a:r>
            <a:endParaRPr lang="en-US" sz="1000" dirty="0"/>
          </a:p>
        </p:txBody>
      </p:sp>
      <p:sp>
        <p:nvSpPr>
          <p:cNvPr id="26" name="card-289"/>
          <p:cNvSpPr/>
          <p:nvPr/>
        </p:nvSpPr>
        <p:spPr>
          <a:xfrm>
            <a:off x="640080" y="3456432"/>
            <a:ext cx="3154680" cy="484632"/>
          </a:xfrm>
          <a:prstGeom prst="roundRect">
            <a:avLst>
              <a:gd name="adj" fmla="val 15094"/>
            </a:avLst>
          </a:prstGeom>
          <a:solidFill>
            <a:srgbClr val="F6F7FC"/>
          </a:solidFill>
          <a:ln w="9525">
            <a:solidFill>
              <a:srgbClr val="E2E5F0"/>
            </a:solidFill>
            <a:prstDash val="solid"/>
          </a:ln>
        </p:spPr>
      </p:sp>
      <p:sp>
        <p:nvSpPr>
          <p:cNvPr id="27" name="text-290"/>
          <p:cNvSpPr txBox="1"/>
          <p:nvPr/>
        </p:nvSpPr>
        <p:spPr>
          <a:xfrm>
            <a:off x="731520" y="3502152"/>
            <a:ext cx="2194560" cy="411480"/>
          </a:xfrm>
          <a:prstGeom prst="rect">
            <a:avLst/>
          </a:prstGeom>
          <a:noFill/>
          <a:ln/>
        </p:spPr>
        <p:txBody>
          <a:bodyPr wrap="square" lIns="0" tIns="0" rIns="0" bIns="0" rtlCol="0" anchor="ctr"/>
          <a:lstStyle/>
          <a:p>
            <a:pPr indent="0" marL="0">
              <a:buNone/>
            </a:pPr>
            <a:r>
              <a:rPr lang="en-US" sz="1050" b="1" dirty="0">
                <a:solidFill>
                  <a:schemeClr val="tx1"/>
                </a:solidFill>
              </a:rPr>
              <a:t>Predict 2026 within ±25%</a:t>
            </a:r>
            <a:endParaRPr lang="en-US" sz="1050" dirty="0"/>
          </a:p>
          <a:p>
            <a:pPr indent="0" marL="0">
              <a:buNone/>
            </a:pPr>
            <a:r>
              <a:rPr lang="en-US" sz="1000" dirty="0">
                <a:solidFill>
                  <a:schemeClr val="accent6"/>
                </a:solidFill>
              </a:rPr>
              <a:t>Germany −12% · France +8%</a:t>
            </a:r>
            <a:endParaRPr lang="en-US" sz="1050" dirty="0"/>
          </a:p>
        </p:txBody>
      </p:sp>
      <p:sp>
        <p:nvSpPr>
          <p:cNvPr id="28" name="chip-291"/>
          <p:cNvSpPr/>
          <p:nvPr/>
        </p:nvSpPr>
        <p:spPr>
          <a:xfrm>
            <a:off x="2971800" y="3589020"/>
            <a:ext cx="731520" cy="219456"/>
          </a:xfrm>
          <a:prstGeom prst="roundRect">
            <a:avLst>
              <a:gd name="adj" fmla="val 50000"/>
            </a:avLst>
          </a:prstGeom>
          <a:solidFill>
            <a:schemeClr val="accent3"/>
          </a:solidFill>
          <a:ln w="12700">
            <a:solidFill>
              <a:schemeClr val="accent3"/>
            </a:solidFill>
            <a:prstDash val="solid"/>
          </a:ln>
        </p:spPr>
      </p:sp>
      <p:sp>
        <p:nvSpPr>
          <p:cNvPr id="29" name="text-292"/>
          <p:cNvSpPr txBox="1"/>
          <p:nvPr/>
        </p:nvSpPr>
        <p:spPr>
          <a:xfrm>
            <a:off x="2971800" y="3589020"/>
            <a:ext cx="731520" cy="219456"/>
          </a:xfrm>
          <a:prstGeom prst="rect">
            <a:avLst/>
          </a:prstGeom>
          <a:noFill/>
          <a:ln/>
        </p:spPr>
        <p:txBody>
          <a:bodyPr wrap="square" lIns="0" tIns="0" rIns="0" bIns="0" rtlCol="0" anchor="ctr"/>
          <a:lstStyle/>
          <a:p>
            <a:pPr algn="ctr" indent="0" marL="0">
              <a:buNone/>
            </a:pPr>
            <a:r>
              <a:rPr lang="en-US" sz="1000" b="1" dirty="0">
                <a:solidFill>
                  <a:schemeClr val="bg1"/>
                </a:solidFill>
              </a:rPr>
              <a:t>✓ Met</a:t>
            </a:r>
            <a:endParaRPr lang="en-US" sz="1000" dirty="0"/>
          </a:p>
        </p:txBody>
      </p:sp>
      <p:sp>
        <p:nvSpPr>
          <p:cNvPr id="30" name="card-293"/>
          <p:cNvSpPr/>
          <p:nvPr/>
        </p:nvSpPr>
        <p:spPr>
          <a:xfrm>
            <a:off x="640080" y="4005072"/>
            <a:ext cx="3154680" cy="484632"/>
          </a:xfrm>
          <a:prstGeom prst="roundRect">
            <a:avLst>
              <a:gd name="adj" fmla="val 15094"/>
            </a:avLst>
          </a:prstGeom>
          <a:solidFill>
            <a:srgbClr val="F6F7FC"/>
          </a:solidFill>
          <a:ln w="9525">
            <a:solidFill>
              <a:srgbClr val="E2E5F0"/>
            </a:solidFill>
            <a:prstDash val="solid"/>
          </a:ln>
        </p:spPr>
      </p:sp>
      <p:sp>
        <p:nvSpPr>
          <p:cNvPr id="31" name="text-294"/>
          <p:cNvSpPr txBox="1"/>
          <p:nvPr/>
        </p:nvSpPr>
        <p:spPr>
          <a:xfrm>
            <a:off x="731520" y="4050792"/>
            <a:ext cx="2194560" cy="411480"/>
          </a:xfrm>
          <a:prstGeom prst="rect">
            <a:avLst/>
          </a:prstGeom>
          <a:noFill/>
          <a:ln/>
        </p:spPr>
        <p:txBody>
          <a:bodyPr wrap="square" lIns="0" tIns="0" rIns="0" bIns="0" rtlCol="0" anchor="ctr"/>
          <a:lstStyle/>
          <a:p>
            <a:pPr indent="0" marL="0">
              <a:buNone/>
            </a:pPr>
            <a:r>
              <a:rPr lang="en-US" sz="1050" b="1" dirty="0">
                <a:solidFill>
                  <a:schemeClr val="tx1"/>
                </a:solidFill>
              </a:rPr>
              <a:t>Reproducible open pipeline</a:t>
            </a:r>
            <a:endParaRPr lang="en-US" sz="1050" dirty="0"/>
          </a:p>
          <a:p>
            <a:pPr indent="0" marL="0">
              <a:buNone/>
            </a:pPr>
            <a:r>
              <a:rPr lang="en-US" sz="1000" dirty="0">
                <a:solidFill>
                  <a:schemeClr val="accent6"/>
                </a:solidFill>
              </a:rPr>
              <a:t>Last run 2 h ago · passed</a:t>
            </a:r>
            <a:endParaRPr lang="en-US" sz="1050" dirty="0"/>
          </a:p>
        </p:txBody>
      </p:sp>
      <p:sp>
        <p:nvSpPr>
          <p:cNvPr id="32" name="chip-295"/>
          <p:cNvSpPr/>
          <p:nvPr/>
        </p:nvSpPr>
        <p:spPr>
          <a:xfrm>
            <a:off x="2971800" y="4137660"/>
            <a:ext cx="731520" cy="219456"/>
          </a:xfrm>
          <a:prstGeom prst="roundRect">
            <a:avLst>
              <a:gd name="adj" fmla="val 50000"/>
            </a:avLst>
          </a:prstGeom>
          <a:solidFill>
            <a:schemeClr val="accent3"/>
          </a:solidFill>
          <a:ln w="12700">
            <a:solidFill>
              <a:schemeClr val="accent3"/>
            </a:solidFill>
            <a:prstDash val="solid"/>
          </a:ln>
        </p:spPr>
      </p:sp>
      <p:sp>
        <p:nvSpPr>
          <p:cNvPr id="33" name="text-296"/>
          <p:cNvSpPr txBox="1"/>
          <p:nvPr/>
        </p:nvSpPr>
        <p:spPr>
          <a:xfrm>
            <a:off x="2971800" y="4137660"/>
            <a:ext cx="731520" cy="219456"/>
          </a:xfrm>
          <a:prstGeom prst="rect">
            <a:avLst/>
          </a:prstGeom>
          <a:noFill/>
          <a:ln/>
        </p:spPr>
        <p:txBody>
          <a:bodyPr wrap="square" lIns="0" tIns="0" rIns="0" bIns="0" rtlCol="0" anchor="ctr"/>
          <a:lstStyle/>
          <a:p>
            <a:pPr algn="ctr" indent="0" marL="0">
              <a:buNone/>
            </a:pPr>
            <a:r>
              <a:rPr lang="en-US" sz="1000" b="1" dirty="0">
                <a:solidFill>
                  <a:schemeClr val="bg1"/>
                </a:solidFill>
              </a:rPr>
              <a:t>✓ Met</a:t>
            </a:r>
            <a:endParaRPr lang="en-US" sz="1000" dirty="0"/>
          </a:p>
        </p:txBody>
      </p:sp>
      <p:sp>
        <p:nvSpPr>
          <p:cNvPr id="34" name="text-297"/>
          <p:cNvSpPr txBox="1"/>
          <p:nvPr/>
        </p:nvSpPr>
        <p:spPr>
          <a:xfrm>
            <a:off x="3977640" y="2121408"/>
            <a:ext cx="1371600" cy="201168"/>
          </a:xfrm>
          <a:prstGeom prst="rect">
            <a:avLst/>
          </a:prstGeom>
          <a:noFill/>
          <a:ln/>
        </p:spPr>
        <p:txBody>
          <a:bodyPr wrap="square" lIns="0" tIns="0" rIns="0" bIns="0" rtlCol="0" anchor="t"/>
          <a:lstStyle/>
          <a:p>
            <a:pPr indent="0" marL="0">
              <a:buNone/>
            </a:pPr>
            <a:r>
              <a:rPr lang="en-US" sz="1000" b="1" spc="150" kern="0" dirty="0">
                <a:solidFill>
                  <a:schemeClr val="accent1"/>
                </a:solidFill>
              </a:rPr>
              <a:t>DEMO</a:t>
            </a:r>
            <a:endParaRPr lang="en-US" sz="1000" dirty="0"/>
          </a:p>
        </p:txBody>
      </p:sp>
      <p:sp>
        <p:nvSpPr>
          <p:cNvPr id="35" name="heat-298"/>
          <p:cNvSpPr/>
          <p:nvPr/>
        </p:nvSpPr>
        <p:spPr>
          <a:xfrm>
            <a:off x="3977640" y="2359152"/>
            <a:ext cx="150495" cy="150223"/>
          </a:xfrm>
          <a:prstGeom prst="rect">
            <a:avLst/>
          </a:prstGeom>
          <a:solidFill>
            <a:srgbClr val="FCD34D"/>
          </a:solidFill>
          <a:ln w="12700">
            <a:solidFill>
              <a:srgbClr val="FCD34D"/>
            </a:solidFill>
            <a:prstDash val="solid"/>
          </a:ln>
        </p:spPr>
      </p:sp>
      <p:sp>
        <p:nvSpPr>
          <p:cNvPr id="36" name="heat-299"/>
          <p:cNvSpPr/>
          <p:nvPr/>
        </p:nvSpPr>
        <p:spPr>
          <a:xfrm>
            <a:off x="4150995" y="2359152"/>
            <a:ext cx="150495" cy="150223"/>
          </a:xfrm>
          <a:prstGeom prst="rect">
            <a:avLst/>
          </a:prstGeom>
          <a:solidFill>
            <a:srgbClr val="FBBF24"/>
          </a:solidFill>
          <a:ln w="12700">
            <a:solidFill>
              <a:srgbClr val="FBBF24"/>
            </a:solidFill>
            <a:prstDash val="solid"/>
          </a:ln>
        </p:spPr>
      </p:sp>
      <p:sp>
        <p:nvSpPr>
          <p:cNvPr id="37" name="heat-300"/>
          <p:cNvSpPr/>
          <p:nvPr/>
        </p:nvSpPr>
        <p:spPr>
          <a:xfrm>
            <a:off x="4324350" y="2359152"/>
            <a:ext cx="150495" cy="150223"/>
          </a:xfrm>
          <a:prstGeom prst="rect">
            <a:avLst/>
          </a:prstGeom>
          <a:solidFill>
            <a:srgbClr val="F97316"/>
          </a:solidFill>
          <a:ln w="12700">
            <a:solidFill>
              <a:srgbClr val="F97316"/>
            </a:solidFill>
            <a:prstDash val="solid"/>
          </a:ln>
        </p:spPr>
      </p:sp>
      <p:sp>
        <p:nvSpPr>
          <p:cNvPr id="38" name="heat-301"/>
          <p:cNvSpPr/>
          <p:nvPr/>
        </p:nvSpPr>
        <p:spPr>
          <a:xfrm>
            <a:off x="4497705" y="2359152"/>
            <a:ext cx="150495" cy="150223"/>
          </a:xfrm>
          <a:prstGeom prst="rect">
            <a:avLst/>
          </a:prstGeom>
          <a:solidFill>
            <a:srgbClr val="F97316"/>
          </a:solidFill>
          <a:ln w="12700">
            <a:solidFill>
              <a:srgbClr val="F97316"/>
            </a:solidFill>
            <a:prstDash val="solid"/>
          </a:ln>
        </p:spPr>
      </p:sp>
      <p:sp>
        <p:nvSpPr>
          <p:cNvPr id="39" name="heat-302"/>
          <p:cNvSpPr/>
          <p:nvPr/>
        </p:nvSpPr>
        <p:spPr>
          <a:xfrm>
            <a:off x="4671060" y="2359152"/>
            <a:ext cx="150495" cy="150223"/>
          </a:xfrm>
          <a:prstGeom prst="rect">
            <a:avLst/>
          </a:prstGeom>
          <a:solidFill>
            <a:srgbClr val="F97316"/>
          </a:solidFill>
          <a:ln w="12700">
            <a:solidFill>
              <a:srgbClr val="F97316"/>
            </a:solidFill>
            <a:prstDash val="solid"/>
          </a:ln>
        </p:spPr>
      </p:sp>
      <p:sp>
        <p:nvSpPr>
          <p:cNvPr id="40" name="heat-303"/>
          <p:cNvSpPr/>
          <p:nvPr/>
        </p:nvSpPr>
        <p:spPr>
          <a:xfrm>
            <a:off x="4844415" y="2359152"/>
            <a:ext cx="150495" cy="150223"/>
          </a:xfrm>
          <a:prstGeom prst="rect">
            <a:avLst/>
          </a:prstGeom>
          <a:solidFill>
            <a:srgbClr val="FBBF24"/>
          </a:solidFill>
          <a:ln w="12700">
            <a:solidFill>
              <a:srgbClr val="FBBF24"/>
            </a:solidFill>
            <a:prstDash val="solid"/>
          </a:ln>
        </p:spPr>
      </p:sp>
      <p:sp>
        <p:nvSpPr>
          <p:cNvPr id="41" name="heat-304"/>
          <p:cNvSpPr/>
          <p:nvPr/>
        </p:nvSpPr>
        <p:spPr>
          <a:xfrm>
            <a:off x="5017770" y="2359152"/>
            <a:ext cx="150495" cy="150223"/>
          </a:xfrm>
          <a:prstGeom prst="rect">
            <a:avLst/>
          </a:prstGeom>
          <a:solidFill>
            <a:srgbClr val="FCD34D"/>
          </a:solidFill>
          <a:ln w="12700">
            <a:solidFill>
              <a:srgbClr val="FCD34D"/>
            </a:solidFill>
            <a:prstDash val="solid"/>
          </a:ln>
        </p:spPr>
      </p:sp>
      <p:sp>
        <p:nvSpPr>
          <p:cNvPr id="42" name="heat-305"/>
          <p:cNvSpPr/>
          <p:nvPr/>
        </p:nvSpPr>
        <p:spPr>
          <a:xfrm>
            <a:off x="5191125" y="2359152"/>
            <a:ext cx="150495" cy="150223"/>
          </a:xfrm>
          <a:prstGeom prst="rect">
            <a:avLst/>
          </a:prstGeom>
          <a:solidFill>
            <a:srgbClr val="FDE68A"/>
          </a:solidFill>
          <a:ln w="12700">
            <a:solidFill>
              <a:srgbClr val="FDE68A"/>
            </a:solidFill>
            <a:prstDash val="solid"/>
          </a:ln>
        </p:spPr>
      </p:sp>
      <p:sp>
        <p:nvSpPr>
          <p:cNvPr id="43" name="heat-306"/>
          <p:cNvSpPr/>
          <p:nvPr/>
        </p:nvSpPr>
        <p:spPr>
          <a:xfrm>
            <a:off x="5364480" y="2359152"/>
            <a:ext cx="150495" cy="150223"/>
          </a:xfrm>
          <a:prstGeom prst="rect">
            <a:avLst/>
          </a:prstGeom>
          <a:solidFill>
            <a:srgbClr val="FDE68A"/>
          </a:solidFill>
          <a:ln w="12700">
            <a:solidFill>
              <a:srgbClr val="FDE68A"/>
            </a:solidFill>
            <a:prstDash val="solid"/>
          </a:ln>
        </p:spPr>
      </p:sp>
      <p:sp>
        <p:nvSpPr>
          <p:cNvPr id="44" name="heat-307"/>
          <p:cNvSpPr/>
          <p:nvPr/>
        </p:nvSpPr>
        <p:spPr>
          <a:xfrm>
            <a:off x="5537835" y="2359152"/>
            <a:ext cx="150495" cy="150223"/>
          </a:xfrm>
          <a:prstGeom prst="rect">
            <a:avLst/>
          </a:prstGeom>
          <a:solidFill>
            <a:srgbClr val="FDE68A"/>
          </a:solidFill>
          <a:ln w="12700">
            <a:solidFill>
              <a:srgbClr val="FDE68A"/>
            </a:solidFill>
            <a:prstDash val="solid"/>
          </a:ln>
        </p:spPr>
      </p:sp>
      <p:sp>
        <p:nvSpPr>
          <p:cNvPr id="45" name="heat-308"/>
          <p:cNvSpPr/>
          <p:nvPr/>
        </p:nvSpPr>
        <p:spPr>
          <a:xfrm>
            <a:off x="5711190" y="2359152"/>
            <a:ext cx="150495" cy="150223"/>
          </a:xfrm>
          <a:prstGeom prst="rect">
            <a:avLst/>
          </a:prstGeom>
          <a:solidFill>
            <a:srgbClr val="FCD34D"/>
          </a:solidFill>
          <a:ln w="12700">
            <a:solidFill>
              <a:srgbClr val="FCD34D"/>
            </a:solidFill>
            <a:prstDash val="solid"/>
          </a:ln>
        </p:spPr>
      </p:sp>
      <p:sp>
        <p:nvSpPr>
          <p:cNvPr id="46" name="heat-309"/>
          <p:cNvSpPr/>
          <p:nvPr/>
        </p:nvSpPr>
        <p:spPr>
          <a:xfrm>
            <a:off x="5884545" y="2359152"/>
            <a:ext cx="150495" cy="150223"/>
          </a:xfrm>
          <a:prstGeom prst="rect">
            <a:avLst/>
          </a:prstGeom>
          <a:solidFill>
            <a:srgbClr val="FDE68A"/>
          </a:solidFill>
          <a:ln w="12700">
            <a:solidFill>
              <a:srgbClr val="FDE68A"/>
            </a:solidFill>
            <a:prstDash val="solid"/>
          </a:ln>
        </p:spPr>
      </p:sp>
      <p:sp>
        <p:nvSpPr>
          <p:cNvPr id="47" name="heat-310"/>
          <p:cNvSpPr/>
          <p:nvPr/>
        </p:nvSpPr>
        <p:spPr>
          <a:xfrm>
            <a:off x="3977640" y="2532235"/>
            <a:ext cx="150495" cy="150223"/>
          </a:xfrm>
          <a:prstGeom prst="rect">
            <a:avLst/>
          </a:prstGeom>
          <a:solidFill>
            <a:srgbClr val="FCD34D"/>
          </a:solidFill>
          <a:ln w="12700">
            <a:solidFill>
              <a:srgbClr val="FCD34D"/>
            </a:solidFill>
            <a:prstDash val="solid"/>
          </a:ln>
        </p:spPr>
      </p:sp>
      <p:sp>
        <p:nvSpPr>
          <p:cNvPr id="48" name="heat-311"/>
          <p:cNvSpPr/>
          <p:nvPr/>
        </p:nvSpPr>
        <p:spPr>
          <a:xfrm>
            <a:off x="4150995" y="2532235"/>
            <a:ext cx="150495" cy="150223"/>
          </a:xfrm>
          <a:prstGeom prst="rect">
            <a:avLst/>
          </a:prstGeom>
          <a:solidFill>
            <a:srgbClr val="F97316"/>
          </a:solidFill>
          <a:ln w="12700">
            <a:solidFill>
              <a:srgbClr val="F97316"/>
            </a:solidFill>
            <a:prstDash val="solid"/>
          </a:ln>
        </p:spPr>
      </p:sp>
      <p:sp>
        <p:nvSpPr>
          <p:cNvPr id="49" name="heat-312"/>
          <p:cNvSpPr/>
          <p:nvPr/>
        </p:nvSpPr>
        <p:spPr>
          <a:xfrm>
            <a:off x="4324350" y="2532235"/>
            <a:ext cx="150495" cy="150223"/>
          </a:xfrm>
          <a:prstGeom prst="rect">
            <a:avLst/>
          </a:prstGeom>
          <a:solidFill>
            <a:srgbClr val="EF4444"/>
          </a:solidFill>
          <a:ln w="12700">
            <a:solidFill>
              <a:srgbClr val="EF4444"/>
            </a:solidFill>
            <a:prstDash val="solid"/>
          </a:ln>
        </p:spPr>
      </p:sp>
      <p:sp>
        <p:nvSpPr>
          <p:cNvPr id="50" name="heat-313"/>
          <p:cNvSpPr/>
          <p:nvPr/>
        </p:nvSpPr>
        <p:spPr>
          <a:xfrm>
            <a:off x="4497705" y="2532235"/>
            <a:ext cx="150495" cy="150223"/>
          </a:xfrm>
          <a:prstGeom prst="rect">
            <a:avLst/>
          </a:prstGeom>
          <a:solidFill>
            <a:srgbClr val="EF4444"/>
          </a:solidFill>
          <a:ln w="12700">
            <a:solidFill>
              <a:srgbClr val="EF4444"/>
            </a:solidFill>
            <a:prstDash val="solid"/>
          </a:ln>
        </p:spPr>
      </p:sp>
      <p:sp>
        <p:nvSpPr>
          <p:cNvPr id="51" name="heat-314"/>
          <p:cNvSpPr/>
          <p:nvPr/>
        </p:nvSpPr>
        <p:spPr>
          <a:xfrm>
            <a:off x="4671060" y="2532235"/>
            <a:ext cx="150495" cy="150223"/>
          </a:xfrm>
          <a:prstGeom prst="rect">
            <a:avLst/>
          </a:prstGeom>
          <a:solidFill>
            <a:srgbClr val="EF4444"/>
          </a:solidFill>
          <a:ln w="12700">
            <a:solidFill>
              <a:srgbClr val="EF4444"/>
            </a:solidFill>
            <a:prstDash val="solid"/>
          </a:ln>
        </p:spPr>
      </p:sp>
      <p:sp>
        <p:nvSpPr>
          <p:cNvPr id="52" name="heat-315"/>
          <p:cNvSpPr/>
          <p:nvPr/>
        </p:nvSpPr>
        <p:spPr>
          <a:xfrm>
            <a:off x="4844415" y="2532235"/>
            <a:ext cx="150495" cy="150223"/>
          </a:xfrm>
          <a:prstGeom prst="rect">
            <a:avLst/>
          </a:prstGeom>
          <a:solidFill>
            <a:srgbClr val="F97316"/>
          </a:solidFill>
          <a:ln w="12700">
            <a:solidFill>
              <a:srgbClr val="F97316"/>
            </a:solidFill>
            <a:prstDash val="solid"/>
          </a:ln>
        </p:spPr>
      </p:sp>
      <p:sp>
        <p:nvSpPr>
          <p:cNvPr id="53" name="heat-316"/>
          <p:cNvSpPr/>
          <p:nvPr/>
        </p:nvSpPr>
        <p:spPr>
          <a:xfrm>
            <a:off x="5017770" y="2532235"/>
            <a:ext cx="150495" cy="150223"/>
          </a:xfrm>
          <a:prstGeom prst="rect">
            <a:avLst/>
          </a:prstGeom>
          <a:solidFill>
            <a:srgbClr val="FBBF24"/>
          </a:solidFill>
          <a:ln w="12700">
            <a:solidFill>
              <a:srgbClr val="FBBF24"/>
            </a:solidFill>
            <a:prstDash val="solid"/>
          </a:ln>
        </p:spPr>
      </p:sp>
      <p:sp>
        <p:nvSpPr>
          <p:cNvPr id="54" name="heat-317"/>
          <p:cNvSpPr/>
          <p:nvPr/>
        </p:nvSpPr>
        <p:spPr>
          <a:xfrm>
            <a:off x="5191125" y="2532235"/>
            <a:ext cx="150495" cy="150223"/>
          </a:xfrm>
          <a:prstGeom prst="rect">
            <a:avLst/>
          </a:prstGeom>
          <a:solidFill>
            <a:srgbClr val="FDE68A"/>
          </a:solidFill>
          <a:ln w="12700">
            <a:solidFill>
              <a:srgbClr val="FDE68A"/>
            </a:solidFill>
            <a:prstDash val="solid"/>
          </a:ln>
        </p:spPr>
      </p:sp>
      <p:sp>
        <p:nvSpPr>
          <p:cNvPr id="55" name="heat-318"/>
          <p:cNvSpPr/>
          <p:nvPr/>
        </p:nvSpPr>
        <p:spPr>
          <a:xfrm>
            <a:off x="5364480" y="2532235"/>
            <a:ext cx="150495" cy="150223"/>
          </a:xfrm>
          <a:prstGeom prst="rect">
            <a:avLst/>
          </a:prstGeom>
          <a:solidFill>
            <a:srgbClr val="FCD34D"/>
          </a:solidFill>
          <a:ln w="12700">
            <a:solidFill>
              <a:srgbClr val="FCD34D"/>
            </a:solidFill>
            <a:prstDash val="solid"/>
          </a:ln>
        </p:spPr>
      </p:sp>
      <p:sp>
        <p:nvSpPr>
          <p:cNvPr id="56" name="heat-319"/>
          <p:cNvSpPr/>
          <p:nvPr/>
        </p:nvSpPr>
        <p:spPr>
          <a:xfrm>
            <a:off x="5537835" y="2532235"/>
            <a:ext cx="150495" cy="150223"/>
          </a:xfrm>
          <a:prstGeom prst="rect">
            <a:avLst/>
          </a:prstGeom>
          <a:solidFill>
            <a:srgbClr val="FCD34D"/>
          </a:solidFill>
          <a:ln w="12700">
            <a:solidFill>
              <a:srgbClr val="FCD34D"/>
            </a:solidFill>
            <a:prstDash val="solid"/>
          </a:ln>
        </p:spPr>
      </p:sp>
      <p:sp>
        <p:nvSpPr>
          <p:cNvPr id="57" name="heat-320"/>
          <p:cNvSpPr/>
          <p:nvPr/>
        </p:nvSpPr>
        <p:spPr>
          <a:xfrm>
            <a:off x="5711190" y="2532235"/>
            <a:ext cx="150495" cy="150223"/>
          </a:xfrm>
          <a:prstGeom prst="rect">
            <a:avLst/>
          </a:prstGeom>
          <a:solidFill>
            <a:srgbClr val="FCD34D"/>
          </a:solidFill>
          <a:ln w="12700">
            <a:solidFill>
              <a:srgbClr val="FCD34D"/>
            </a:solidFill>
            <a:prstDash val="solid"/>
          </a:ln>
        </p:spPr>
      </p:sp>
      <p:sp>
        <p:nvSpPr>
          <p:cNvPr id="58" name="heat-321"/>
          <p:cNvSpPr/>
          <p:nvPr/>
        </p:nvSpPr>
        <p:spPr>
          <a:xfrm>
            <a:off x="5884545" y="2532235"/>
            <a:ext cx="150495" cy="150223"/>
          </a:xfrm>
          <a:prstGeom prst="rect">
            <a:avLst/>
          </a:prstGeom>
          <a:solidFill>
            <a:srgbClr val="FCD34D"/>
          </a:solidFill>
          <a:ln w="12700">
            <a:solidFill>
              <a:srgbClr val="FCD34D"/>
            </a:solidFill>
            <a:prstDash val="solid"/>
          </a:ln>
        </p:spPr>
      </p:sp>
      <p:sp>
        <p:nvSpPr>
          <p:cNvPr id="59" name="heat-322"/>
          <p:cNvSpPr/>
          <p:nvPr/>
        </p:nvSpPr>
        <p:spPr>
          <a:xfrm>
            <a:off x="3977640" y="2705318"/>
            <a:ext cx="150495" cy="150223"/>
          </a:xfrm>
          <a:prstGeom prst="rect">
            <a:avLst/>
          </a:prstGeom>
          <a:solidFill>
            <a:srgbClr val="FCD34D"/>
          </a:solidFill>
          <a:ln w="12700">
            <a:solidFill>
              <a:srgbClr val="FCD34D"/>
            </a:solidFill>
            <a:prstDash val="solid"/>
          </a:ln>
        </p:spPr>
      </p:sp>
      <p:sp>
        <p:nvSpPr>
          <p:cNvPr id="60" name="heat-323"/>
          <p:cNvSpPr/>
          <p:nvPr/>
        </p:nvSpPr>
        <p:spPr>
          <a:xfrm>
            <a:off x="4150995" y="2705318"/>
            <a:ext cx="150495" cy="150223"/>
          </a:xfrm>
          <a:prstGeom prst="rect">
            <a:avLst/>
          </a:prstGeom>
          <a:solidFill>
            <a:srgbClr val="F97316"/>
          </a:solidFill>
          <a:ln w="12700">
            <a:solidFill>
              <a:srgbClr val="F97316"/>
            </a:solidFill>
            <a:prstDash val="solid"/>
          </a:ln>
        </p:spPr>
      </p:sp>
      <p:sp>
        <p:nvSpPr>
          <p:cNvPr id="61" name="heat-324"/>
          <p:cNvSpPr/>
          <p:nvPr/>
        </p:nvSpPr>
        <p:spPr>
          <a:xfrm>
            <a:off x="4324350" y="2705318"/>
            <a:ext cx="150495" cy="150223"/>
          </a:xfrm>
          <a:prstGeom prst="rect">
            <a:avLst/>
          </a:prstGeom>
          <a:solidFill>
            <a:srgbClr val="B91C1C"/>
          </a:solidFill>
          <a:ln w="12700">
            <a:solidFill>
              <a:srgbClr val="B91C1C"/>
            </a:solidFill>
            <a:prstDash val="solid"/>
          </a:ln>
        </p:spPr>
      </p:sp>
      <p:sp>
        <p:nvSpPr>
          <p:cNvPr id="62" name="heat-325"/>
          <p:cNvSpPr/>
          <p:nvPr/>
        </p:nvSpPr>
        <p:spPr>
          <a:xfrm>
            <a:off x="4497705" y="2705318"/>
            <a:ext cx="150495" cy="150223"/>
          </a:xfrm>
          <a:prstGeom prst="rect">
            <a:avLst/>
          </a:prstGeom>
          <a:solidFill>
            <a:srgbClr val="B91C1C"/>
          </a:solidFill>
          <a:ln w="12700">
            <a:solidFill>
              <a:srgbClr val="B91C1C"/>
            </a:solidFill>
            <a:prstDash val="solid"/>
          </a:ln>
        </p:spPr>
      </p:sp>
      <p:sp>
        <p:nvSpPr>
          <p:cNvPr id="63" name="heat-326"/>
          <p:cNvSpPr/>
          <p:nvPr/>
        </p:nvSpPr>
        <p:spPr>
          <a:xfrm>
            <a:off x="4671060" y="2705318"/>
            <a:ext cx="150495" cy="150223"/>
          </a:xfrm>
          <a:prstGeom prst="rect">
            <a:avLst/>
          </a:prstGeom>
          <a:solidFill>
            <a:srgbClr val="EF4444"/>
          </a:solidFill>
          <a:ln w="12700">
            <a:solidFill>
              <a:srgbClr val="EF4444"/>
            </a:solidFill>
            <a:prstDash val="solid"/>
          </a:ln>
        </p:spPr>
      </p:sp>
      <p:sp>
        <p:nvSpPr>
          <p:cNvPr id="64" name="heat-327"/>
          <p:cNvSpPr/>
          <p:nvPr/>
        </p:nvSpPr>
        <p:spPr>
          <a:xfrm>
            <a:off x="4844415" y="2705318"/>
            <a:ext cx="150495" cy="150223"/>
          </a:xfrm>
          <a:prstGeom prst="rect">
            <a:avLst/>
          </a:prstGeom>
          <a:solidFill>
            <a:srgbClr val="F97316"/>
          </a:solidFill>
          <a:ln w="12700">
            <a:solidFill>
              <a:srgbClr val="F97316"/>
            </a:solidFill>
            <a:prstDash val="solid"/>
          </a:ln>
        </p:spPr>
      </p:sp>
      <p:sp>
        <p:nvSpPr>
          <p:cNvPr id="65" name="heat-328"/>
          <p:cNvSpPr/>
          <p:nvPr/>
        </p:nvSpPr>
        <p:spPr>
          <a:xfrm>
            <a:off x="5017770" y="2705318"/>
            <a:ext cx="150495" cy="150223"/>
          </a:xfrm>
          <a:prstGeom prst="rect">
            <a:avLst/>
          </a:prstGeom>
          <a:solidFill>
            <a:srgbClr val="FCD34D"/>
          </a:solidFill>
          <a:ln w="12700">
            <a:solidFill>
              <a:srgbClr val="FCD34D"/>
            </a:solidFill>
            <a:prstDash val="solid"/>
          </a:ln>
        </p:spPr>
      </p:sp>
      <p:sp>
        <p:nvSpPr>
          <p:cNvPr id="66" name="heat-329"/>
          <p:cNvSpPr/>
          <p:nvPr/>
        </p:nvSpPr>
        <p:spPr>
          <a:xfrm>
            <a:off x="5191125" y="2705318"/>
            <a:ext cx="150495" cy="150223"/>
          </a:xfrm>
          <a:prstGeom prst="rect">
            <a:avLst/>
          </a:prstGeom>
          <a:solidFill>
            <a:srgbClr val="FBBF24"/>
          </a:solidFill>
          <a:ln w="12700">
            <a:solidFill>
              <a:srgbClr val="FBBF24"/>
            </a:solidFill>
            <a:prstDash val="solid"/>
          </a:ln>
        </p:spPr>
      </p:sp>
      <p:sp>
        <p:nvSpPr>
          <p:cNvPr id="67" name="heat-330"/>
          <p:cNvSpPr/>
          <p:nvPr/>
        </p:nvSpPr>
        <p:spPr>
          <a:xfrm>
            <a:off x="5364480" y="2705318"/>
            <a:ext cx="150495" cy="150223"/>
          </a:xfrm>
          <a:prstGeom prst="rect">
            <a:avLst/>
          </a:prstGeom>
          <a:solidFill>
            <a:srgbClr val="FBBF24"/>
          </a:solidFill>
          <a:ln w="12700">
            <a:solidFill>
              <a:srgbClr val="FBBF24"/>
            </a:solidFill>
            <a:prstDash val="solid"/>
          </a:ln>
        </p:spPr>
      </p:sp>
      <p:sp>
        <p:nvSpPr>
          <p:cNvPr id="68" name="heat-331"/>
          <p:cNvSpPr/>
          <p:nvPr/>
        </p:nvSpPr>
        <p:spPr>
          <a:xfrm>
            <a:off x="5537835" y="2705318"/>
            <a:ext cx="150495" cy="150223"/>
          </a:xfrm>
          <a:prstGeom prst="rect">
            <a:avLst/>
          </a:prstGeom>
          <a:solidFill>
            <a:srgbClr val="FBBF24"/>
          </a:solidFill>
          <a:ln w="12700">
            <a:solidFill>
              <a:srgbClr val="FBBF24"/>
            </a:solidFill>
            <a:prstDash val="solid"/>
          </a:ln>
        </p:spPr>
      </p:sp>
      <p:sp>
        <p:nvSpPr>
          <p:cNvPr id="69" name="heat-332"/>
          <p:cNvSpPr/>
          <p:nvPr/>
        </p:nvSpPr>
        <p:spPr>
          <a:xfrm>
            <a:off x="5711190" y="2705318"/>
            <a:ext cx="150495" cy="150223"/>
          </a:xfrm>
          <a:prstGeom prst="rect">
            <a:avLst/>
          </a:prstGeom>
          <a:solidFill>
            <a:srgbClr val="FBBF24"/>
          </a:solidFill>
          <a:ln w="12700">
            <a:solidFill>
              <a:srgbClr val="FBBF24"/>
            </a:solidFill>
            <a:prstDash val="solid"/>
          </a:ln>
        </p:spPr>
      </p:sp>
      <p:sp>
        <p:nvSpPr>
          <p:cNvPr id="70" name="heat-333"/>
          <p:cNvSpPr/>
          <p:nvPr/>
        </p:nvSpPr>
        <p:spPr>
          <a:xfrm>
            <a:off x="5884545" y="2705318"/>
            <a:ext cx="150495" cy="150223"/>
          </a:xfrm>
          <a:prstGeom prst="rect">
            <a:avLst/>
          </a:prstGeom>
          <a:solidFill>
            <a:srgbClr val="FCD34D"/>
          </a:solidFill>
          <a:ln w="12700">
            <a:solidFill>
              <a:srgbClr val="FCD34D"/>
            </a:solidFill>
            <a:prstDash val="solid"/>
          </a:ln>
        </p:spPr>
      </p:sp>
      <p:sp>
        <p:nvSpPr>
          <p:cNvPr id="71" name="heat-334"/>
          <p:cNvSpPr/>
          <p:nvPr/>
        </p:nvSpPr>
        <p:spPr>
          <a:xfrm>
            <a:off x="3977640" y="2878401"/>
            <a:ext cx="150495" cy="150223"/>
          </a:xfrm>
          <a:prstGeom prst="rect">
            <a:avLst/>
          </a:prstGeom>
          <a:solidFill>
            <a:srgbClr val="FCD34D"/>
          </a:solidFill>
          <a:ln w="12700">
            <a:solidFill>
              <a:srgbClr val="FCD34D"/>
            </a:solidFill>
            <a:prstDash val="solid"/>
          </a:ln>
        </p:spPr>
      </p:sp>
      <p:sp>
        <p:nvSpPr>
          <p:cNvPr id="72" name="heat-335"/>
          <p:cNvSpPr/>
          <p:nvPr/>
        </p:nvSpPr>
        <p:spPr>
          <a:xfrm>
            <a:off x="4150995" y="2878401"/>
            <a:ext cx="150495" cy="150223"/>
          </a:xfrm>
          <a:prstGeom prst="rect">
            <a:avLst/>
          </a:prstGeom>
          <a:solidFill>
            <a:srgbClr val="F97316"/>
          </a:solidFill>
          <a:ln w="12700">
            <a:solidFill>
              <a:srgbClr val="F97316"/>
            </a:solidFill>
            <a:prstDash val="solid"/>
          </a:ln>
        </p:spPr>
      </p:sp>
      <p:sp>
        <p:nvSpPr>
          <p:cNvPr id="73" name="heat-336"/>
          <p:cNvSpPr/>
          <p:nvPr/>
        </p:nvSpPr>
        <p:spPr>
          <a:xfrm>
            <a:off x="4324350" y="2878401"/>
            <a:ext cx="150495" cy="150223"/>
          </a:xfrm>
          <a:prstGeom prst="rect">
            <a:avLst/>
          </a:prstGeom>
          <a:solidFill>
            <a:srgbClr val="EF4444"/>
          </a:solidFill>
          <a:ln w="12700">
            <a:solidFill>
              <a:srgbClr val="EF4444"/>
            </a:solidFill>
            <a:prstDash val="solid"/>
          </a:ln>
        </p:spPr>
      </p:sp>
      <p:sp>
        <p:nvSpPr>
          <p:cNvPr id="74" name="heat-337"/>
          <p:cNvSpPr/>
          <p:nvPr/>
        </p:nvSpPr>
        <p:spPr>
          <a:xfrm>
            <a:off x="4497705" y="2878401"/>
            <a:ext cx="150495" cy="150223"/>
          </a:xfrm>
          <a:prstGeom prst="rect">
            <a:avLst/>
          </a:prstGeom>
          <a:solidFill>
            <a:srgbClr val="B91C1C"/>
          </a:solidFill>
          <a:ln w="12700">
            <a:solidFill>
              <a:srgbClr val="B91C1C"/>
            </a:solidFill>
            <a:prstDash val="solid"/>
          </a:ln>
        </p:spPr>
      </p:sp>
      <p:sp>
        <p:nvSpPr>
          <p:cNvPr id="75" name="heat-338"/>
          <p:cNvSpPr/>
          <p:nvPr/>
        </p:nvSpPr>
        <p:spPr>
          <a:xfrm>
            <a:off x="4671060" y="2878401"/>
            <a:ext cx="150495" cy="150223"/>
          </a:xfrm>
          <a:prstGeom prst="rect">
            <a:avLst/>
          </a:prstGeom>
          <a:solidFill>
            <a:srgbClr val="EF4444"/>
          </a:solidFill>
          <a:ln w="12700">
            <a:solidFill>
              <a:srgbClr val="EF4444"/>
            </a:solidFill>
            <a:prstDash val="solid"/>
          </a:ln>
        </p:spPr>
      </p:sp>
      <p:sp>
        <p:nvSpPr>
          <p:cNvPr id="76" name="heat-339"/>
          <p:cNvSpPr/>
          <p:nvPr/>
        </p:nvSpPr>
        <p:spPr>
          <a:xfrm>
            <a:off x="4844415" y="2878401"/>
            <a:ext cx="150495" cy="150223"/>
          </a:xfrm>
          <a:prstGeom prst="rect">
            <a:avLst/>
          </a:prstGeom>
          <a:solidFill>
            <a:srgbClr val="F97316"/>
          </a:solidFill>
          <a:ln w="12700">
            <a:solidFill>
              <a:srgbClr val="F97316"/>
            </a:solidFill>
            <a:prstDash val="solid"/>
          </a:ln>
        </p:spPr>
      </p:sp>
      <p:sp>
        <p:nvSpPr>
          <p:cNvPr id="77" name="heat-340"/>
          <p:cNvSpPr/>
          <p:nvPr/>
        </p:nvSpPr>
        <p:spPr>
          <a:xfrm>
            <a:off x="5017770" y="2878401"/>
            <a:ext cx="150495" cy="150223"/>
          </a:xfrm>
          <a:prstGeom prst="rect">
            <a:avLst/>
          </a:prstGeom>
          <a:solidFill>
            <a:srgbClr val="FCD34D"/>
          </a:solidFill>
          <a:ln w="12700">
            <a:solidFill>
              <a:srgbClr val="FCD34D"/>
            </a:solidFill>
            <a:prstDash val="solid"/>
          </a:ln>
        </p:spPr>
      </p:sp>
      <p:sp>
        <p:nvSpPr>
          <p:cNvPr id="78" name="heat-341"/>
          <p:cNvSpPr/>
          <p:nvPr/>
        </p:nvSpPr>
        <p:spPr>
          <a:xfrm>
            <a:off x="5191125" y="2878401"/>
            <a:ext cx="150495" cy="150223"/>
          </a:xfrm>
          <a:prstGeom prst="rect">
            <a:avLst/>
          </a:prstGeom>
          <a:solidFill>
            <a:srgbClr val="FBBF24"/>
          </a:solidFill>
          <a:ln w="12700">
            <a:solidFill>
              <a:srgbClr val="FBBF24"/>
            </a:solidFill>
            <a:prstDash val="solid"/>
          </a:ln>
        </p:spPr>
      </p:sp>
      <p:sp>
        <p:nvSpPr>
          <p:cNvPr id="79" name="heat-342"/>
          <p:cNvSpPr/>
          <p:nvPr/>
        </p:nvSpPr>
        <p:spPr>
          <a:xfrm>
            <a:off x="5364480" y="2878401"/>
            <a:ext cx="150495" cy="150223"/>
          </a:xfrm>
          <a:prstGeom prst="rect">
            <a:avLst/>
          </a:prstGeom>
          <a:solidFill>
            <a:srgbClr val="F97316"/>
          </a:solidFill>
          <a:ln w="12700">
            <a:solidFill>
              <a:srgbClr val="F97316"/>
            </a:solidFill>
            <a:prstDash val="solid"/>
          </a:ln>
        </p:spPr>
      </p:sp>
      <p:sp>
        <p:nvSpPr>
          <p:cNvPr id="80" name="heat-343"/>
          <p:cNvSpPr/>
          <p:nvPr/>
        </p:nvSpPr>
        <p:spPr>
          <a:xfrm>
            <a:off x="5537835" y="2878401"/>
            <a:ext cx="150495" cy="150223"/>
          </a:xfrm>
          <a:prstGeom prst="rect">
            <a:avLst/>
          </a:prstGeom>
          <a:solidFill>
            <a:srgbClr val="F97316"/>
          </a:solidFill>
          <a:ln w="12700">
            <a:solidFill>
              <a:srgbClr val="F97316"/>
            </a:solidFill>
            <a:prstDash val="solid"/>
          </a:ln>
        </p:spPr>
      </p:sp>
      <p:sp>
        <p:nvSpPr>
          <p:cNvPr id="81" name="heat-344"/>
          <p:cNvSpPr/>
          <p:nvPr/>
        </p:nvSpPr>
        <p:spPr>
          <a:xfrm>
            <a:off x="5711190" y="2878401"/>
            <a:ext cx="150495" cy="150223"/>
          </a:xfrm>
          <a:prstGeom prst="rect">
            <a:avLst/>
          </a:prstGeom>
          <a:solidFill>
            <a:srgbClr val="F97316"/>
          </a:solidFill>
          <a:ln w="12700">
            <a:solidFill>
              <a:srgbClr val="F97316"/>
            </a:solidFill>
            <a:prstDash val="solid"/>
          </a:ln>
        </p:spPr>
      </p:sp>
      <p:sp>
        <p:nvSpPr>
          <p:cNvPr id="82" name="heat-345"/>
          <p:cNvSpPr/>
          <p:nvPr/>
        </p:nvSpPr>
        <p:spPr>
          <a:xfrm>
            <a:off x="5884545" y="2878401"/>
            <a:ext cx="150495" cy="150223"/>
          </a:xfrm>
          <a:prstGeom prst="rect">
            <a:avLst/>
          </a:prstGeom>
          <a:solidFill>
            <a:srgbClr val="FBBF24"/>
          </a:solidFill>
          <a:ln w="12700">
            <a:solidFill>
              <a:srgbClr val="FBBF24"/>
            </a:solidFill>
            <a:prstDash val="solid"/>
          </a:ln>
        </p:spPr>
      </p:sp>
      <p:sp>
        <p:nvSpPr>
          <p:cNvPr id="83" name="heat-346"/>
          <p:cNvSpPr/>
          <p:nvPr/>
        </p:nvSpPr>
        <p:spPr>
          <a:xfrm>
            <a:off x="3977640" y="3051483"/>
            <a:ext cx="150495" cy="150223"/>
          </a:xfrm>
          <a:prstGeom prst="rect">
            <a:avLst/>
          </a:prstGeom>
          <a:solidFill>
            <a:srgbClr val="FCD34D"/>
          </a:solidFill>
          <a:ln w="12700">
            <a:solidFill>
              <a:srgbClr val="FCD34D"/>
            </a:solidFill>
            <a:prstDash val="solid"/>
          </a:ln>
        </p:spPr>
      </p:sp>
      <p:sp>
        <p:nvSpPr>
          <p:cNvPr id="84" name="heat-347"/>
          <p:cNvSpPr/>
          <p:nvPr/>
        </p:nvSpPr>
        <p:spPr>
          <a:xfrm>
            <a:off x="4150995" y="3051483"/>
            <a:ext cx="150495" cy="150223"/>
          </a:xfrm>
          <a:prstGeom prst="rect">
            <a:avLst/>
          </a:prstGeom>
          <a:solidFill>
            <a:srgbClr val="FBBF24"/>
          </a:solidFill>
          <a:ln w="12700">
            <a:solidFill>
              <a:srgbClr val="FBBF24"/>
            </a:solidFill>
            <a:prstDash val="solid"/>
          </a:ln>
        </p:spPr>
      </p:sp>
      <p:sp>
        <p:nvSpPr>
          <p:cNvPr id="85" name="heat-348"/>
          <p:cNvSpPr/>
          <p:nvPr/>
        </p:nvSpPr>
        <p:spPr>
          <a:xfrm>
            <a:off x="4324350" y="3051483"/>
            <a:ext cx="150495" cy="150223"/>
          </a:xfrm>
          <a:prstGeom prst="rect">
            <a:avLst/>
          </a:prstGeom>
          <a:solidFill>
            <a:srgbClr val="F97316"/>
          </a:solidFill>
          <a:ln w="12700">
            <a:solidFill>
              <a:srgbClr val="F97316"/>
            </a:solidFill>
            <a:prstDash val="solid"/>
          </a:ln>
        </p:spPr>
      </p:sp>
      <p:sp>
        <p:nvSpPr>
          <p:cNvPr id="86" name="heat-349"/>
          <p:cNvSpPr/>
          <p:nvPr/>
        </p:nvSpPr>
        <p:spPr>
          <a:xfrm>
            <a:off x="4497705" y="3051483"/>
            <a:ext cx="150495" cy="150223"/>
          </a:xfrm>
          <a:prstGeom prst="rect">
            <a:avLst/>
          </a:prstGeom>
          <a:solidFill>
            <a:srgbClr val="F97316"/>
          </a:solidFill>
          <a:ln w="12700">
            <a:solidFill>
              <a:srgbClr val="F97316"/>
            </a:solidFill>
            <a:prstDash val="solid"/>
          </a:ln>
        </p:spPr>
      </p:sp>
      <p:sp>
        <p:nvSpPr>
          <p:cNvPr id="87" name="heat-350"/>
          <p:cNvSpPr/>
          <p:nvPr/>
        </p:nvSpPr>
        <p:spPr>
          <a:xfrm>
            <a:off x="4671060" y="3051483"/>
            <a:ext cx="150495" cy="150223"/>
          </a:xfrm>
          <a:prstGeom prst="rect">
            <a:avLst/>
          </a:prstGeom>
          <a:solidFill>
            <a:srgbClr val="F97316"/>
          </a:solidFill>
          <a:ln w="12700">
            <a:solidFill>
              <a:srgbClr val="F97316"/>
            </a:solidFill>
            <a:prstDash val="solid"/>
          </a:ln>
        </p:spPr>
      </p:sp>
      <p:sp>
        <p:nvSpPr>
          <p:cNvPr id="88" name="heat-351"/>
          <p:cNvSpPr/>
          <p:nvPr/>
        </p:nvSpPr>
        <p:spPr>
          <a:xfrm>
            <a:off x="4844415" y="3051483"/>
            <a:ext cx="150495" cy="150223"/>
          </a:xfrm>
          <a:prstGeom prst="rect">
            <a:avLst/>
          </a:prstGeom>
          <a:solidFill>
            <a:srgbClr val="FBBF24"/>
          </a:solidFill>
          <a:ln w="12700">
            <a:solidFill>
              <a:srgbClr val="FBBF24"/>
            </a:solidFill>
            <a:prstDash val="solid"/>
          </a:ln>
        </p:spPr>
      </p:sp>
      <p:sp>
        <p:nvSpPr>
          <p:cNvPr id="89" name="heat-352"/>
          <p:cNvSpPr/>
          <p:nvPr/>
        </p:nvSpPr>
        <p:spPr>
          <a:xfrm>
            <a:off x="5017770" y="3051483"/>
            <a:ext cx="150495" cy="150223"/>
          </a:xfrm>
          <a:prstGeom prst="rect">
            <a:avLst/>
          </a:prstGeom>
          <a:solidFill>
            <a:srgbClr val="FCD34D"/>
          </a:solidFill>
          <a:ln w="12700">
            <a:solidFill>
              <a:srgbClr val="FCD34D"/>
            </a:solidFill>
            <a:prstDash val="solid"/>
          </a:ln>
        </p:spPr>
      </p:sp>
      <p:sp>
        <p:nvSpPr>
          <p:cNvPr id="90" name="heat-353"/>
          <p:cNvSpPr/>
          <p:nvPr/>
        </p:nvSpPr>
        <p:spPr>
          <a:xfrm>
            <a:off x="5191125" y="3051483"/>
            <a:ext cx="150495" cy="150223"/>
          </a:xfrm>
          <a:prstGeom prst="rect">
            <a:avLst/>
          </a:prstGeom>
          <a:solidFill>
            <a:srgbClr val="FBBF24"/>
          </a:solidFill>
          <a:ln w="12700">
            <a:solidFill>
              <a:srgbClr val="FBBF24"/>
            </a:solidFill>
            <a:prstDash val="solid"/>
          </a:ln>
        </p:spPr>
      </p:sp>
      <p:sp>
        <p:nvSpPr>
          <p:cNvPr id="91" name="heat-354"/>
          <p:cNvSpPr/>
          <p:nvPr/>
        </p:nvSpPr>
        <p:spPr>
          <a:xfrm>
            <a:off x="5364480" y="3051483"/>
            <a:ext cx="150495" cy="150223"/>
          </a:xfrm>
          <a:prstGeom prst="rect">
            <a:avLst/>
          </a:prstGeom>
          <a:solidFill>
            <a:srgbClr val="F97316"/>
          </a:solidFill>
          <a:ln w="12700">
            <a:solidFill>
              <a:srgbClr val="F97316"/>
            </a:solidFill>
            <a:prstDash val="solid"/>
          </a:ln>
        </p:spPr>
      </p:sp>
      <p:sp>
        <p:nvSpPr>
          <p:cNvPr id="92" name="heat-355"/>
          <p:cNvSpPr/>
          <p:nvPr/>
        </p:nvSpPr>
        <p:spPr>
          <a:xfrm>
            <a:off x="5537835" y="3051483"/>
            <a:ext cx="150495" cy="150223"/>
          </a:xfrm>
          <a:prstGeom prst="rect">
            <a:avLst/>
          </a:prstGeom>
          <a:solidFill>
            <a:srgbClr val="EF4444"/>
          </a:solidFill>
          <a:ln w="12700">
            <a:solidFill>
              <a:srgbClr val="EF4444"/>
            </a:solidFill>
            <a:prstDash val="solid"/>
          </a:ln>
        </p:spPr>
      </p:sp>
      <p:sp>
        <p:nvSpPr>
          <p:cNvPr id="93" name="heat-356"/>
          <p:cNvSpPr/>
          <p:nvPr/>
        </p:nvSpPr>
        <p:spPr>
          <a:xfrm>
            <a:off x="5711190" y="3051483"/>
            <a:ext cx="150495" cy="150223"/>
          </a:xfrm>
          <a:prstGeom prst="rect">
            <a:avLst/>
          </a:prstGeom>
          <a:solidFill>
            <a:srgbClr val="F97316"/>
          </a:solidFill>
          <a:ln w="12700">
            <a:solidFill>
              <a:srgbClr val="F97316"/>
            </a:solidFill>
            <a:prstDash val="solid"/>
          </a:ln>
        </p:spPr>
      </p:sp>
      <p:sp>
        <p:nvSpPr>
          <p:cNvPr id="94" name="heat-357"/>
          <p:cNvSpPr/>
          <p:nvPr/>
        </p:nvSpPr>
        <p:spPr>
          <a:xfrm>
            <a:off x="5884545" y="3051483"/>
            <a:ext cx="150495" cy="150223"/>
          </a:xfrm>
          <a:prstGeom prst="rect">
            <a:avLst/>
          </a:prstGeom>
          <a:solidFill>
            <a:srgbClr val="FBBF24"/>
          </a:solidFill>
          <a:ln w="12700">
            <a:solidFill>
              <a:srgbClr val="FBBF24"/>
            </a:solidFill>
            <a:prstDash val="solid"/>
          </a:ln>
        </p:spPr>
      </p:sp>
      <p:sp>
        <p:nvSpPr>
          <p:cNvPr id="95" name="heat-358"/>
          <p:cNvSpPr/>
          <p:nvPr/>
        </p:nvSpPr>
        <p:spPr>
          <a:xfrm>
            <a:off x="3977640" y="3224566"/>
            <a:ext cx="150495" cy="150223"/>
          </a:xfrm>
          <a:prstGeom prst="rect">
            <a:avLst/>
          </a:prstGeom>
          <a:solidFill>
            <a:srgbClr val="FCD34D"/>
          </a:solidFill>
          <a:ln w="12700">
            <a:solidFill>
              <a:srgbClr val="FCD34D"/>
            </a:solidFill>
            <a:prstDash val="solid"/>
          </a:ln>
        </p:spPr>
      </p:sp>
      <p:sp>
        <p:nvSpPr>
          <p:cNvPr id="96" name="heat-359"/>
          <p:cNvSpPr/>
          <p:nvPr/>
        </p:nvSpPr>
        <p:spPr>
          <a:xfrm>
            <a:off x="4150995" y="3224566"/>
            <a:ext cx="150495" cy="150223"/>
          </a:xfrm>
          <a:prstGeom prst="rect">
            <a:avLst/>
          </a:prstGeom>
          <a:solidFill>
            <a:srgbClr val="FCD34D"/>
          </a:solidFill>
          <a:ln w="12700">
            <a:solidFill>
              <a:srgbClr val="FCD34D"/>
            </a:solidFill>
            <a:prstDash val="solid"/>
          </a:ln>
        </p:spPr>
      </p:sp>
      <p:sp>
        <p:nvSpPr>
          <p:cNvPr id="97" name="heat-360"/>
          <p:cNvSpPr/>
          <p:nvPr/>
        </p:nvSpPr>
        <p:spPr>
          <a:xfrm>
            <a:off x="4324350" y="3224566"/>
            <a:ext cx="150495" cy="150223"/>
          </a:xfrm>
          <a:prstGeom prst="rect">
            <a:avLst/>
          </a:prstGeom>
          <a:solidFill>
            <a:srgbClr val="FCD34D"/>
          </a:solidFill>
          <a:ln w="12700">
            <a:solidFill>
              <a:srgbClr val="FCD34D"/>
            </a:solidFill>
            <a:prstDash val="solid"/>
          </a:ln>
        </p:spPr>
      </p:sp>
      <p:sp>
        <p:nvSpPr>
          <p:cNvPr id="98" name="heat-361"/>
          <p:cNvSpPr/>
          <p:nvPr/>
        </p:nvSpPr>
        <p:spPr>
          <a:xfrm>
            <a:off x="4497705" y="3224566"/>
            <a:ext cx="150495" cy="150223"/>
          </a:xfrm>
          <a:prstGeom prst="rect">
            <a:avLst/>
          </a:prstGeom>
          <a:solidFill>
            <a:srgbClr val="FCD34D"/>
          </a:solidFill>
          <a:ln w="12700">
            <a:solidFill>
              <a:srgbClr val="FCD34D"/>
            </a:solidFill>
            <a:prstDash val="solid"/>
          </a:ln>
        </p:spPr>
      </p:sp>
      <p:sp>
        <p:nvSpPr>
          <p:cNvPr id="99" name="heat-362"/>
          <p:cNvSpPr/>
          <p:nvPr/>
        </p:nvSpPr>
        <p:spPr>
          <a:xfrm>
            <a:off x="4671060" y="3224566"/>
            <a:ext cx="150495" cy="150223"/>
          </a:xfrm>
          <a:prstGeom prst="rect">
            <a:avLst/>
          </a:prstGeom>
          <a:solidFill>
            <a:srgbClr val="FCD34D"/>
          </a:solidFill>
          <a:ln w="12700">
            <a:solidFill>
              <a:srgbClr val="FCD34D"/>
            </a:solidFill>
            <a:prstDash val="solid"/>
          </a:ln>
        </p:spPr>
      </p:sp>
      <p:sp>
        <p:nvSpPr>
          <p:cNvPr id="100" name="heat-363"/>
          <p:cNvSpPr/>
          <p:nvPr/>
        </p:nvSpPr>
        <p:spPr>
          <a:xfrm>
            <a:off x="4844415" y="3224566"/>
            <a:ext cx="150495" cy="150223"/>
          </a:xfrm>
          <a:prstGeom prst="rect">
            <a:avLst/>
          </a:prstGeom>
          <a:solidFill>
            <a:srgbClr val="FCD34D"/>
          </a:solidFill>
          <a:ln w="12700">
            <a:solidFill>
              <a:srgbClr val="FCD34D"/>
            </a:solidFill>
            <a:prstDash val="solid"/>
          </a:ln>
        </p:spPr>
      </p:sp>
      <p:sp>
        <p:nvSpPr>
          <p:cNvPr id="101" name="heat-364"/>
          <p:cNvSpPr/>
          <p:nvPr/>
        </p:nvSpPr>
        <p:spPr>
          <a:xfrm>
            <a:off x="5017770" y="3224566"/>
            <a:ext cx="150495" cy="150223"/>
          </a:xfrm>
          <a:prstGeom prst="rect">
            <a:avLst/>
          </a:prstGeom>
          <a:solidFill>
            <a:srgbClr val="FCD34D"/>
          </a:solidFill>
          <a:ln w="12700">
            <a:solidFill>
              <a:srgbClr val="FCD34D"/>
            </a:solidFill>
            <a:prstDash val="solid"/>
          </a:ln>
        </p:spPr>
      </p:sp>
      <p:sp>
        <p:nvSpPr>
          <p:cNvPr id="102" name="heat-365"/>
          <p:cNvSpPr/>
          <p:nvPr/>
        </p:nvSpPr>
        <p:spPr>
          <a:xfrm>
            <a:off x="5191125" y="3224566"/>
            <a:ext cx="150495" cy="150223"/>
          </a:xfrm>
          <a:prstGeom prst="rect">
            <a:avLst/>
          </a:prstGeom>
          <a:solidFill>
            <a:srgbClr val="FBBF24"/>
          </a:solidFill>
          <a:ln w="12700">
            <a:solidFill>
              <a:srgbClr val="FBBF24"/>
            </a:solidFill>
            <a:prstDash val="solid"/>
          </a:ln>
        </p:spPr>
      </p:sp>
      <p:sp>
        <p:nvSpPr>
          <p:cNvPr id="103" name="heat-366"/>
          <p:cNvSpPr/>
          <p:nvPr/>
        </p:nvSpPr>
        <p:spPr>
          <a:xfrm>
            <a:off x="5364480" y="3224566"/>
            <a:ext cx="150495" cy="150223"/>
          </a:xfrm>
          <a:prstGeom prst="rect">
            <a:avLst/>
          </a:prstGeom>
          <a:solidFill>
            <a:srgbClr val="F97316"/>
          </a:solidFill>
          <a:ln w="12700">
            <a:solidFill>
              <a:srgbClr val="F97316"/>
            </a:solidFill>
            <a:prstDash val="solid"/>
          </a:ln>
        </p:spPr>
      </p:sp>
      <p:sp>
        <p:nvSpPr>
          <p:cNvPr id="104" name="heat-367"/>
          <p:cNvSpPr/>
          <p:nvPr/>
        </p:nvSpPr>
        <p:spPr>
          <a:xfrm>
            <a:off x="5537835" y="3224566"/>
            <a:ext cx="150495" cy="150223"/>
          </a:xfrm>
          <a:prstGeom prst="rect">
            <a:avLst/>
          </a:prstGeom>
          <a:solidFill>
            <a:srgbClr val="F97316"/>
          </a:solidFill>
          <a:ln w="12700">
            <a:solidFill>
              <a:srgbClr val="F97316"/>
            </a:solidFill>
            <a:prstDash val="solid"/>
          </a:ln>
        </p:spPr>
      </p:sp>
      <p:sp>
        <p:nvSpPr>
          <p:cNvPr id="105" name="heat-368"/>
          <p:cNvSpPr/>
          <p:nvPr/>
        </p:nvSpPr>
        <p:spPr>
          <a:xfrm>
            <a:off x="5711190" y="3224566"/>
            <a:ext cx="150495" cy="150223"/>
          </a:xfrm>
          <a:prstGeom prst="rect">
            <a:avLst/>
          </a:prstGeom>
          <a:solidFill>
            <a:srgbClr val="F97316"/>
          </a:solidFill>
          <a:ln w="12700">
            <a:solidFill>
              <a:srgbClr val="F97316"/>
            </a:solidFill>
            <a:prstDash val="solid"/>
          </a:ln>
        </p:spPr>
      </p:sp>
      <p:sp>
        <p:nvSpPr>
          <p:cNvPr id="106" name="heat-369"/>
          <p:cNvSpPr/>
          <p:nvPr/>
        </p:nvSpPr>
        <p:spPr>
          <a:xfrm>
            <a:off x="5884545" y="3224566"/>
            <a:ext cx="150495" cy="150223"/>
          </a:xfrm>
          <a:prstGeom prst="rect">
            <a:avLst/>
          </a:prstGeom>
          <a:solidFill>
            <a:srgbClr val="FBBF24"/>
          </a:solidFill>
          <a:ln w="12700">
            <a:solidFill>
              <a:srgbClr val="FBBF24"/>
            </a:solidFill>
            <a:prstDash val="solid"/>
          </a:ln>
        </p:spPr>
      </p:sp>
      <p:sp>
        <p:nvSpPr>
          <p:cNvPr id="107" name="heat-370"/>
          <p:cNvSpPr/>
          <p:nvPr/>
        </p:nvSpPr>
        <p:spPr>
          <a:xfrm>
            <a:off x="3977640" y="3397649"/>
            <a:ext cx="150495" cy="150223"/>
          </a:xfrm>
          <a:prstGeom prst="rect">
            <a:avLst/>
          </a:prstGeom>
          <a:solidFill>
            <a:srgbClr val="FDE68A"/>
          </a:solidFill>
          <a:ln w="12700">
            <a:solidFill>
              <a:srgbClr val="FDE68A"/>
            </a:solidFill>
            <a:prstDash val="solid"/>
          </a:ln>
        </p:spPr>
      </p:sp>
      <p:sp>
        <p:nvSpPr>
          <p:cNvPr id="108" name="heat-371"/>
          <p:cNvSpPr/>
          <p:nvPr/>
        </p:nvSpPr>
        <p:spPr>
          <a:xfrm>
            <a:off x="4150995" y="3397649"/>
            <a:ext cx="150495" cy="150223"/>
          </a:xfrm>
          <a:prstGeom prst="rect">
            <a:avLst/>
          </a:prstGeom>
          <a:solidFill>
            <a:srgbClr val="FDE68A"/>
          </a:solidFill>
          <a:ln w="12700">
            <a:solidFill>
              <a:srgbClr val="FDE68A"/>
            </a:solidFill>
            <a:prstDash val="solid"/>
          </a:ln>
        </p:spPr>
      </p:sp>
      <p:sp>
        <p:nvSpPr>
          <p:cNvPr id="109" name="heat-372"/>
          <p:cNvSpPr/>
          <p:nvPr/>
        </p:nvSpPr>
        <p:spPr>
          <a:xfrm>
            <a:off x="4324350" y="3397649"/>
            <a:ext cx="150495" cy="150223"/>
          </a:xfrm>
          <a:prstGeom prst="rect">
            <a:avLst/>
          </a:prstGeom>
          <a:solidFill>
            <a:srgbClr val="FDE68A"/>
          </a:solidFill>
          <a:ln w="12700">
            <a:solidFill>
              <a:srgbClr val="FDE68A"/>
            </a:solidFill>
            <a:prstDash val="solid"/>
          </a:ln>
        </p:spPr>
      </p:sp>
      <p:sp>
        <p:nvSpPr>
          <p:cNvPr id="110" name="heat-373"/>
          <p:cNvSpPr/>
          <p:nvPr/>
        </p:nvSpPr>
        <p:spPr>
          <a:xfrm>
            <a:off x="4497705" y="3397649"/>
            <a:ext cx="150495" cy="150223"/>
          </a:xfrm>
          <a:prstGeom prst="rect">
            <a:avLst/>
          </a:prstGeom>
          <a:solidFill>
            <a:srgbClr val="FDE68A"/>
          </a:solidFill>
          <a:ln w="12700">
            <a:solidFill>
              <a:srgbClr val="FDE68A"/>
            </a:solidFill>
            <a:prstDash val="solid"/>
          </a:ln>
        </p:spPr>
      </p:sp>
      <p:sp>
        <p:nvSpPr>
          <p:cNvPr id="111" name="heat-374"/>
          <p:cNvSpPr/>
          <p:nvPr/>
        </p:nvSpPr>
        <p:spPr>
          <a:xfrm>
            <a:off x="4671060" y="3397649"/>
            <a:ext cx="150495" cy="150223"/>
          </a:xfrm>
          <a:prstGeom prst="rect">
            <a:avLst/>
          </a:prstGeom>
          <a:solidFill>
            <a:srgbClr val="FDE68A"/>
          </a:solidFill>
          <a:ln w="12700">
            <a:solidFill>
              <a:srgbClr val="FDE68A"/>
            </a:solidFill>
            <a:prstDash val="solid"/>
          </a:ln>
        </p:spPr>
      </p:sp>
      <p:sp>
        <p:nvSpPr>
          <p:cNvPr id="112" name="heat-375"/>
          <p:cNvSpPr/>
          <p:nvPr/>
        </p:nvSpPr>
        <p:spPr>
          <a:xfrm>
            <a:off x="4844415" y="3397649"/>
            <a:ext cx="150495" cy="150223"/>
          </a:xfrm>
          <a:prstGeom prst="rect">
            <a:avLst/>
          </a:prstGeom>
          <a:solidFill>
            <a:srgbClr val="FDE68A"/>
          </a:solidFill>
          <a:ln w="12700">
            <a:solidFill>
              <a:srgbClr val="FDE68A"/>
            </a:solidFill>
            <a:prstDash val="solid"/>
          </a:ln>
        </p:spPr>
      </p:sp>
      <p:sp>
        <p:nvSpPr>
          <p:cNvPr id="113" name="heat-376"/>
          <p:cNvSpPr/>
          <p:nvPr/>
        </p:nvSpPr>
        <p:spPr>
          <a:xfrm>
            <a:off x="5017770" y="3397649"/>
            <a:ext cx="150495" cy="150223"/>
          </a:xfrm>
          <a:prstGeom prst="rect">
            <a:avLst/>
          </a:prstGeom>
          <a:solidFill>
            <a:srgbClr val="FCD34D"/>
          </a:solidFill>
          <a:ln w="12700">
            <a:solidFill>
              <a:srgbClr val="FCD34D"/>
            </a:solidFill>
            <a:prstDash val="solid"/>
          </a:ln>
        </p:spPr>
      </p:sp>
      <p:sp>
        <p:nvSpPr>
          <p:cNvPr id="114" name="heat-377"/>
          <p:cNvSpPr/>
          <p:nvPr/>
        </p:nvSpPr>
        <p:spPr>
          <a:xfrm>
            <a:off x="5191125" y="3397649"/>
            <a:ext cx="150495" cy="150223"/>
          </a:xfrm>
          <a:prstGeom prst="rect">
            <a:avLst/>
          </a:prstGeom>
          <a:solidFill>
            <a:srgbClr val="FCD34D"/>
          </a:solidFill>
          <a:ln w="12700">
            <a:solidFill>
              <a:srgbClr val="FCD34D"/>
            </a:solidFill>
            <a:prstDash val="solid"/>
          </a:ln>
        </p:spPr>
      </p:sp>
      <p:sp>
        <p:nvSpPr>
          <p:cNvPr id="115" name="heat-378"/>
          <p:cNvSpPr/>
          <p:nvPr/>
        </p:nvSpPr>
        <p:spPr>
          <a:xfrm>
            <a:off x="5364480" y="3397649"/>
            <a:ext cx="150495" cy="150223"/>
          </a:xfrm>
          <a:prstGeom prst="rect">
            <a:avLst/>
          </a:prstGeom>
          <a:solidFill>
            <a:srgbClr val="FBBF24"/>
          </a:solidFill>
          <a:ln w="12700">
            <a:solidFill>
              <a:srgbClr val="FBBF24"/>
            </a:solidFill>
            <a:prstDash val="solid"/>
          </a:ln>
        </p:spPr>
      </p:sp>
      <p:sp>
        <p:nvSpPr>
          <p:cNvPr id="116" name="heat-379"/>
          <p:cNvSpPr/>
          <p:nvPr/>
        </p:nvSpPr>
        <p:spPr>
          <a:xfrm>
            <a:off x="5537835" y="3397649"/>
            <a:ext cx="150495" cy="150223"/>
          </a:xfrm>
          <a:prstGeom prst="rect">
            <a:avLst/>
          </a:prstGeom>
          <a:solidFill>
            <a:srgbClr val="FBBF24"/>
          </a:solidFill>
          <a:ln w="12700">
            <a:solidFill>
              <a:srgbClr val="FBBF24"/>
            </a:solidFill>
            <a:prstDash val="solid"/>
          </a:ln>
        </p:spPr>
      </p:sp>
      <p:sp>
        <p:nvSpPr>
          <p:cNvPr id="117" name="heat-380"/>
          <p:cNvSpPr/>
          <p:nvPr/>
        </p:nvSpPr>
        <p:spPr>
          <a:xfrm>
            <a:off x="5711190" y="3397649"/>
            <a:ext cx="150495" cy="150223"/>
          </a:xfrm>
          <a:prstGeom prst="rect">
            <a:avLst/>
          </a:prstGeom>
          <a:solidFill>
            <a:srgbClr val="FBBF24"/>
          </a:solidFill>
          <a:ln w="12700">
            <a:solidFill>
              <a:srgbClr val="FBBF24"/>
            </a:solidFill>
            <a:prstDash val="solid"/>
          </a:ln>
        </p:spPr>
      </p:sp>
      <p:sp>
        <p:nvSpPr>
          <p:cNvPr id="118" name="heat-381"/>
          <p:cNvSpPr/>
          <p:nvPr/>
        </p:nvSpPr>
        <p:spPr>
          <a:xfrm>
            <a:off x="5884545" y="3397649"/>
            <a:ext cx="150495" cy="150223"/>
          </a:xfrm>
          <a:prstGeom prst="rect">
            <a:avLst/>
          </a:prstGeom>
          <a:solidFill>
            <a:srgbClr val="FBBF24"/>
          </a:solidFill>
          <a:ln w="12700">
            <a:solidFill>
              <a:srgbClr val="FBBF24"/>
            </a:solidFill>
            <a:prstDash val="solid"/>
          </a:ln>
        </p:spPr>
      </p:sp>
      <p:sp>
        <p:nvSpPr>
          <p:cNvPr id="119" name="text-382"/>
          <p:cNvSpPr txBox="1"/>
          <p:nvPr/>
        </p:nvSpPr>
        <p:spPr>
          <a:xfrm>
            <a:off x="3977640" y="3584448"/>
            <a:ext cx="2057400" cy="201168"/>
          </a:xfrm>
          <a:prstGeom prst="rect">
            <a:avLst/>
          </a:prstGeom>
          <a:noFill/>
          <a:ln/>
        </p:spPr>
        <p:txBody>
          <a:bodyPr wrap="square" lIns="0" tIns="0" rIns="0" bIns="0" rtlCol="0" anchor="t"/>
          <a:lstStyle/>
          <a:p>
            <a:pPr indent="0" marL="0">
              <a:buNone/>
            </a:pPr>
            <a:r>
              <a:rPr lang="en-US" sz="1000" dirty="0">
                <a:solidFill>
                  <a:schemeClr val="accent6"/>
                </a:solidFill>
              </a:rPr>
              <a:t>Their Streamlit dashboard, embedded</a:t>
            </a:r>
            <a:endParaRPr lang="en-US" sz="1000" dirty="0"/>
          </a:p>
        </p:txBody>
      </p:sp>
      <p:sp>
        <p:nvSpPr>
          <p:cNvPr id="120" name="card-383"/>
          <p:cNvSpPr/>
          <p:nvPr/>
        </p:nvSpPr>
        <p:spPr>
          <a:xfrm>
            <a:off x="3977640" y="3840480"/>
            <a:ext cx="2057400" cy="640080"/>
          </a:xfrm>
          <a:prstGeom prst="roundRect">
            <a:avLst>
              <a:gd name="adj" fmla="val 11429"/>
            </a:avLst>
          </a:prstGeom>
          <a:solidFill>
            <a:schemeClr val="bg2"/>
          </a:solidFill>
          <a:ln w="9525">
            <a:solidFill>
              <a:schemeClr val="bg2"/>
            </a:solidFill>
            <a:prstDash val="solid"/>
          </a:ln>
        </p:spPr>
      </p:sp>
      <p:sp>
        <p:nvSpPr>
          <p:cNvPr id="121" name="text-384"/>
          <p:cNvSpPr txBox="1"/>
          <p:nvPr/>
        </p:nvSpPr>
        <p:spPr>
          <a:xfrm>
            <a:off x="4087368" y="3886200"/>
            <a:ext cx="777240" cy="54864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−12%</a:t>
            </a:r>
            <a:endParaRPr lang="en-US" sz="2200" dirty="0"/>
          </a:p>
        </p:txBody>
      </p:sp>
      <p:sp>
        <p:nvSpPr>
          <p:cNvPr id="122" name="text-385"/>
          <p:cNvSpPr txBox="1"/>
          <p:nvPr/>
        </p:nvSpPr>
        <p:spPr>
          <a:xfrm>
            <a:off x="4846320" y="3886200"/>
            <a:ext cx="1124712" cy="548640"/>
          </a:xfrm>
          <a:prstGeom prst="rect">
            <a:avLst/>
          </a:prstGeom>
          <a:noFill/>
          <a:ln/>
        </p:spPr>
        <p:txBody>
          <a:bodyPr wrap="square" lIns="0" tIns="0" rIns="0" bIns="0" rtlCol="0" anchor="ctr"/>
          <a:lstStyle/>
          <a:p>
            <a:pPr indent="0" marL="0">
              <a:buNone/>
            </a:pPr>
            <a:r>
              <a:rPr lang="en-US" sz="1000" dirty="0">
                <a:solidFill>
                  <a:schemeClr val="tx1"/>
                </a:solidFill>
              </a:rPr>
              <a:t>2026 prediction vs RKI estimate, Germany</a:t>
            </a:r>
            <a:endParaRPr lang="en-US" sz="1000" dirty="0"/>
          </a:p>
        </p:txBody>
      </p:sp>
      <p:sp>
        <p:nvSpPr>
          <p:cNvPr id="123" name="marker-386"/>
          <p:cNvSpPr/>
          <p:nvPr/>
        </p:nvSpPr>
        <p:spPr>
          <a:xfrm>
            <a:off x="1207008" y="2093976"/>
            <a:ext cx="256032" cy="256032"/>
          </a:xfrm>
          <a:prstGeom prst="ellipse">
            <a:avLst/>
          </a:prstGeom>
          <a:solidFill>
            <a:schemeClr val="accent1"/>
          </a:solidFill>
          <a:ln w="19050">
            <a:solidFill>
              <a:schemeClr val="bg1"/>
            </a:solidFill>
            <a:prstDash val="solid"/>
          </a:ln>
        </p:spPr>
      </p:sp>
      <p:sp>
        <p:nvSpPr>
          <p:cNvPr id="124" name="text-387"/>
          <p:cNvSpPr txBox="1"/>
          <p:nvPr/>
        </p:nvSpPr>
        <p:spPr>
          <a:xfrm>
            <a:off x="1207008" y="2093976"/>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25" name="marker-388"/>
          <p:cNvSpPr/>
          <p:nvPr/>
        </p:nvSpPr>
        <p:spPr>
          <a:xfrm>
            <a:off x="4434840" y="2093976"/>
            <a:ext cx="256032" cy="256032"/>
          </a:xfrm>
          <a:prstGeom prst="ellipse">
            <a:avLst/>
          </a:prstGeom>
          <a:solidFill>
            <a:schemeClr val="accent1"/>
          </a:solidFill>
          <a:ln w="19050">
            <a:solidFill>
              <a:schemeClr val="bg1"/>
            </a:solidFill>
            <a:prstDash val="solid"/>
          </a:ln>
        </p:spPr>
      </p:sp>
      <p:sp>
        <p:nvSpPr>
          <p:cNvPr id="126" name="text-389"/>
          <p:cNvSpPr txBox="1"/>
          <p:nvPr/>
        </p:nvSpPr>
        <p:spPr>
          <a:xfrm>
            <a:off x="4434840" y="2093976"/>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7" name="marker-390"/>
          <p:cNvSpPr/>
          <p:nvPr/>
        </p:nvSpPr>
        <p:spPr>
          <a:xfrm>
            <a:off x="5852160" y="3712464"/>
            <a:ext cx="256032" cy="256032"/>
          </a:xfrm>
          <a:prstGeom prst="ellipse">
            <a:avLst/>
          </a:prstGeom>
          <a:solidFill>
            <a:schemeClr val="accent1"/>
          </a:solidFill>
          <a:ln w="19050">
            <a:solidFill>
              <a:schemeClr val="bg1"/>
            </a:solidFill>
            <a:prstDash val="solid"/>
          </a:ln>
        </p:spPr>
      </p:sp>
      <p:sp>
        <p:nvSpPr>
          <p:cNvPr id="128" name="text-391"/>
          <p:cNvSpPr txBox="1"/>
          <p:nvPr/>
        </p:nvSpPr>
        <p:spPr>
          <a:xfrm>
            <a:off x="5852160" y="3712464"/>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29" name="marker-392"/>
          <p:cNvSpPr/>
          <p:nvPr/>
        </p:nvSpPr>
        <p:spPr>
          <a:xfrm>
            <a:off x="6446520" y="1161288"/>
            <a:ext cx="256032" cy="256032"/>
          </a:xfrm>
          <a:prstGeom prst="ellipse">
            <a:avLst/>
          </a:prstGeom>
          <a:solidFill>
            <a:schemeClr val="accent1"/>
          </a:solidFill>
          <a:ln w="19050">
            <a:solidFill>
              <a:schemeClr val="bg1"/>
            </a:solidFill>
            <a:prstDash val="solid"/>
          </a:ln>
        </p:spPr>
      </p:sp>
      <p:sp>
        <p:nvSpPr>
          <p:cNvPr id="130" name="text-393"/>
          <p:cNvSpPr txBox="1"/>
          <p:nvPr/>
        </p:nvSpPr>
        <p:spPr>
          <a:xfrm>
            <a:off x="6446520" y="1161288"/>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31" name="text-394"/>
          <p:cNvSpPr txBox="1"/>
          <p:nvPr/>
        </p:nvSpPr>
        <p:spPr>
          <a:xfrm>
            <a:off x="6812280" y="1143000"/>
            <a:ext cx="1874520" cy="274320"/>
          </a:xfrm>
          <a:prstGeom prst="rect">
            <a:avLst/>
          </a:prstGeom>
          <a:noFill/>
          <a:ln/>
        </p:spPr>
        <p:txBody>
          <a:bodyPr wrap="square" lIns="0" tIns="0" rIns="0" bIns="0" rtlCol="0" anchor="t"/>
          <a:lstStyle/>
          <a:p>
            <a:pPr indent="0" marL="0">
              <a:buNone/>
            </a:pPr>
            <a:r>
              <a:rPr lang="en-US" sz="1400" b="1" dirty="0">
                <a:solidFill>
                  <a:schemeClr val="tx1"/>
                </a:solidFill>
              </a:rPr>
              <a:t>Claims tracker</a:t>
            </a:r>
            <a:endParaRPr lang="en-US" sz="1400" dirty="0"/>
          </a:p>
        </p:txBody>
      </p:sp>
      <p:sp>
        <p:nvSpPr>
          <p:cNvPr id="132" name="text-395"/>
          <p:cNvSpPr txBox="1"/>
          <p:nvPr/>
        </p:nvSpPr>
        <p:spPr>
          <a:xfrm>
            <a:off x="6812280" y="1435608"/>
            <a:ext cx="1874520" cy="658368"/>
          </a:xfrm>
          <a:prstGeom prst="rect">
            <a:avLst/>
          </a:prstGeom>
          <a:noFill/>
          <a:ln/>
        </p:spPr>
        <p:txBody>
          <a:bodyPr wrap="square" lIns="0" tIns="0" rIns="0" bIns="0" rtlCol="0" anchor="t"/>
          <a:lstStyle/>
          <a:p>
            <a:pPr indent="0" marL="0">
              <a:buNone/>
            </a:pPr>
            <a:r>
              <a:rPr lang="en-US" sz="1200" dirty="0">
                <a:solidFill>
                  <a:schemeClr val="tx1"/>
                </a:solidFill>
              </a:rPr>
              <a:t>Each objective from the proposal, with its target and live status</a:t>
            </a:r>
            <a:endParaRPr lang="en-US" sz="1200" dirty="0"/>
          </a:p>
        </p:txBody>
      </p:sp>
      <p:sp>
        <p:nvSpPr>
          <p:cNvPr id="133" name="marker-396"/>
          <p:cNvSpPr/>
          <p:nvPr/>
        </p:nvSpPr>
        <p:spPr>
          <a:xfrm>
            <a:off x="6446520" y="2185416"/>
            <a:ext cx="256032" cy="256032"/>
          </a:xfrm>
          <a:prstGeom prst="ellipse">
            <a:avLst/>
          </a:prstGeom>
          <a:solidFill>
            <a:schemeClr val="accent1"/>
          </a:solidFill>
          <a:ln w="19050">
            <a:solidFill>
              <a:schemeClr val="bg1"/>
            </a:solidFill>
            <a:prstDash val="solid"/>
          </a:ln>
        </p:spPr>
      </p:sp>
      <p:sp>
        <p:nvSpPr>
          <p:cNvPr id="134" name="text-397"/>
          <p:cNvSpPr txBox="1"/>
          <p:nvPr/>
        </p:nvSpPr>
        <p:spPr>
          <a:xfrm>
            <a:off x="6446520" y="2185416"/>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35" name="text-398"/>
          <p:cNvSpPr txBox="1"/>
          <p:nvPr/>
        </p:nvSpPr>
        <p:spPr>
          <a:xfrm>
            <a:off x="6812280" y="2167128"/>
            <a:ext cx="1874520" cy="274320"/>
          </a:xfrm>
          <a:prstGeom prst="rect">
            <a:avLst/>
          </a:prstGeom>
          <a:noFill/>
          <a:ln/>
        </p:spPr>
        <p:txBody>
          <a:bodyPr wrap="square" lIns="0" tIns="0" rIns="0" bIns="0" rtlCol="0" anchor="t"/>
          <a:lstStyle/>
          <a:p>
            <a:pPr indent="0" marL="0">
              <a:buNone/>
            </a:pPr>
            <a:r>
              <a:rPr lang="en-US" sz="1400" b="1" dirty="0">
                <a:solidFill>
                  <a:schemeClr val="tx1"/>
                </a:solidFill>
              </a:rPr>
              <a:t>Demo</a:t>
            </a:r>
            <a:endParaRPr lang="en-US" sz="1400" dirty="0"/>
          </a:p>
        </p:txBody>
      </p:sp>
      <p:sp>
        <p:nvSpPr>
          <p:cNvPr id="136" name="text-399"/>
          <p:cNvSpPr txBox="1"/>
          <p:nvPr/>
        </p:nvSpPr>
        <p:spPr>
          <a:xfrm>
            <a:off x="6812280" y="2459736"/>
            <a:ext cx="1874520" cy="658368"/>
          </a:xfrm>
          <a:prstGeom prst="rect">
            <a:avLst/>
          </a:prstGeom>
          <a:noFill/>
          <a:ln/>
        </p:spPr>
        <p:txBody>
          <a:bodyPr wrap="square" lIns="0" tIns="0" rIns="0" bIns="0" rtlCol="0" anchor="t"/>
          <a:lstStyle/>
          <a:p>
            <a:pPr indent="0" marL="0">
              <a:buNone/>
            </a:pPr>
            <a:r>
              <a:rPr lang="en-US" sz="1200" dirty="0">
                <a:solidFill>
                  <a:schemeClr val="tx1"/>
                </a:solidFill>
              </a:rPr>
              <a:t>Their own Streamlit app, embedded — no rebuild needed</a:t>
            </a:r>
            <a:endParaRPr lang="en-US" sz="1200" dirty="0"/>
          </a:p>
        </p:txBody>
      </p:sp>
      <p:sp>
        <p:nvSpPr>
          <p:cNvPr id="137" name="marker-400"/>
          <p:cNvSpPr/>
          <p:nvPr/>
        </p:nvSpPr>
        <p:spPr>
          <a:xfrm>
            <a:off x="6446520" y="3209544"/>
            <a:ext cx="256032" cy="256032"/>
          </a:xfrm>
          <a:prstGeom prst="ellipse">
            <a:avLst/>
          </a:prstGeom>
          <a:solidFill>
            <a:schemeClr val="accent1"/>
          </a:solidFill>
          <a:ln w="19050">
            <a:solidFill>
              <a:schemeClr val="bg1"/>
            </a:solidFill>
            <a:prstDash val="solid"/>
          </a:ln>
        </p:spPr>
      </p:sp>
      <p:sp>
        <p:nvSpPr>
          <p:cNvPr id="138" name="text-401"/>
          <p:cNvSpPr txBox="1"/>
          <p:nvPr/>
        </p:nvSpPr>
        <p:spPr>
          <a:xfrm>
            <a:off x="6446520" y="3209544"/>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39" name="text-402"/>
          <p:cNvSpPr txBox="1"/>
          <p:nvPr/>
        </p:nvSpPr>
        <p:spPr>
          <a:xfrm>
            <a:off x="6812280" y="3191256"/>
            <a:ext cx="1874520" cy="274320"/>
          </a:xfrm>
          <a:prstGeom prst="rect">
            <a:avLst/>
          </a:prstGeom>
          <a:noFill/>
          <a:ln/>
        </p:spPr>
        <p:txBody>
          <a:bodyPr wrap="square" lIns="0" tIns="0" rIns="0" bIns="0" rtlCol="0" anchor="t"/>
          <a:lstStyle/>
          <a:p>
            <a:pPr indent="0" marL="0">
              <a:buNone/>
            </a:pPr>
            <a:r>
              <a:rPr lang="en-US" sz="1400" b="1" dirty="0">
                <a:solidFill>
                  <a:schemeClr val="tx1"/>
                </a:solidFill>
              </a:rPr>
              <a:t>Evidence</a:t>
            </a:r>
            <a:endParaRPr lang="en-US" sz="1400" dirty="0"/>
          </a:p>
        </p:txBody>
      </p:sp>
      <p:sp>
        <p:nvSpPr>
          <p:cNvPr id="140" name="text-403"/>
          <p:cNvSpPr txBox="1"/>
          <p:nvPr/>
        </p:nvSpPr>
        <p:spPr>
          <a:xfrm>
            <a:off x="6812280" y="3483864"/>
            <a:ext cx="1874520" cy="658368"/>
          </a:xfrm>
          <a:prstGeom prst="rect">
            <a:avLst/>
          </a:prstGeom>
          <a:noFill/>
          <a:ln/>
        </p:spPr>
        <p:txBody>
          <a:bodyPr wrap="square" lIns="0" tIns="0" rIns="0" bIns="0" rtlCol="0" anchor="t"/>
          <a:lstStyle/>
          <a:p>
            <a:pPr indent="0" marL="0">
              <a:buNone/>
            </a:pPr>
            <a:r>
              <a:rPr lang="en-US" sz="1200" dirty="0">
                <a:solidFill>
                  <a:schemeClr val="tx1"/>
                </a:solidFill>
              </a:rPr>
              <a:t>Numbers updated by their pipeline on every push</a:t>
            </a:r>
            <a:endParaRPr lang="en-US" sz="1200" dirty="0"/>
          </a:p>
        </p:txBody>
      </p:sp>
      <p:sp>
        <p:nvSpPr>
          <p:cNvPr id="141" name="text-404"/>
          <p:cNvSpPr txBox="1"/>
          <p:nvPr/>
        </p:nvSpPr>
        <p:spPr>
          <a:xfrm>
            <a:off x="6446520" y="4343400"/>
            <a:ext cx="2240280" cy="228600"/>
          </a:xfrm>
          <a:prstGeom prst="rect">
            <a:avLst/>
          </a:prstGeom>
          <a:noFill/>
          <a:ln/>
        </p:spPr>
        <p:txBody>
          <a:bodyPr wrap="square" lIns="0" tIns="0" rIns="0" bIns="0" rtlCol="0" anchor="t"/>
          <a:lstStyle/>
          <a:p>
            <a:pPr indent="0" marL="0">
              <a:buNone/>
            </a:pPr>
            <a:r>
              <a:rPr lang="en-US" sz="1000" i="1" dirty="0">
                <a:solidFill>
                  <a:schemeClr val="accent6"/>
                </a:solidFill>
              </a:rPr>
              <a:t>Example values for illustration only</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What the data module adds</a:t>
            </a:r>
            <a:endParaRPr lang="en-US" sz="3200" dirty="0"/>
          </a:p>
        </p:txBody>
      </p:sp>
      <p:sp>
        <p:nvSpPr>
          <p:cNvPr id="3" name="card-405"/>
          <p:cNvSpPr/>
          <p:nvPr/>
        </p:nvSpPr>
        <p:spPr>
          <a:xfrm>
            <a:off x="457200" y="1097280"/>
            <a:ext cx="2606040" cy="3200400"/>
          </a:xfrm>
          <a:prstGeom prst="roundRect">
            <a:avLst>
              <a:gd name="adj" fmla="val 2807"/>
            </a:avLst>
          </a:prstGeom>
          <a:solidFill>
            <a:schemeClr val="bg1"/>
          </a:solidFill>
          <a:ln w="9525">
            <a:solidFill>
              <a:srgbClr val="E2E5F0"/>
            </a:solidFill>
            <a:prstDash val="solid"/>
          </a:ln>
        </p:spPr>
      </p:sp>
      <p:sp>
        <p:nvSpPr>
          <p:cNvPr id="4" name="card-406"/>
          <p:cNvSpPr/>
          <p:nvPr/>
        </p:nvSpPr>
        <p:spPr>
          <a:xfrm>
            <a:off x="3268980" y="1097280"/>
            <a:ext cx="2606040" cy="3200400"/>
          </a:xfrm>
          <a:prstGeom prst="roundRect">
            <a:avLst>
              <a:gd name="adj" fmla="val 2807"/>
            </a:avLst>
          </a:prstGeom>
          <a:solidFill>
            <a:schemeClr val="bg1"/>
          </a:solidFill>
          <a:ln w="9525">
            <a:solidFill>
              <a:srgbClr val="E2E5F0"/>
            </a:solidFill>
            <a:prstDash val="solid"/>
          </a:ln>
        </p:spPr>
      </p:sp>
      <p:sp>
        <p:nvSpPr>
          <p:cNvPr id="5" name="card-407"/>
          <p:cNvSpPr/>
          <p:nvPr/>
        </p:nvSpPr>
        <p:spPr>
          <a:xfrm>
            <a:off x="6080760" y="1097280"/>
            <a:ext cx="2606040" cy="3200400"/>
          </a:xfrm>
          <a:prstGeom prst="roundRect">
            <a:avLst>
              <a:gd name="adj" fmla="val 2807"/>
            </a:avLst>
          </a:prstGeom>
          <a:solidFill>
            <a:schemeClr val="bg1"/>
          </a:solidFill>
          <a:ln w="9525">
            <a:solidFill>
              <a:srgbClr val="E2E5F0"/>
            </a:solidFill>
            <a:prstDash val="solid"/>
          </a:ln>
        </p:spPr>
      </p:sp>
      <p:sp>
        <p:nvSpPr>
          <p:cNvPr id="6" name="icon-bg-408"/>
          <p:cNvSpPr/>
          <p:nvPr/>
        </p:nvSpPr>
        <p:spPr>
          <a:xfrm>
            <a:off x="621792" y="1261872"/>
            <a:ext cx="384048" cy="384048"/>
          </a:xfrm>
          <a:prstGeom prst="ellipse">
            <a:avLst/>
          </a:prstGeom>
          <a:solidFill>
            <a:schemeClr val="bg2"/>
          </a:solidFill>
          <a:ln w="12700">
            <a:solidFill>
              <a:schemeClr val="bg2"/>
            </a:solidFill>
            <a:prstDash val="solid"/>
          </a:ln>
        </p:spPr>
      </p:sp>
      <p:pic>
        <p:nvPicPr>
          <p:cNvPr id="7" name="icon-409" descr="preencoded.png">    </p:cNvPr>
          <p:cNvPicPr>
            <a:picLocks noChangeAspect="1"/>
          </p:cNvPicPr>
          <p:nvPr/>
        </p:nvPicPr>
        <p:blipFill>
          <a:blip r:embed="rId1"/>
          <a:stretch>
            <a:fillRect/>
          </a:stretch>
        </p:blipFill>
        <p:spPr>
          <a:xfrm>
            <a:off x="721644" y="1361724"/>
            <a:ext cx="184343" cy="184343"/>
          </a:xfrm>
          <a:prstGeom prst="rect">
            <a:avLst/>
          </a:prstGeom>
        </p:spPr>
      </p:pic>
      <p:sp>
        <p:nvSpPr>
          <p:cNvPr id="8" name="text-410"/>
          <p:cNvSpPr txBox="1"/>
          <p:nvPr/>
        </p:nvSpPr>
        <p:spPr>
          <a:xfrm>
            <a:off x="1097280" y="1261872"/>
            <a:ext cx="1874520" cy="384048"/>
          </a:xfrm>
          <a:prstGeom prst="rect">
            <a:avLst/>
          </a:prstGeom>
          <a:noFill/>
          <a:ln/>
        </p:spPr>
        <p:txBody>
          <a:bodyPr wrap="square" lIns="0" tIns="0" rIns="0" bIns="0" rtlCol="0" anchor="ctr"/>
          <a:lstStyle/>
          <a:p>
            <a:pPr indent="0" marL="0">
              <a:buNone/>
            </a:pPr>
            <a:r>
              <a:rPr lang="en-US" sz="1400" b="1" dirty="0">
                <a:solidFill>
                  <a:schemeClr val="tx1"/>
                </a:solidFill>
              </a:rPr>
              <a:t>Data source health</a:t>
            </a:r>
            <a:endParaRPr lang="en-US" sz="1400" dirty="0"/>
          </a:p>
        </p:txBody>
      </p:sp>
      <p:sp>
        <p:nvSpPr>
          <p:cNvPr id="9" name="status-411"/>
          <p:cNvSpPr/>
          <p:nvPr/>
        </p:nvSpPr>
        <p:spPr>
          <a:xfrm>
            <a:off x="658368" y="1938528"/>
            <a:ext cx="146304" cy="146304"/>
          </a:xfrm>
          <a:prstGeom prst="ellipse">
            <a:avLst/>
          </a:prstGeom>
          <a:solidFill>
            <a:schemeClr val="accent3"/>
          </a:solidFill>
          <a:ln w="12700">
            <a:solidFill>
              <a:schemeClr val="accent3"/>
            </a:solidFill>
            <a:prstDash val="solid"/>
          </a:ln>
        </p:spPr>
      </p:sp>
      <p:sp>
        <p:nvSpPr>
          <p:cNvPr id="10" name="text-412"/>
          <p:cNvSpPr txBox="1"/>
          <p:nvPr/>
        </p:nvSpPr>
        <p:spPr>
          <a:xfrm>
            <a:off x="914400" y="1874520"/>
            <a:ext cx="2057400" cy="274320"/>
          </a:xfrm>
          <a:prstGeom prst="rect">
            <a:avLst/>
          </a:prstGeom>
          <a:noFill/>
          <a:ln/>
        </p:spPr>
        <p:txBody>
          <a:bodyPr wrap="square" lIns="0" tIns="0" rIns="0" bIns="0" rtlCol="0" anchor="ctr"/>
          <a:lstStyle/>
          <a:p>
            <a:pPr indent="0" marL="0">
              <a:buNone/>
            </a:pPr>
            <a:r>
              <a:rPr lang="en-US" sz="1300" dirty="0">
                <a:solidFill>
                  <a:schemeClr val="tx1"/>
                </a:solidFill>
              </a:rPr>
              <a:t>Eurostat weekly deaths</a:t>
            </a:r>
            <a:endParaRPr lang="en-US" sz="1300" dirty="0"/>
          </a:p>
        </p:txBody>
      </p:sp>
      <p:sp>
        <p:nvSpPr>
          <p:cNvPr id="11" name="status-413"/>
          <p:cNvSpPr/>
          <p:nvPr/>
        </p:nvSpPr>
        <p:spPr>
          <a:xfrm>
            <a:off x="658368" y="2304288"/>
            <a:ext cx="146304" cy="146304"/>
          </a:xfrm>
          <a:prstGeom prst="ellipse">
            <a:avLst/>
          </a:prstGeom>
          <a:solidFill>
            <a:schemeClr val="accent3"/>
          </a:solidFill>
          <a:ln w="12700">
            <a:solidFill>
              <a:schemeClr val="accent3"/>
            </a:solidFill>
            <a:prstDash val="solid"/>
          </a:ln>
        </p:spPr>
      </p:sp>
      <p:sp>
        <p:nvSpPr>
          <p:cNvPr id="12" name="text-414"/>
          <p:cNvSpPr txBox="1"/>
          <p:nvPr/>
        </p:nvSpPr>
        <p:spPr>
          <a:xfrm>
            <a:off x="914400" y="2240280"/>
            <a:ext cx="2057400" cy="274320"/>
          </a:xfrm>
          <a:prstGeom prst="rect">
            <a:avLst/>
          </a:prstGeom>
          <a:noFill/>
          <a:ln/>
        </p:spPr>
        <p:txBody>
          <a:bodyPr wrap="square" lIns="0" tIns="0" rIns="0" bIns="0" rtlCol="0" anchor="ctr"/>
          <a:lstStyle/>
          <a:p>
            <a:pPr indent="0" marL="0">
              <a:buNone/>
            </a:pPr>
            <a:r>
              <a:rPr lang="en-US" sz="1300" dirty="0">
                <a:solidFill>
                  <a:schemeClr val="tx1"/>
                </a:solidFill>
              </a:rPr>
              <a:t>ERA5-Land (Copernicus)</a:t>
            </a:r>
            <a:endParaRPr lang="en-US" sz="1300" dirty="0"/>
          </a:p>
        </p:txBody>
      </p:sp>
      <p:sp>
        <p:nvSpPr>
          <p:cNvPr id="13" name="status-415"/>
          <p:cNvSpPr/>
          <p:nvPr/>
        </p:nvSpPr>
        <p:spPr>
          <a:xfrm>
            <a:off x="658368" y="2670048"/>
            <a:ext cx="146304" cy="146304"/>
          </a:xfrm>
          <a:prstGeom prst="ellipse">
            <a:avLst/>
          </a:prstGeom>
          <a:solidFill>
            <a:schemeClr val="accent3"/>
          </a:solidFill>
          <a:ln w="12700">
            <a:solidFill>
              <a:schemeClr val="accent3"/>
            </a:solidFill>
            <a:prstDash val="solid"/>
          </a:ln>
        </p:spPr>
      </p:sp>
      <p:sp>
        <p:nvSpPr>
          <p:cNvPr id="14" name="text-416"/>
          <p:cNvSpPr txBox="1"/>
          <p:nvPr/>
        </p:nvSpPr>
        <p:spPr>
          <a:xfrm>
            <a:off x="914400" y="2606040"/>
            <a:ext cx="2057400" cy="274320"/>
          </a:xfrm>
          <a:prstGeom prst="rect">
            <a:avLst/>
          </a:prstGeom>
          <a:noFill/>
          <a:ln/>
        </p:spPr>
        <p:txBody>
          <a:bodyPr wrap="square" lIns="0" tIns="0" rIns="0" bIns="0" rtlCol="0" anchor="ctr"/>
          <a:lstStyle/>
          <a:p>
            <a:pPr indent="0" marL="0">
              <a:buNone/>
            </a:pPr>
            <a:r>
              <a:rPr lang="en-US" sz="1300" dirty="0">
                <a:solidFill>
                  <a:schemeClr val="tx1"/>
                </a:solidFill>
              </a:rPr>
              <a:t>Landsat · Sentinel-2</a:t>
            </a:r>
            <a:endParaRPr lang="en-US" sz="1300" dirty="0"/>
          </a:p>
        </p:txBody>
      </p:sp>
      <p:sp>
        <p:nvSpPr>
          <p:cNvPr id="15" name="status-417"/>
          <p:cNvSpPr/>
          <p:nvPr/>
        </p:nvSpPr>
        <p:spPr>
          <a:xfrm>
            <a:off x="658368" y="3035808"/>
            <a:ext cx="146304" cy="146304"/>
          </a:xfrm>
          <a:prstGeom prst="ellipse">
            <a:avLst/>
          </a:prstGeom>
          <a:solidFill>
            <a:schemeClr val="accent4"/>
          </a:solidFill>
          <a:ln w="12700">
            <a:solidFill>
              <a:schemeClr val="accent4"/>
            </a:solidFill>
            <a:prstDash val="solid"/>
          </a:ln>
        </p:spPr>
      </p:sp>
      <p:sp>
        <p:nvSpPr>
          <p:cNvPr id="16" name="text-418"/>
          <p:cNvSpPr txBox="1"/>
          <p:nvPr/>
        </p:nvSpPr>
        <p:spPr>
          <a:xfrm>
            <a:off x="914400" y="2971800"/>
            <a:ext cx="2057400" cy="274320"/>
          </a:xfrm>
          <a:prstGeom prst="rect">
            <a:avLst/>
          </a:prstGeom>
          <a:noFill/>
          <a:ln/>
        </p:spPr>
        <p:txBody>
          <a:bodyPr wrap="square" lIns="0" tIns="0" rIns="0" bIns="0" rtlCol="0" anchor="ctr"/>
          <a:lstStyle/>
          <a:p>
            <a:pPr indent="0" marL="0">
              <a:buNone/>
            </a:pPr>
            <a:r>
              <a:rPr lang="en-US" sz="1300" dirty="0">
                <a:solidFill>
                  <a:schemeClr val="tx1"/>
                </a:solidFill>
              </a:rPr>
              <a:t>ISTAT: provisional data</a:t>
            </a:r>
            <a:endParaRPr lang="en-US" sz="1300" dirty="0"/>
          </a:p>
        </p:txBody>
      </p:sp>
      <p:sp>
        <p:nvSpPr>
          <p:cNvPr id="17" name="status-419"/>
          <p:cNvSpPr/>
          <p:nvPr/>
        </p:nvSpPr>
        <p:spPr>
          <a:xfrm>
            <a:off x="658368" y="3401568"/>
            <a:ext cx="146304" cy="146304"/>
          </a:xfrm>
          <a:prstGeom prst="ellipse">
            <a:avLst/>
          </a:prstGeom>
          <a:solidFill>
            <a:schemeClr val="accent3"/>
          </a:solidFill>
          <a:ln w="12700">
            <a:solidFill>
              <a:schemeClr val="accent3"/>
            </a:solidFill>
            <a:prstDash val="solid"/>
          </a:ln>
        </p:spPr>
      </p:sp>
      <p:sp>
        <p:nvSpPr>
          <p:cNvPr id="18" name="text-420"/>
          <p:cNvSpPr txBox="1"/>
          <p:nvPr/>
        </p:nvSpPr>
        <p:spPr>
          <a:xfrm>
            <a:off x="914400" y="3337560"/>
            <a:ext cx="2057400" cy="274320"/>
          </a:xfrm>
          <a:prstGeom prst="rect">
            <a:avLst/>
          </a:prstGeom>
          <a:noFill/>
          <a:ln/>
        </p:spPr>
        <p:txBody>
          <a:bodyPr wrap="square" lIns="0" tIns="0" rIns="0" bIns="0" rtlCol="0" anchor="ctr"/>
          <a:lstStyle/>
          <a:p>
            <a:pPr indent="0" marL="0">
              <a:buNone/>
            </a:pPr>
            <a:r>
              <a:rPr lang="en-US" sz="1300" dirty="0">
                <a:solidFill>
                  <a:schemeClr val="tx1"/>
                </a:solidFill>
              </a:rPr>
              <a:t>NOA meteo.gr</a:t>
            </a:r>
            <a:endParaRPr lang="en-US" sz="1300" dirty="0"/>
          </a:p>
        </p:txBody>
      </p:sp>
      <p:sp>
        <p:nvSpPr>
          <p:cNvPr id="19" name="text-421"/>
          <p:cNvSpPr txBox="1"/>
          <p:nvPr/>
        </p:nvSpPr>
        <p:spPr>
          <a:xfrm>
            <a:off x="658368" y="3749040"/>
            <a:ext cx="2240280" cy="457200"/>
          </a:xfrm>
          <a:prstGeom prst="rect">
            <a:avLst/>
          </a:prstGeom>
          <a:noFill/>
          <a:ln/>
        </p:spPr>
        <p:txBody>
          <a:bodyPr wrap="square" lIns="0" tIns="0" rIns="0" bIns="0" rtlCol="0" anchor="t"/>
          <a:lstStyle/>
          <a:p>
            <a:pPr indent="0" marL="0">
              <a:buNone/>
            </a:pPr>
            <a:r>
              <a:rPr lang="en-US" sz="1100" dirty="0">
                <a:solidFill>
                  <a:schemeClr val="accent6"/>
                </a:solidFill>
              </a:rPr>
              <a:t>Checked daily · licence and version shown for each source</a:t>
            </a:r>
            <a:endParaRPr lang="en-US" sz="1100" dirty="0"/>
          </a:p>
        </p:txBody>
      </p:sp>
      <p:sp>
        <p:nvSpPr>
          <p:cNvPr id="20" name="icon-bg-422"/>
          <p:cNvSpPr/>
          <p:nvPr/>
        </p:nvSpPr>
        <p:spPr>
          <a:xfrm>
            <a:off x="3433572" y="1261872"/>
            <a:ext cx="384048" cy="384048"/>
          </a:xfrm>
          <a:prstGeom prst="ellipse">
            <a:avLst/>
          </a:prstGeom>
          <a:solidFill>
            <a:schemeClr val="bg2"/>
          </a:solidFill>
          <a:ln w="12700">
            <a:solidFill>
              <a:schemeClr val="bg2"/>
            </a:solidFill>
            <a:prstDash val="solid"/>
          </a:ln>
        </p:spPr>
      </p:sp>
      <p:pic>
        <p:nvPicPr>
          <p:cNvPr id="21" name="icon-423" descr="preencoded.png">    </p:cNvPr>
          <p:cNvPicPr>
            <a:picLocks noChangeAspect="1"/>
          </p:cNvPicPr>
          <p:nvPr/>
        </p:nvPicPr>
        <p:blipFill>
          <a:blip r:embed="rId2"/>
          <a:stretch>
            <a:fillRect/>
          </a:stretch>
        </p:blipFill>
        <p:spPr>
          <a:xfrm>
            <a:off x="3533424" y="1361724"/>
            <a:ext cx="184343" cy="184343"/>
          </a:xfrm>
          <a:prstGeom prst="rect">
            <a:avLst/>
          </a:prstGeom>
        </p:spPr>
      </p:pic>
      <p:sp>
        <p:nvSpPr>
          <p:cNvPr id="22" name="text-424"/>
          <p:cNvSpPr txBox="1"/>
          <p:nvPr/>
        </p:nvSpPr>
        <p:spPr>
          <a:xfrm>
            <a:off x="3909060" y="1261872"/>
            <a:ext cx="1874520" cy="384048"/>
          </a:xfrm>
          <a:prstGeom prst="rect">
            <a:avLst/>
          </a:prstGeom>
          <a:noFill/>
          <a:ln/>
        </p:spPr>
        <p:txBody>
          <a:bodyPr wrap="square" lIns="0" tIns="0" rIns="0" bIns="0" rtlCol="0" anchor="ctr"/>
          <a:lstStyle/>
          <a:p>
            <a:pPr indent="0" marL="0">
              <a:buNone/>
            </a:pPr>
            <a:r>
              <a:rPr lang="en-US" sz="1400" b="1" dirty="0">
                <a:solidFill>
                  <a:schemeClr val="tx1"/>
                </a:solidFill>
              </a:rPr>
              <a:t>Model vs official</a:t>
            </a:r>
            <a:endParaRPr lang="en-US" sz="1400" dirty="0"/>
          </a:p>
        </p:txBody>
      </p:sp>
      <p:graphicFrame>
        <p:nvGraphicFramePr>
          <p:cNvPr id="23" name="model-vs-official-chart" descr=""/>
          <p:cNvGraphicFramePr/>
          <p:nvPr/>
        </p:nvGraphicFramePr>
        <p:xfrm>
          <a:off x="3360420" y="1737360"/>
          <a:ext cx="2423160" cy="2011680"/>
        </p:xfrm>
        <a:graphic xmlns:a="http://schemas.openxmlformats.org/drawingml/2006/main">
          <a:graphicData uri="http://schemas.openxmlformats.org/drawingml/2006/chart">
            <c:chart xmlns:c="http://schemas.openxmlformats.org/drawingml/2006/chart" r:id="rId3"/>
          </a:graphicData>
        </a:graphic>
      </p:graphicFrame>
      <p:sp>
        <p:nvSpPr>
          <p:cNvPr id="24" name="text-425"/>
          <p:cNvSpPr txBox="1"/>
          <p:nvPr/>
        </p:nvSpPr>
        <p:spPr>
          <a:xfrm>
            <a:off x="3470148" y="3767328"/>
            <a:ext cx="2240280" cy="457200"/>
          </a:xfrm>
          <a:prstGeom prst="rect">
            <a:avLst/>
          </a:prstGeom>
          <a:noFill/>
          <a:ln/>
        </p:spPr>
        <p:txBody>
          <a:bodyPr wrap="square" lIns="0" tIns="0" rIns="0" bIns="0" rtlCol="0" anchor="t"/>
          <a:lstStyle/>
          <a:p>
            <a:pPr indent="0" marL="0">
              <a:buNone/>
            </a:pPr>
            <a:r>
              <a:rPr lang="en-US" sz="1100" b="1" dirty="0">
                <a:solidFill>
                  <a:schemeClr val="accent3"/>
                </a:solidFill>
              </a:rPr>
              <a:t>✓ Within the ±25% target</a:t>
            </a:r>
            <a:endParaRPr lang="en-US" sz="1100" dirty="0"/>
          </a:p>
          <a:p>
            <a:pPr indent="0" marL="0">
              <a:buNone/>
            </a:pPr>
            <a:r>
              <a:rPr lang="en-US" sz="1100" dirty="0">
                <a:solidFill>
                  <a:schemeClr val="accent6"/>
                </a:solidFill>
              </a:rPr>
              <a:t>in all three countries</a:t>
            </a:r>
            <a:endParaRPr lang="en-US" sz="1100" dirty="0"/>
          </a:p>
        </p:txBody>
      </p:sp>
      <p:sp>
        <p:nvSpPr>
          <p:cNvPr id="25" name="icon-bg-426"/>
          <p:cNvSpPr/>
          <p:nvPr/>
        </p:nvSpPr>
        <p:spPr>
          <a:xfrm>
            <a:off x="6245352" y="1261872"/>
            <a:ext cx="384048" cy="384048"/>
          </a:xfrm>
          <a:prstGeom prst="ellipse">
            <a:avLst/>
          </a:prstGeom>
          <a:solidFill>
            <a:schemeClr val="bg2"/>
          </a:solidFill>
          <a:ln w="12700">
            <a:solidFill>
              <a:schemeClr val="bg2"/>
            </a:solidFill>
            <a:prstDash val="solid"/>
          </a:ln>
        </p:spPr>
      </p:sp>
      <p:pic>
        <p:nvPicPr>
          <p:cNvPr id="26" name="icon-427" descr="preencoded.png">    </p:cNvPr>
          <p:cNvPicPr>
            <a:picLocks noChangeAspect="1"/>
          </p:cNvPicPr>
          <p:nvPr/>
        </p:nvPicPr>
        <p:blipFill>
          <a:blip r:embed="rId4"/>
          <a:stretch>
            <a:fillRect/>
          </a:stretch>
        </p:blipFill>
        <p:spPr>
          <a:xfrm>
            <a:off x="6345204" y="1361724"/>
            <a:ext cx="184343" cy="184343"/>
          </a:xfrm>
          <a:prstGeom prst="rect">
            <a:avLst/>
          </a:prstGeom>
        </p:spPr>
      </p:pic>
      <p:sp>
        <p:nvSpPr>
          <p:cNvPr id="27" name="text-428"/>
          <p:cNvSpPr txBox="1"/>
          <p:nvPr/>
        </p:nvSpPr>
        <p:spPr>
          <a:xfrm>
            <a:off x="6720840" y="1261872"/>
            <a:ext cx="1874520" cy="384048"/>
          </a:xfrm>
          <a:prstGeom prst="rect">
            <a:avLst/>
          </a:prstGeom>
          <a:noFill/>
          <a:ln/>
        </p:spPr>
        <p:txBody>
          <a:bodyPr wrap="square" lIns="0" tIns="0" rIns="0" bIns="0" rtlCol="0" anchor="ctr"/>
          <a:lstStyle/>
          <a:p>
            <a:pPr indent="0" marL="0">
              <a:buNone/>
            </a:pPr>
            <a:r>
              <a:rPr lang="en-US" sz="1400" b="1" dirty="0">
                <a:solidFill>
                  <a:schemeClr val="tx1"/>
                </a:solidFill>
              </a:rPr>
              <a:t>Pipeline health</a:t>
            </a:r>
            <a:endParaRPr lang="en-US" sz="1400" dirty="0"/>
          </a:p>
        </p:txBody>
      </p:sp>
      <p:sp>
        <p:nvSpPr>
          <p:cNvPr id="28" name="text-429"/>
          <p:cNvSpPr txBox="1"/>
          <p:nvPr/>
        </p:nvSpPr>
        <p:spPr>
          <a:xfrm>
            <a:off x="6281928" y="1874520"/>
            <a:ext cx="2240280" cy="384048"/>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2 h ago</a:t>
            </a:r>
            <a:endParaRPr lang="en-US" sz="2200" dirty="0"/>
          </a:p>
        </p:txBody>
      </p:sp>
      <p:sp>
        <p:nvSpPr>
          <p:cNvPr id="29" name="text-430"/>
          <p:cNvSpPr txBox="1"/>
          <p:nvPr/>
        </p:nvSpPr>
        <p:spPr>
          <a:xfrm>
            <a:off x="6281928" y="2258568"/>
            <a:ext cx="2240280" cy="256032"/>
          </a:xfrm>
          <a:prstGeom prst="rect">
            <a:avLst/>
          </a:prstGeom>
          <a:noFill/>
          <a:ln/>
        </p:spPr>
        <p:txBody>
          <a:bodyPr wrap="square" lIns="0" tIns="0" rIns="0" bIns="0" rtlCol="0" anchor="t"/>
          <a:lstStyle/>
          <a:p>
            <a:pPr indent="0" marL="0">
              <a:buNone/>
            </a:pPr>
            <a:r>
              <a:rPr lang="en-US" sz="1200" dirty="0">
                <a:solidFill>
                  <a:schemeClr val="tx1"/>
                </a:solidFill>
              </a:rPr>
              <a:t>last successful run</a:t>
            </a:r>
            <a:endParaRPr lang="en-US" sz="1200" dirty="0"/>
          </a:p>
        </p:txBody>
      </p:sp>
      <p:sp>
        <p:nvSpPr>
          <p:cNvPr id="30" name="text-431"/>
          <p:cNvSpPr txBox="1"/>
          <p:nvPr/>
        </p:nvSpPr>
        <p:spPr>
          <a:xfrm>
            <a:off x="6281928" y="2651760"/>
            <a:ext cx="2240280" cy="384048"/>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48 / 48</a:t>
            </a:r>
            <a:endParaRPr lang="en-US" sz="2200" dirty="0"/>
          </a:p>
        </p:txBody>
      </p:sp>
      <p:sp>
        <p:nvSpPr>
          <p:cNvPr id="31" name="text-432"/>
          <p:cNvSpPr txBox="1"/>
          <p:nvPr/>
        </p:nvSpPr>
        <p:spPr>
          <a:xfrm>
            <a:off x="6281928" y="3035808"/>
            <a:ext cx="2240280" cy="256032"/>
          </a:xfrm>
          <a:prstGeom prst="rect">
            <a:avLst/>
          </a:prstGeom>
          <a:noFill/>
          <a:ln/>
        </p:spPr>
        <p:txBody>
          <a:bodyPr wrap="square" lIns="0" tIns="0" rIns="0" bIns="0" rtlCol="0" anchor="t"/>
          <a:lstStyle/>
          <a:p>
            <a:pPr indent="0" marL="0">
              <a:buNone/>
            </a:pPr>
            <a:r>
              <a:rPr lang="en-US" sz="1200" dirty="0">
                <a:solidFill>
                  <a:schemeClr val="tx1"/>
                </a:solidFill>
              </a:rPr>
              <a:t>tests passed</a:t>
            </a:r>
            <a:endParaRPr lang="en-US" sz="1200" dirty="0"/>
          </a:p>
        </p:txBody>
      </p:sp>
      <p:sp>
        <p:nvSpPr>
          <p:cNvPr id="32" name="text-433"/>
          <p:cNvSpPr txBox="1"/>
          <p:nvPr/>
        </p:nvSpPr>
        <p:spPr>
          <a:xfrm>
            <a:off x="6281928" y="3429000"/>
            <a:ext cx="2240280" cy="384048"/>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Week 39</a:t>
            </a:r>
            <a:endParaRPr lang="en-US" sz="2200" dirty="0"/>
          </a:p>
        </p:txBody>
      </p:sp>
      <p:sp>
        <p:nvSpPr>
          <p:cNvPr id="33" name="text-434"/>
          <p:cNvSpPr txBox="1"/>
          <p:nvPr/>
        </p:nvSpPr>
        <p:spPr>
          <a:xfrm>
            <a:off x="6281928" y="3813048"/>
            <a:ext cx="2240280" cy="256032"/>
          </a:xfrm>
          <a:prstGeom prst="rect">
            <a:avLst/>
          </a:prstGeom>
          <a:noFill/>
          <a:ln/>
        </p:spPr>
        <p:txBody>
          <a:bodyPr wrap="square" lIns="0" tIns="0" rIns="0" bIns="0" rtlCol="0" anchor="t"/>
          <a:lstStyle/>
          <a:p>
            <a:pPr indent="0" marL="0">
              <a:buNone/>
            </a:pPr>
            <a:r>
              <a:rPr lang="en-US" sz="1200" dirty="0">
                <a:solidFill>
                  <a:schemeClr val="tx1"/>
                </a:solidFill>
              </a:rPr>
              <a:t>latest Eurostat data loaded</a:t>
            </a:r>
            <a:endParaRPr lang="en-US" sz="1200" dirty="0"/>
          </a:p>
        </p:txBody>
      </p:sp>
      <p:sp>
        <p:nvSpPr>
          <p:cNvPr id="34" name="text-435"/>
          <p:cNvSpPr txBox="1"/>
          <p:nvPr/>
        </p:nvSpPr>
        <p:spPr>
          <a:xfrm>
            <a:off x="457200" y="4389120"/>
            <a:ext cx="8229600" cy="256032"/>
          </a:xfrm>
          <a:prstGeom prst="rect">
            <a:avLst/>
          </a:prstGeom>
          <a:noFill/>
          <a:ln/>
        </p:spPr>
        <p:txBody>
          <a:bodyPr wrap="square" lIns="0" tIns="0" rIns="0" bIns="0" rtlCol="0" anchor="t"/>
          <a:lstStyle/>
          <a:p>
            <a:pPr indent="0" marL="0">
              <a:buNone/>
            </a:pPr>
            <a:r>
              <a:rPr lang="en-US" sz="1000" i="1" dirty="0">
                <a:solidFill>
                  <a:schemeClr val="accent6"/>
                </a:solidFill>
              </a:rPr>
              <a:t>Official figures from the proposal; model numbers and pipeline stats are made up for illustration.</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1463040"/>
            <a:ext cx="5120640" cy="320040"/>
          </a:xfrm>
          <a:prstGeom prst="rect">
            <a:avLst/>
          </a:prstGeom>
          <a:noFill/>
          <a:ln/>
        </p:spPr>
        <p:txBody>
          <a:bodyPr wrap="square" lIns="0" tIns="0" rIns="0" bIns="0" rtlCol="0"/>
          <a:lstStyle/>
          <a:p>
            <a:pPr indent="0" marL="0">
              <a:buNone/>
            </a:pPr>
            <a:r>
              <a:rPr lang="en-US" sz="1300" b="1" spc="200" kern="0" dirty="0">
                <a:solidFill>
                  <a:schemeClr val="accent2"/>
                </a:solidFill>
              </a:rPr>
              <a:t>EXAMPLE 2 · FRONTEND</a:t>
            </a:r>
            <a:endParaRPr lang="en-US" sz="1300" dirty="0"/>
          </a:p>
        </p:txBody>
      </p:sp>
      <p:sp>
        <p:nvSpPr>
          <p:cNvPr id="3" name="Text 0"/>
          <p:cNvSpPr/>
          <p:nvPr>
            <p:ph idx="101" type="title" hasCustomPrompt="1"/>
          </p:nvPr>
        </p:nvSpPr>
        <p:spPr>
          <a:xfrm>
            <a:off x="457200" y="1828800"/>
            <a:ext cx="5120640" cy="822960"/>
          </a:xfrm>
          <a:prstGeom prst="rect">
            <a:avLst/>
          </a:prstGeom>
          <a:noFill/>
          <a:ln/>
        </p:spPr>
        <p:txBody>
          <a:bodyPr wrap="square" lIns="0" tIns="0" rIns="0" bIns="0" rtlCol="0" anchor="t"/>
          <a:lstStyle/>
          <a:p>
            <a:pPr indent="0" marL="0">
              <a:buNone/>
            </a:pPr>
            <a:r>
              <a:rPr lang="en-US" sz="4000" b="1" dirty="0">
                <a:solidFill>
                  <a:schemeClr val="bg1"/>
                </a:solidFill>
              </a:rPr>
              <a:t>TransitBuddy</a:t>
            </a:r>
            <a:endParaRPr lang="en-US" sz="4000" dirty="0"/>
          </a:p>
        </p:txBody>
      </p:sp>
      <p:sp>
        <p:nvSpPr>
          <p:cNvPr id="4" name="Text 0"/>
          <p:cNvSpPr/>
          <p:nvPr>
            <p:ph idx="102" type="body" hasCustomPrompt="1"/>
          </p:nvPr>
        </p:nvSpPr>
        <p:spPr>
          <a:xfrm>
            <a:off x="457200" y="2743200"/>
            <a:ext cx="4937760" cy="1188720"/>
          </a:xfrm>
          <a:prstGeom prst="rect">
            <a:avLst/>
          </a:prstGeom>
          <a:noFill/>
          <a:ln/>
        </p:spPr>
        <p:txBody>
          <a:bodyPr wrap="square" lIns="0" tIns="0" rIns="0" bIns="0" rtlCol="0" anchor="t"/>
          <a:lstStyle/>
          <a:p>
            <a:pPr indent="0" marL="0">
              <a:buNone/>
            </a:pPr>
            <a:r>
              <a:rPr lang="en-US" sz="1600" dirty="0">
                <a:solidFill>
                  <a:schemeClr val="bg2"/>
                </a:solidFill>
              </a:rPr>
              <a:t>A made-up example: an accessible Berlin public-transport trip planner, built in React by a frontend student</a:t>
            </a:r>
            <a:endParaRPr lang="en-US" sz="1600" dirty="0"/>
          </a:p>
        </p:txBody>
      </p:sp>
      <p:sp>
        <p:nvSpPr>
          <p:cNvPr id="5" name="phone"/>
          <p:cNvSpPr/>
          <p:nvPr/>
        </p:nvSpPr>
        <p:spPr>
          <a:xfrm>
            <a:off x="6400800" y="685800"/>
            <a:ext cx="1828800" cy="3703320"/>
          </a:xfrm>
          <a:prstGeom prst="roundRect">
            <a:avLst>
              <a:gd name="adj" fmla="val 11000"/>
            </a:avLst>
          </a:prstGeom>
          <a:solidFill>
            <a:srgbClr val="111828"/>
          </a:solidFill>
          <a:ln w="25400">
            <a:solidFill>
              <a:srgbClr val="818CF8"/>
            </a:solidFill>
            <a:prstDash val="solid"/>
          </a:ln>
        </p:spPr>
      </p:sp>
      <p:sp>
        <p:nvSpPr>
          <p:cNvPr id="6" name="text-436"/>
          <p:cNvSpPr txBox="1"/>
          <p:nvPr/>
        </p:nvSpPr>
        <p:spPr>
          <a:xfrm>
            <a:off x="6565392" y="896112"/>
            <a:ext cx="1499616" cy="228600"/>
          </a:xfrm>
          <a:prstGeom prst="rect">
            <a:avLst/>
          </a:prstGeom>
          <a:noFill/>
          <a:ln/>
        </p:spPr>
        <p:txBody>
          <a:bodyPr wrap="square" lIns="0" tIns="0" rIns="0" bIns="0" rtlCol="0" anchor="t"/>
          <a:lstStyle/>
          <a:p>
            <a:pPr indent="0" marL="0">
              <a:buNone/>
            </a:pPr>
            <a:r>
              <a:rPr lang="en-US" sz="1200" b="1" dirty="0">
                <a:solidFill>
                  <a:schemeClr val="bg1"/>
                </a:solidFill>
              </a:rPr>
              <a:t>TransitBuddy</a:t>
            </a:r>
            <a:endParaRPr lang="en-US" sz="1200" dirty="0"/>
          </a:p>
        </p:txBody>
      </p:sp>
      <p:sp>
        <p:nvSpPr>
          <p:cNvPr id="7" name="card-437"/>
          <p:cNvSpPr/>
          <p:nvPr/>
        </p:nvSpPr>
        <p:spPr>
          <a:xfrm>
            <a:off x="6537960" y="1207008"/>
            <a:ext cx="1554480" cy="365760"/>
          </a:xfrm>
          <a:prstGeom prst="roundRect">
            <a:avLst>
              <a:gd name="adj" fmla="val 20000"/>
            </a:avLst>
          </a:prstGeom>
          <a:solidFill>
            <a:srgbClr val="1E2748"/>
          </a:solidFill>
          <a:ln w="9525">
            <a:solidFill>
              <a:srgbClr val="2E3A66"/>
            </a:solidFill>
            <a:prstDash val="solid"/>
          </a:ln>
        </p:spPr>
      </p:sp>
      <p:sp>
        <p:nvSpPr>
          <p:cNvPr id="8" name="text-438"/>
          <p:cNvSpPr txBox="1"/>
          <p:nvPr/>
        </p:nvSpPr>
        <p:spPr>
          <a:xfrm>
            <a:off x="6629400" y="1207008"/>
            <a:ext cx="1417320" cy="365760"/>
          </a:xfrm>
          <a:prstGeom prst="rect">
            <a:avLst/>
          </a:prstGeom>
          <a:noFill/>
          <a:ln/>
        </p:spPr>
        <p:txBody>
          <a:bodyPr wrap="square" lIns="0" tIns="0" rIns="0" bIns="0" rtlCol="0" anchor="ctr"/>
          <a:lstStyle/>
          <a:p>
            <a:pPr indent="0" marL="0">
              <a:buNone/>
            </a:pPr>
            <a:r>
              <a:rPr lang="en-US" sz="1000" dirty="0">
                <a:solidFill>
                  <a:srgbClr val="7D93B8"/>
                </a:solidFill>
              </a:rPr>
              <a:t>From  </a:t>
            </a:r>
            <a:pPr indent="0" marL="0">
              <a:buNone/>
            </a:pPr>
            <a:r>
              <a:rPr lang="en-US" sz="1000" dirty="0">
                <a:solidFill>
                  <a:schemeClr val="bg1"/>
                </a:solidFill>
              </a:rPr>
              <a:t>Alexanderplatz</a:t>
            </a:r>
            <a:endParaRPr lang="en-US" sz="1000" dirty="0"/>
          </a:p>
        </p:txBody>
      </p:sp>
      <p:sp>
        <p:nvSpPr>
          <p:cNvPr id="9" name="card-439"/>
          <p:cNvSpPr/>
          <p:nvPr/>
        </p:nvSpPr>
        <p:spPr>
          <a:xfrm>
            <a:off x="6537960" y="1664208"/>
            <a:ext cx="1554480" cy="365760"/>
          </a:xfrm>
          <a:prstGeom prst="roundRect">
            <a:avLst>
              <a:gd name="adj" fmla="val 20000"/>
            </a:avLst>
          </a:prstGeom>
          <a:solidFill>
            <a:srgbClr val="1E2748"/>
          </a:solidFill>
          <a:ln w="9525">
            <a:solidFill>
              <a:srgbClr val="2E3A66"/>
            </a:solidFill>
            <a:prstDash val="solid"/>
          </a:ln>
        </p:spPr>
      </p:sp>
      <p:sp>
        <p:nvSpPr>
          <p:cNvPr id="10" name="text-440"/>
          <p:cNvSpPr txBox="1"/>
          <p:nvPr/>
        </p:nvSpPr>
        <p:spPr>
          <a:xfrm>
            <a:off x="6629400" y="1664208"/>
            <a:ext cx="1417320" cy="365760"/>
          </a:xfrm>
          <a:prstGeom prst="rect">
            <a:avLst/>
          </a:prstGeom>
          <a:noFill/>
          <a:ln/>
        </p:spPr>
        <p:txBody>
          <a:bodyPr wrap="square" lIns="0" tIns="0" rIns="0" bIns="0" rtlCol="0" anchor="ctr"/>
          <a:lstStyle/>
          <a:p>
            <a:pPr indent="0" marL="0">
              <a:buNone/>
            </a:pPr>
            <a:r>
              <a:rPr lang="en-US" sz="1000" dirty="0">
                <a:solidFill>
                  <a:srgbClr val="7D93B8"/>
                </a:solidFill>
              </a:rPr>
              <a:t>To  </a:t>
            </a:r>
            <a:pPr indent="0" marL="0">
              <a:buNone/>
            </a:pPr>
            <a:r>
              <a:rPr lang="en-US" sz="1000" dirty="0">
                <a:solidFill>
                  <a:schemeClr val="bg1"/>
                </a:solidFill>
              </a:rPr>
              <a:t>Tempelhofer Feld</a:t>
            </a:r>
            <a:endParaRPr lang="en-US" sz="1000" dirty="0"/>
          </a:p>
        </p:txBody>
      </p:sp>
      <p:sp>
        <p:nvSpPr>
          <p:cNvPr id="11" name="chip-441"/>
          <p:cNvSpPr/>
          <p:nvPr/>
        </p:nvSpPr>
        <p:spPr>
          <a:xfrm>
            <a:off x="6565392" y="2313432"/>
            <a:ext cx="457200" cy="219456"/>
          </a:xfrm>
          <a:prstGeom prst="roundRect">
            <a:avLst>
              <a:gd name="adj" fmla="val 50000"/>
            </a:avLst>
          </a:prstGeom>
          <a:solidFill>
            <a:schemeClr val="accent1"/>
          </a:solidFill>
          <a:ln w="12700">
            <a:solidFill>
              <a:schemeClr val="accent1"/>
            </a:solidFill>
            <a:prstDash val="solid"/>
          </a:ln>
        </p:spPr>
      </p:sp>
      <p:sp>
        <p:nvSpPr>
          <p:cNvPr id="12" name="text-442"/>
          <p:cNvSpPr txBox="1"/>
          <p:nvPr/>
        </p:nvSpPr>
        <p:spPr>
          <a:xfrm>
            <a:off x="6565392" y="2313432"/>
            <a:ext cx="457200" cy="219456"/>
          </a:xfrm>
          <a:prstGeom prst="rect">
            <a:avLst/>
          </a:prstGeom>
          <a:noFill/>
          <a:ln/>
        </p:spPr>
        <p:txBody>
          <a:bodyPr wrap="square" lIns="0" tIns="0" rIns="0" bIns="0" rtlCol="0" anchor="ctr"/>
          <a:lstStyle/>
          <a:p>
            <a:pPr algn="ctr" indent="0" marL="0">
              <a:buNone/>
            </a:pPr>
            <a:r>
              <a:rPr lang="en-US" sz="1000" b="1" dirty="0">
                <a:solidFill>
                  <a:schemeClr val="bg1"/>
                </a:solidFill>
              </a:rPr>
              <a:t>U8</a:t>
            </a:r>
            <a:endParaRPr lang="en-US" sz="1000" dirty="0"/>
          </a:p>
        </p:txBody>
      </p:sp>
      <p:sp>
        <p:nvSpPr>
          <p:cNvPr id="13" name="text-443"/>
          <p:cNvSpPr txBox="1"/>
          <p:nvPr/>
        </p:nvSpPr>
        <p:spPr>
          <a:xfrm>
            <a:off x="7132320" y="2240280"/>
            <a:ext cx="914400" cy="365760"/>
          </a:xfrm>
          <a:prstGeom prst="rect">
            <a:avLst/>
          </a:prstGeom>
          <a:noFill/>
          <a:ln/>
        </p:spPr>
        <p:txBody>
          <a:bodyPr wrap="square" lIns="0" tIns="0" rIns="0" bIns="0" rtlCol="0" anchor="ctr"/>
          <a:lstStyle/>
          <a:p>
            <a:pPr indent="0" marL="0">
              <a:buNone/>
            </a:pPr>
            <a:r>
              <a:rPr lang="en-US" sz="1100" dirty="0">
                <a:solidFill>
                  <a:schemeClr val="bg1"/>
                </a:solidFill>
              </a:rPr>
              <a:t>12:04</a:t>
            </a:r>
            <a:endParaRPr lang="en-US" sz="1100" dirty="0"/>
          </a:p>
        </p:txBody>
      </p:sp>
      <p:sp>
        <p:nvSpPr>
          <p:cNvPr id="14" name="chip-444"/>
          <p:cNvSpPr/>
          <p:nvPr/>
        </p:nvSpPr>
        <p:spPr>
          <a:xfrm>
            <a:off x="6565392" y="2770632"/>
            <a:ext cx="457200" cy="219456"/>
          </a:xfrm>
          <a:prstGeom prst="roundRect">
            <a:avLst>
              <a:gd name="adj" fmla="val 50000"/>
            </a:avLst>
          </a:prstGeom>
          <a:solidFill>
            <a:schemeClr val="accent1"/>
          </a:solidFill>
          <a:ln w="12700">
            <a:solidFill>
              <a:schemeClr val="accent1"/>
            </a:solidFill>
            <a:prstDash val="solid"/>
          </a:ln>
        </p:spPr>
      </p:sp>
      <p:sp>
        <p:nvSpPr>
          <p:cNvPr id="15" name="text-445"/>
          <p:cNvSpPr txBox="1"/>
          <p:nvPr/>
        </p:nvSpPr>
        <p:spPr>
          <a:xfrm>
            <a:off x="6565392" y="2770632"/>
            <a:ext cx="457200" cy="219456"/>
          </a:xfrm>
          <a:prstGeom prst="rect">
            <a:avLst/>
          </a:prstGeom>
          <a:noFill/>
          <a:ln/>
        </p:spPr>
        <p:txBody>
          <a:bodyPr wrap="square" lIns="0" tIns="0" rIns="0" bIns="0" rtlCol="0" anchor="ctr"/>
          <a:lstStyle/>
          <a:p>
            <a:pPr algn="ctr" indent="0" marL="0">
              <a:buNone/>
            </a:pPr>
            <a:r>
              <a:rPr lang="en-US" sz="1000" b="1" dirty="0">
                <a:solidFill>
                  <a:schemeClr val="bg1"/>
                </a:solidFill>
              </a:rPr>
              <a:t>S41</a:t>
            </a:r>
            <a:endParaRPr lang="en-US" sz="1000" dirty="0"/>
          </a:p>
        </p:txBody>
      </p:sp>
      <p:sp>
        <p:nvSpPr>
          <p:cNvPr id="16" name="text-446"/>
          <p:cNvSpPr txBox="1"/>
          <p:nvPr/>
        </p:nvSpPr>
        <p:spPr>
          <a:xfrm>
            <a:off x="7132320" y="2697480"/>
            <a:ext cx="914400" cy="365760"/>
          </a:xfrm>
          <a:prstGeom prst="rect">
            <a:avLst/>
          </a:prstGeom>
          <a:noFill/>
          <a:ln/>
        </p:spPr>
        <p:txBody>
          <a:bodyPr wrap="square" lIns="0" tIns="0" rIns="0" bIns="0" rtlCol="0" anchor="ctr"/>
          <a:lstStyle/>
          <a:p>
            <a:pPr indent="0" marL="0">
              <a:buNone/>
            </a:pPr>
            <a:r>
              <a:rPr lang="en-US" sz="1100" dirty="0">
                <a:solidFill>
                  <a:schemeClr val="bg1"/>
                </a:solidFill>
              </a:rPr>
              <a:t>12:11</a:t>
            </a:r>
            <a:endParaRPr lang="en-US" sz="1100" dirty="0"/>
          </a:p>
        </p:txBody>
      </p:sp>
      <p:sp>
        <p:nvSpPr>
          <p:cNvPr id="17" name="chip-447"/>
          <p:cNvSpPr/>
          <p:nvPr/>
        </p:nvSpPr>
        <p:spPr>
          <a:xfrm>
            <a:off x="6565392" y="3227832"/>
            <a:ext cx="457200" cy="219456"/>
          </a:xfrm>
          <a:prstGeom prst="roundRect">
            <a:avLst>
              <a:gd name="adj" fmla="val 50000"/>
            </a:avLst>
          </a:prstGeom>
          <a:solidFill>
            <a:schemeClr val="accent1"/>
          </a:solidFill>
          <a:ln w="12700">
            <a:solidFill>
              <a:schemeClr val="accent1"/>
            </a:solidFill>
            <a:prstDash val="solid"/>
          </a:ln>
        </p:spPr>
      </p:sp>
      <p:sp>
        <p:nvSpPr>
          <p:cNvPr id="18" name="text-448"/>
          <p:cNvSpPr txBox="1"/>
          <p:nvPr/>
        </p:nvSpPr>
        <p:spPr>
          <a:xfrm>
            <a:off x="6565392" y="3227832"/>
            <a:ext cx="457200" cy="219456"/>
          </a:xfrm>
          <a:prstGeom prst="rect">
            <a:avLst/>
          </a:prstGeom>
          <a:noFill/>
          <a:ln/>
        </p:spPr>
        <p:txBody>
          <a:bodyPr wrap="square" lIns="0" tIns="0" rIns="0" bIns="0" rtlCol="0" anchor="ctr"/>
          <a:lstStyle/>
          <a:p>
            <a:pPr algn="ctr" indent="0" marL="0">
              <a:buNone/>
            </a:pPr>
            <a:r>
              <a:rPr lang="en-US" sz="1000" b="1" dirty="0">
                <a:solidFill>
                  <a:schemeClr val="bg1"/>
                </a:solidFill>
              </a:rPr>
              <a:t>Walk</a:t>
            </a:r>
            <a:endParaRPr lang="en-US" sz="1000" dirty="0"/>
          </a:p>
        </p:txBody>
      </p:sp>
      <p:sp>
        <p:nvSpPr>
          <p:cNvPr id="19" name="text-449"/>
          <p:cNvSpPr txBox="1"/>
          <p:nvPr/>
        </p:nvSpPr>
        <p:spPr>
          <a:xfrm>
            <a:off x="7132320" y="3154680"/>
            <a:ext cx="914400" cy="365760"/>
          </a:xfrm>
          <a:prstGeom prst="rect">
            <a:avLst/>
          </a:prstGeom>
          <a:noFill/>
          <a:ln/>
        </p:spPr>
        <p:txBody>
          <a:bodyPr wrap="square" lIns="0" tIns="0" rIns="0" bIns="0" rtlCol="0" anchor="ctr"/>
          <a:lstStyle/>
          <a:p>
            <a:pPr indent="0" marL="0">
              <a:buNone/>
            </a:pPr>
            <a:r>
              <a:rPr lang="en-US" sz="1100" dirty="0">
                <a:solidFill>
                  <a:schemeClr val="bg1"/>
                </a:solidFill>
              </a:rPr>
              <a:t>4 min</a:t>
            </a:r>
            <a:endParaRPr lang="en-US" sz="1100" dirty="0"/>
          </a:p>
        </p:txBody>
      </p:sp>
      <p:sp>
        <p:nvSpPr>
          <p:cNvPr id="20" name="chip-450"/>
          <p:cNvSpPr/>
          <p:nvPr/>
        </p:nvSpPr>
        <p:spPr>
          <a:xfrm>
            <a:off x="6537960" y="3749040"/>
            <a:ext cx="1554480" cy="256032"/>
          </a:xfrm>
          <a:prstGeom prst="roundRect">
            <a:avLst>
              <a:gd name="adj" fmla="val 50000"/>
            </a:avLst>
          </a:prstGeom>
          <a:solidFill>
            <a:schemeClr val="accent3"/>
          </a:solidFill>
          <a:ln w="12700">
            <a:solidFill>
              <a:schemeClr val="accent3"/>
            </a:solidFill>
            <a:prstDash val="solid"/>
          </a:ln>
        </p:spPr>
      </p:sp>
      <p:sp>
        <p:nvSpPr>
          <p:cNvPr id="21" name="text-451"/>
          <p:cNvSpPr txBox="1"/>
          <p:nvPr/>
        </p:nvSpPr>
        <p:spPr>
          <a:xfrm>
            <a:off x="6537960" y="3749040"/>
            <a:ext cx="1554480" cy="256032"/>
          </a:xfrm>
          <a:prstGeom prst="rect">
            <a:avLst/>
          </a:prstGeom>
          <a:noFill/>
          <a:ln/>
        </p:spPr>
        <p:txBody>
          <a:bodyPr wrap="square" lIns="0" tIns="0" rIns="0" bIns="0" rtlCol="0" anchor="ctr"/>
          <a:lstStyle/>
          <a:p>
            <a:pPr algn="ctr" indent="0" marL="0">
              <a:buNone/>
            </a:pPr>
            <a:r>
              <a:rPr lang="en-US" sz="1000" b="1" dirty="0">
                <a:solidFill>
                  <a:schemeClr val="bg1"/>
                </a:solidFill>
              </a:rPr>
              <a:t>Screen-reader friendly</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9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TransitBuddy on ProSho</a:t>
            </a:r>
            <a:endParaRPr lang="en-US" sz="3200" dirty="0"/>
          </a:p>
        </p:txBody>
      </p:sp>
      <p:sp>
        <p:nvSpPr>
          <p:cNvPr id="3" name="browser-452"/>
          <p:cNvSpPr/>
          <p:nvPr/>
        </p:nvSpPr>
        <p:spPr>
          <a:xfrm>
            <a:off x="457200" y="1097280"/>
            <a:ext cx="5760720" cy="3547872"/>
          </a:xfrm>
          <a:prstGeom prst="roundRect">
            <a:avLst>
              <a:gd name="adj" fmla="val 2062"/>
            </a:avLst>
          </a:prstGeom>
          <a:solidFill>
            <a:schemeClr val="bg1"/>
          </a:solidFill>
          <a:ln w="12700">
            <a:solidFill>
              <a:srgbClr val="C7CCE0"/>
            </a:solidFill>
            <a:prstDash val="solid"/>
          </a:ln>
        </p:spPr>
      </p:sp>
      <p:sp>
        <p:nvSpPr>
          <p:cNvPr id="4" name="browser-divider-453"/>
          <p:cNvSpPr/>
          <p:nvPr/>
        </p:nvSpPr>
        <p:spPr>
          <a:xfrm>
            <a:off x="475488" y="1371600"/>
            <a:ext cx="5724144" cy="9144"/>
          </a:xfrm>
          <a:prstGeom prst="rect">
            <a:avLst/>
          </a:prstGeom>
          <a:solidFill>
            <a:srgbClr val="E2E5F0"/>
          </a:solidFill>
          <a:ln w="12700">
            <a:solidFill>
              <a:srgbClr val="E2E5F0"/>
            </a:solidFill>
            <a:prstDash val="solid"/>
          </a:ln>
        </p:spPr>
      </p:sp>
      <p:sp>
        <p:nvSpPr>
          <p:cNvPr id="5" name="dot-454"/>
          <p:cNvSpPr/>
          <p:nvPr/>
        </p:nvSpPr>
        <p:spPr>
          <a:xfrm>
            <a:off x="585216" y="1188720"/>
            <a:ext cx="91440" cy="91440"/>
          </a:xfrm>
          <a:prstGeom prst="ellipse">
            <a:avLst/>
          </a:prstGeom>
          <a:solidFill>
            <a:srgbClr val="EF4444"/>
          </a:solidFill>
          <a:ln w="12700">
            <a:solidFill>
              <a:srgbClr val="EF4444"/>
            </a:solidFill>
            <a:prstDash val="solid"/>
          </a:ln>
        </p:spPr>
      </p:sp>
      <p:sp>
        <p:nvSpPr>
          <p:cNvPr id="6" name="dot-455"/>
          <p:cNvSpPr/>
          <p:nvPr/>
        </p:nvSpPr>
        <p:spPr>
          <a:xfrm>
            <a:off x="731520" y="1188720"/>
            <a:ext cx="91440" cy="91440"/>
          </a:xfrm>
          <a:prstGeom prst="ellipse">
            <a:avLst/>
          </a:prstGeom>
          <a:solidFill>
            <a:srgbClr val="F59E0B"/>
          </a:solidFill>
          <a:ln w="12700">
            <a:solidFill>
              <a:srgbClr val="F59E0B"/>
            </a:solidFill>
            <a:prstDash val="solid"/>
          </a:ln>
        </p:spPr>
      </p:sp>
      <p:sp>
        <p:nvSpPr>
          <p:cNvPr id="7" name="dot-456"/>
          <p:cNvSpPr/>
          <p:nvPr/>
        </p:nvSpPr>
        <p:spPr>
          <a:xfrm>
            <a:off x="877824" y="1188720"/>
            <a:ext cx="91440" cy="91440"/>
          </a:xfrm>
          <a:prstGeom prst="ellipse">
            <a:avLst/>
          </a:prstGeom>
          <a:solidFill>
            <a:srgbClr val="10B981"/>
          </a:solidFill>
          <a:ln w="12700">
            <a:solidFill>
              <a:srgbClr val="10B981"/>
            </a:solidFill>
            <a:prstDash val="solid"/>
          </a:ln>
        </p:spPr>
      </p:sp>
      <p:sp>
        <p:nvSpPr>
          <p:cNvPr id="8" name="url-bar-457"/>
          <p:cNvSpPr/>
          <p:nvPr/>
        </p:nvSpPr>
        <p:spPr>
          <a:xfrm>
            <a:off x="1097280" y="1152144"/>
            <a:ext cx="3017520" cy="173736"/>
          </a:xfrm>
          <a:prstGeom prst="roundRect">
            <a:avLst>
              <a:gd name="adj" fmla="val 47368"/>
            </a:avLst>
          </a:prstGeom>
          <a:solidFill>
            <a:srgbClr val="F1F3F9"/>
          </a:solidFill>
          <a:ln w="12700">
            <a:solidFill>
              <a:srgbClr val="F1F3F9"/>
            </a:solidFill>
            <a:prstDash val="solid"/>
          </a:ln>
        </p:spPr>
      </p:sp>
      <p:sp>
        <p:nvSpPr>
          <p:cNvPr id="9" name="text-458"/>
          <p:cNvSpPr txBox="1"/>
          <p:nvPr/>
        </p:nvSpPr>
        <p:spPr>
          <a:xfrm>
            <a:off x="1188720" y="1152144"/>
            <a:ext cx="2834640" cy="173736"/>
          </a:xfrm>
          <a:prstGeom prst="rect">
            <a:avLst/>
          </a:prstGeom>
          <a:noFill/>
          <a:ln/>
        </p:spPr>
        <p:txBody>
          <a:bodyPr wrap="square" lIns="0" tIns="0" rIns="0" bIns="0" rtlCol="0" anchor="ctr"/>
          <a:lstStyle/>
          <a:p>
            <a:pPr indent="0" marL="0">
              <a:buNone/>
            </a:pPr>
            <a:r>
              <a:rPr lang="en-US" sz="1000" dirty="0">
                <a:solidFill>
                  <a:schemeClr val="accent6"/>
                </a:solidFill>
              </a:rPr>
              <a:t>🔒 lvamo.com/prosho/transitbuddy</a:t>
            </a:r>
            <a:endParaRPr lang="en-US" sz="1000" dirty="0"/>
          </a:p>
        </p:txBody>
      </p:sp>
      <p:sp>
        <p:nvSpPr>
          <p:cNvPr id="10" name="text-459"/>
          <p:cNvSpPr txBox="1"/>
          <p:nvPr/>
        </p:nvSpPr>
        <p:spPr>
          <a:xfrm>
            <a:off x="640080" y="1481328"/>
            <a:ext cx="3291840" cy="29260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TransitBuddy</a:t>
            </a:r>
            <a:endParaRPr lang="en-US" sz="1600" dirty="0"/>
          </a:p>
        </p:txBody>
      </p:sp>
      <p:sp>
        <p:nvSpPr>
          <p:cNvPr id="11" name="text-460"/>
          <p:cNvSpPr txBox="1"/>
          <p:nvPr/>
        </p:nvSpPr>
        <p:spPr>
          <a:xfrm>
            <a:off x="640080" y="1773936"/>
            <a:ext cx="3474720" cy="201168"/>
          </a:xfrm>
          <a:prstGeom prst="rect">
            <a:avLst/>
          </a:prstGeom>
          <a:noFill/>
          <a:ln/>
        </p:spPr>
        <p:txBody>
          <a:bodyPr wrap="square" lIns="0" tIns="0" rIns="0" bIns="0" rtlCol="0" anchor="t"/>
          <a:lstStyle/>
          <a:p>
            <a:pPr indent="0" marL="0">
              <a:buNone/>
            </a:pPr>
            <a:r>
              <a:rPr lang="en-US" sz="1000" dirty="0">
                <a:solidFill>
                  <a:schemeClr val="accent6"/>
                </a:solidFill>
              </a:rPr>
              <a:t>Student name · BSc Software Engineering</a:t>
            </a:r>
            <a:endParaRPr lang="en-US" sz="1000" dirty="0"/>
          </a:p>
        </p:txBody>
      </p:sp>
      <p:sp>
        <p:nvSpPr>
          <p:cNvPr id="12" name="chip-461"/>
          <p:cNvSpPr/>
          <p:nvPr/>
        </p:nvSpPr>
        <p:spPr>
          <a:xfrm>
            <a:off x="4069080" y="1527048"/>
            <a:ext cx="960120" cy="219456"/>
          </a:xfrm>
          <a:prstGeom prst="roundRect">
            <a:avLst>
              <a:gd name="adj" fmla="val 50000"/>
            </a:avLst>
          </a:prstGeom>
          <a:solidFill>
            <a:schemeClr val="bg2"/>
          </a:solidFill>
          <a:ln w="12700">
            <a:solidFill>
              <a:schemeClr val="bg2"/>
            </a:solidFill>
            <a:prstDash val="solid"/>
          </a:ln>
        </p:spPr>
      </p:sp>
      <p:sp>
        <p:nvSpPr>
          <p:cNvPr id="13" name="text-462"/>
          <p:cNvSpPr txBox="1"/>
          <p:nvPr/>
        </p:nvSpPr>
        <p:spPr>
          <a:xfrm>
            <a:off x="4069080" y="1527048"/>
            <a:ext cx="960120" cy="219456"/>
          </a:xfrm>
          <a:prstGeom prst="rect">
            <a:avLst/>
          </a:prstGeom>
          <a:noFill/>
          <a:ln/>
        </p:spPr>
        <p:txBody>
          <a:bodyPr wrap="square" lIns="0" tIns="0" rIns="0" bIns="0" rtlCol="0" anchor="ctr"/>
          <a:lstStyle/>
          <a:p>
            <a:pPr algn="ctr" indent="0" marL="0">
              <a:buNone/>
            </a:pPr>
            <a:r>
              <a:rPr lang="en-US" sz="1000" b="1" dirty="0">
                <a:solidFill>
                  <a:schemeClr val="accent1"/>
                </a:solidFill>
              </a:rPr>
              <a:t>Frontend</a:t>
            </a:r>
            <a:endParaRPr lang="en-US" sz="1000" dirty="0"/>
          </a:p>
        </p:txBody>
      </p:sp>
      <p:sp>
        <p:nvSpPr>
          <p:cNvPr id="14" name="chip-463"/>
          <p:cNvSpPr/>
          <p:nvPr/>
        </p:nvSpPr>
        <p:spPr>
          <a:xfrm>
            <a:off x="5074920" y="1527048"/>
            <a:ext cx="1005840" cy="219456"/>
          </a:xfrm>
          <a:prstGeom prst="roundRect">
            <a:avLst>
              <a:gd name="adj" fmla="val 50000"/>
            </a:avLst>
          </a:prstGeom>
          <a:solidFill>
            <a:schemeClr val="accent1"/>
          </a:solidFill>
          <a:ln w="12700">
            <a:solidFill>
              <a:schemeClr val="accent1"/>
            </a:solidFill>
            <a:prstDash val="solid"/>
          </a:ln>
        </p:spPr>
      </p:sp>
      <p:sp>
        <p:nvSpPr>
          <p:cNvPr id="15" name="text-464"/>
          <p:cNvSpPr txBox="1"/>
          <p:nvPr/>
        </p:nvSpPr>
        <p:spPr>
          <a:xfrm>
            <a:off x="5074920" y="1527048"/>
            <a:ext cx="1005840" cy="219456"/>
          </a:xfrm>
          <a:prstGeom prst="rect">
            <a:avLst/>
          </a:prstGeom>
          <a:noFill/>
          <a:ln/>
        </p:spPr>
        <p:txBody>
          <a:bodyPr wrap="square" lIns="0" tIns="0" rIns="0" bIns="0" rtlCol="0" anchor="ctr"/>
          <a:lstStyle/>
          <a:p>
            <a:pPr algn="ctr" indent="0" marL="0">
              <a:buNone/>
            </a:pPr>
            <a:r>
              <a:rPr lang="en-US" sz="900" b="1" dirty="0">
                <a:solidFill>
                  <a:schemeClr val="bg1"/>
                </a:solidFill>
              </a:rPr>
              <a:t>Mentored via LVAMO</a:t>
            </a:r>
            <a:endParaRPr lang="en-US" sz="900" dirty="0"/>
          </a:p>
        </p:txBody>
      </p:sp>
      <p:sp>
        <p:nvSpPr>
          <p:cNvPr id="16" name="divider-465"/>
          <p:cNvSpPr/>
          <p:nvPr/>
        </p:nvSpPr>
        <p:spPr>
          <a:xfrm>
            <a:off x="640080" y="2039112"/>
            <a:ext cx="5394960" cy="9144"/>
          </a:xfrm>
          <a:prstGeom prst="rect">
            <a:avLst/>
          </a:prstGeom>
          <a:solidFill>
            <a:srgbClr val="E2E5F0"/>
          </a:solidFill>
          <a:ln w="12700">
            <a:solidFill>
              <a:srgbClr val="E2E5F0"/>
            </a:solidFill>
            <a:prstDash val="solid"/>
          </a:ln>
        </p:spPr>
      </p:sp>
      <p:sp>
        <p:nvSpPr>
          <p:cNvPr id="17" name="text-466"/>
          <p:cNvSpPr txBox="1"/>
          <p:nvPr/>
        </p:nvSpPr>
        <p:spPr>
          <a:xfrm>
            <a:off x="640080" y="2121408"/>
            <a:ext cx="1371600" cy="201168"/>
          </a:xfrm>
          <a:prstGeom prst="rect">
            <a:avLst/>
          </a:prstGeom>
          <a:noFill/>
          <a:ln/>
        </p:spPr>
        <p:txBody>
          <a:bodyPr wrap="square" lIns="0" tIns="0" rIns="0" bIns="0" rtlCol="0" anchor="t"/>
          <a:lstStyle/>
          <a:p>
            <a:pPr indent="0" marL="0">
              <a:buNone/>
            </a:pPr>
            <a:r>
              <a:rPr lang="en-US" sz="1000" b="1" spc="150" kern="0" dirty="0">
                <a:solidFill>
                  <a:schemeClr val="accent1"/>
                </a:solidFill>
              </a:rPr>
              <a:t>CLAIMS</a:t>
            </a:r>
            <a:endParaRPr lang="en-US" sz="1000" dirty="0"/>
          </a:p>
        </p:txBody>
      </p:sp>
      <p:sp>
        <p:nvSpPr>
          <p:cNvPr id="18" name="card-467"/>
          <p:cNvSpPr/>
          <p:nvPr/>
        </p:nvSpPr>
        <p:spPr>
          <a:xfrm>
            <a:off x="640080" y="2359152"/>
            <a:ext cx="3154680" cy="484632"/>
          </a:xfrm>
          <a:prstGeom prst="roundRect">
            <a:avLst>
              <a:gd name="adj" fmla="val 15094"/>
            </a:avLst>
          </a:prstGeom>
          <a:solidFill>
            <a:srgbClr val="F6F7FC"/>
          </a:solidFill>
          <a:ln w="9525">
            <a:solidFill>
              <a:srgbClr val="E2E5F0"/>
            </a:solidFill>
            <a:prstDash val="solid"/>
          </a:ln>
        </p:spPr>
      </p:sp>
      <p:sp>
        <p:nvSpPr>
          <p:cNvPr id="19" name="text-468"/>
          <p:cNvSpPr txBox="1"/>
          <p:nvPr/>
        </p:nvSpPr>
        <p:spPr>
          <a:xfrm>
            <a:off x="731520" y="2404872"/>
            <a:ext cx="2194560" cy="411480"/>
          </a:xfrm>
          <a:prstGeom prst="rect">
            <a:avLst/>
          </a:prstGeom>
          <a:noFill/>
          <a:ln/>
        </p:spPr>
        <p:txBody>
          <a:bodyPr wrap="square" lIns="0" tIns="0" rIns="0" bIns="0" rtlCol="0" anchor="ctr"/>
          <a:lstStyle/>
          <a:p>
            <a:pPr indent="0" marL="0">
              <a:buNone/>
            </a:pPr>
            <a:r>
              <a:rPr lang="en-US" sz="1050" b="1" dirty="0">
                <a:solidFill>
                  <a:schemeClr val="tx1"/>
                </a:solidFill>
              </a:rPr>
              <a:t>Usable with a screen reader</a:t>
            </a:r>
            <a:endParaRPr lang="en-US" sz="1050" dirty="0"/>
          </a:p>
          <a:p>
            <a:pPr indent="0" marL="0">
              <a:buNone/>
            </a:pPr>
            <a:r>
              <a:rPr lang="en-US" sz="1000" dirty="0">
                <a:solidFill>
                  <a:schemeClr val="accent6"/>
                </a:solidFill>
              </a:rPr>
              <a:t>Lighthouse accessibility 96</a:t>
            </a:r>
            <a:endParaRPr lang="en-US" sz="1050" dirty="0"/>
          </a:p>
        </p:txBody>
      </p:sp>
      <p:sp>
        <p:nvSpPr>
          <p:cNvPr id="20" name="chip-469"/>
          <p:cNvSpPr/>
          <p:nvPr/>
        </p:nvSpPr>
        <p:spPr>
          <a:xfrm>
            <a:off x="2971800" y="2491740"/>
            <a:ext cx="731520" cy="219456"/>
          </a:xfrm>
          <a:prstGeom prst="roundRect">
            <a:avLst>
              <a:gd name="adj" fmla="val 50000"/>
            </a:avLst>
          </a:prstGeom>
          <a:solidFill>
            <a:schemeClr val="accent3"/>
          </a:solidFill>
          <a:ln w="12700">
            <a:solidFill>
              <a:schemeClr val="accent3"/>
            </a:solidFill>
            <a:prstDash val="solid"/>
          </a:ln>
        </p:spPr>
      </p:sp>
      <p:sp>
        <p:nvSpPr>
          <p:cNvPr id="21" name="text-470"/>
          <p:cNvSpPr txBox="1"/>
          <p:nvPr/>
        </p:nvSpPr>
        <p:spPr>
          <a:xfrm>
            <a:off x="2971800" y="2491740"/>
            <a:ext cx="731520" cy="219456"/>
          </a:xfrm>
          <a:prstGeom prst="rect">
            <a:avLst/>
          </a:prstGeom>
          <a:noFill/>
          <a:ln/>
        </p:spPr>
        <p:txBody>
          <a:bodyPr wrap="square" lIns="0" tIns="0" rIns="0" bIns="0" rtlCol="0" anchor="ctr"/>
          <a:lstStyle/>
          <a:p>
            <a:pPr algn="ctr" indent="0" marL="0">
              <a:buNone/>
            </a:pPr>
            <a:r>
              <a:rPr lang="en-US" sz="1000" b="1" dirty="0">
                <a:solidFill>
                  <a:schemeClr val="bg1"/>
                </a:solidFill>
              </a:rPr>
              <a:t>✓ Met</a:t>
            </a:r>
            <a:endParaRPr lang="en-US" sz="1000" dirty="0"/>
          </a:p>
        </p:txBody>
      </p:sp>
      <p:sp>
        <p:nvSpPr>
          <p:cNvPr id="22" name="card-471"/>
          <p:cNvSpPr/>
          <p:nvPr/>
        </p:nvSpPr>
        <p:spPr>
          <a:xfrm>
            <a:off x="640080" y="2907792"/>
            <a:ext cx="3154680" cy="484632"/>
          </a:xfrm>
          <a:prstGeom prst="roundRect">
            <a:avLst>
              <a:gd name="adj" fmla="val 15094"/>
            </a:avLst>
          </a:prstGeom>
          <a:solidFill>
            <a:srgbClr val="F6F7FC"/>
          </a:solidFill>
          <a:ln w="9525">
            <a:solidFill>
              <a:srgbClr val="E2E5F0"/>
            </a:solidFill>
            <a:prstDash val="solid"/>
          </a:ln>
        </p:spPr>
      </p:sp>
      <p:sp>
        <p:nvSpPr>
          <p:cNvPr id="23" name="text-472"/>
          <p:cNvSpPr txBox="1"/>
          <p:nvPr/>
        </p:nvSpPr>
        <p:spPr>
          <a:xfrm>
            <a:off x="731520" y="2953512"/>
            <a:ext cx="2194560" cy="411480"/>
          </a:xfrm>
          <a:prstGeom prst="rect">
            <a:avLst/>
          </a:prstGeom>
          <a:noFill/>
          <a:ln/>
        </p:spPr>
        <p:txBody>
          <a:bodyPr wrap="square" lIns="0" tIns="0" rIns="0" bIns="0" rtlCol="0" anchor="ctr"/>
          <a:lstStyle/>
          <a:p>
            <a:pPr indent="0" marL="0">
              <a:buNone/>
            </a:pPr>
            <a:r>
              <a:rPr lang="en-US" sz="1050" b="1" dirty="0">
                <a:solidFill>
                  <a:schemeClr val="tx1"/>
                </a:solidFill>
              </a:rPr>
              <a:t>Fast on a mid-range phone</a:t>
            </a:r>
            <a:endParaRPr lang="en-US" sz="1050" dirty="0"/>
          </a:p>
          <a:p>
            <a:pPr indent="0" marL="0">
              <a:buNone/>
            </a:pPr>
            <a:r>
              <a:rPr lang="en-US" sz="1000" dirty="0">
                <a:solidFill>
                  <a:schemeClr val="accent6"/>
                </a:solidFill>
              </a:rPr>
              <a:t>Mobile performance 88</a:t>
            </a:r>
            <a:endParaRPr lang="en-US" sz="1050" dirty="0"/>
          </a:p>
        </p:txBody>
      </p:sp>
      <p:sp>
        <p:nvSpPr>
          <p:cNvPr id="24" name="chip-473"/>
          <p:cNvSpPr/>
          <p:nvPr/>
        </p:nvSpPr>
        <p:spPr>
          <a:xfrm>
            <a:off x="2971800" y="3040380"/>
            <a:ext cx="731520" cy="219456"/>
          </a:xfrm>
          <a:prstGeom prst="roundRect">
            <a:avLst>
              <a:gd name="adj" fmla="val 50000"/>
            </a:avLst>
          </a:prstGeom>
          <a:solidFill>
            <a:schemeClr val="accent3"/>
          </a:solidFill>
          <a:ln w="12700">
            <a:solidFill>
              <a:schemeClr val="accent3"/>
            </a:solidFill>
            <a:prstDash val="solid"/>
          </a:ln>
        </p:spPr>
      </p:sp>
      <p:sp>
        <p:nvSpPr>
          <p:cNvPr id="25" name="text-474"/>
          <p:cNvSpPr txBox="1"/>
          <p:nvPr/>
        </p:nvSpPr>
        <p:spPr>
          <a:xfrm>
            <a:off x="2971800" y="3040380"/>
            <a:ext cx="731520" cy="219456"/>
          </a:xfrm>
          <a:prstGeom prst="rect">
            <a:avLst/>
          </a:prstGeom>
          <a:noFill/>
          <a:ln/>
        </p:spPr>
        <p:txBody>
          <a:bodyPr wrap="square" lIns="0" tIns="0" rIns="0" bIns="0" rtlCol="0" anchor="ctr"/>
          <a:lstStyle/>
          <a:p>
            <a:pPr algn="ctr" indent="0" marL="0">
              <a:buNone/>
            </a:pPr>
            <a:r>
              <a:rPr lang="en-US" sz="1000" b="1" dirty="0">
                <a:solidFill>
                  <a:schemeClr val="bg1"/>
                </a:solidFill>
              </a:rPr>
              <a:t>✓ Met</a:t>
            </a:r>
            <a:endParaRPr lang="en-US" sz="1000" dirty="0"/>
          </a:p>
        </p:txBody>
      </p:sp>
      <p:sp>
        <p:nvSpPr>
          <p:cNvPr id="26" name="card-475"/>
          <p:cNvSpPr/>
          <p:nvPr/>
        </p:nvSpPr>
        <p:spPr>
          <a:xfrm>
            <a:off x="640080" y="3456432"/>
            <a:ext cx="3154680" cy="484632"/>
          </a:xfrm>
          <a:prstGeom prst="roundRect">
            <a:avLst>
              <a:gd name="adj" fmla="val 15094"/>
            </a:avLst>
          </a:prstGeom>
          <a:solidFill>
            <a:srgbClr val="F6F7FC"/>
          </a:solidFill>
          <a:ln w="9525">
            <a:solidFill>
              <a:srgbClr val="E2E5F0"/>
            </a:solidFill>
            <a:prstDash val="solid"/>
          </a:ln>
        </p:spPr>
      </p:sp>
      <p:sp>
        <p:nvSpPr>
          <p:cNvPr id="27" name="text-476"/>
          <p:cNvSpPr txBox="1"/>
          <p:nvPr/>
        </p:nvSpPr>
        <p:spPr>
          <a:xfrm>
            <a:off x="731520" y="3502152"/>
            <a:ext cx="2194560" cy="411480"/>
          </a:xfrm>
          <a:prstGeom prst="rect">
            <a:avLst/>
          </a:prstGeom>
          <a:noFill/>
          <a:ln/>
        </p:spPr>
        <p:txBody>
          <a:bodyPr wrap="square" lIns="0" tIns="0" rIns="0" bIns="0" rtlCol="0" anchor="ctr"/>
          <a:lstStyle/>
          <a:p>
            <a:pPr indent="0" marL="0">
              <a:buNone/>
            </a:pPr>
            <a:r>
              <a:rPr lang="en-US" sz="1050" b="1" dirty="0">
                <a:solidFill>
                  <a:schemeClr val="tx1"/>
                </a:solidFill>
              </a:rPr>
              <a:t>Works offline</a:t>
            </a:r>
            <a:endParaRPr lang="en-US" sz="1050" dirty="0"/>
          </a:p>
          <a:p>
            <a:pPr indent="0" marL="0">
              <a:buNone/>
            </a:pPr>
            <a:r>
              <a:rPr lang="en-US" sz="1000" dirty="0">
                <a:solidFill>
                  <a:schemeClr val="accent6"/>
                </a:solidFill>
              </a:rPr>
              <a:t>Service worker in progress</a:t>
            </a:r>
            <a:endParaRPr lang="en-US" sz="1050" dirty="0"/>
          </a:p>
        </p:txBody>
      </p:sp>
      <p:sp>
        <p:nvSpPr>
          <p:cNvPr id="28" name="chip-477"/>
          <p:cNvSpPr/>
          <p:nvPr/>
        </p:nvSpPr>
        <p:spPr>
          <a:xfrm>
            <a:off x="2971800" y="3589020"/>
            <a:ext cx="731520" cy="219456"/>
          </a:xfrm>
          <a:prstGeom prst="roundRect">
            <a:avLst>
              <a:gd name="adj" fmla="val 50000"/>
            </a:avLst>
          </a:prstGeom>
          <a:solidFill>
            <a:schemeClr val="accent4"/>
          </a:solidFill>
          <a:ln w="12700">
            <a:solidFill>
              <a:schemeClr val="accent4"/>
            </a:solidFill>
            <a:prstDash val="solid"/>
          </a:ln>
        </p:spPr>
      </p:sp>
      <p:sp>
        <p:nvSpPr>
          <p:cNvPr id="29" name="text-478"/>
          <p:cNvSpPr txBox="1"/>
          <p:nvPr/>
        </p:nvSpPr>
        <p:spPr>
          <a:xfrm>
            <a:off x="2971800" y="3589020"/>
            <a:ext cx="731520" cy="219456"/>
          </a:xfrm>
          <a:prstGeom prst="rect">
            <a:avLst/>
          </a:prstGeom>
          <a:noFill/>
          <a:ln/>
        </p:spPr>
        <p:txBody>
          <a:bodyPr wrap="square" lIns="0" tIns="0" rIns="0" bIns="0" rtlCol="0" anchor="ctr"/>
          <a:lstStyle/>
          <a:p>
            <a:pPr algn="ctr" indent="0" marL="0">
              <a:buNone/>
            </a:pPr>
            <a:r>
              <a:rPr lang="en-US" sz="1000" b="1" dirty="0">
                <a:solidFill>
                  <a:schemeClr val="tx1"/>
                </a:solidFill>
              </a:rPr>
              <a:t>In progress</a:t>
            </a:r>
            <a:endParaRPr lang="en-US" sz="1000" dirty="0"/>
          </a:p>
        </p:txBody>
      </p:sp>
      <p:sp>
        <p:nvSpPr>
          <p:cNvPr id="30" name="card-479"/>
          <p:cNvSpPr/>
          <p:nvPr/>
        </p:nvSpPr>
        <p:spPr>
          <a:xfrm>
            <a:off x="640080" y="4005072"/>
            <a:ext cx="3154680" cy="484632"/>
          </a:xfrm>
          <a:prstGeom prst="roundRect">
            <a:avLst>
              <a:gd name="adj" fmla="val 15094"/>
            </a:avLst>
          </a:prstGeom>
          <a:solidFill>
            <a:srgbClr val="F6F7FC"/>
          </a:solidFill>
          <a:ln w="9525">
            <a:solidFill>
              <a:srgbClr val="E2E5F0"/>
            </a:solidFill>
            <a:prstDash val="solid"/>
          </a:ln>
        </p:spPr>
      </p:sp>
      <p:sp>
        <p:nvSpPr>
          <p:cNvPr id="31" name="text-480"/>
          <p:cNvSpPr txBox="1"/>
          <p:nvPr/>
        </p:nvSpPr>
        <p:spPr>
          <a:xfrm>
            <a:off x="731520" y="4050792"/>
            <a:ext cx="2194560" cy="411480"/>
          </a:xfrm>
          <a:prstGeom prst="rect">
            <a:avLst/>
          </a:prstGeom>
          <a:noFill/>
          <a:ln/>
        </p:spPr>
        <p:txBody>
          <a:bodyPr wrap="square" lIns="0" tIns="0" rIns="0" bIns="0" rtlCol="0" anchor="ctr"/>
          <a:lstStyle/>
          <a:p>
            <a:pPr indent="0" marL="0">
              <a:buNone/>
            </a:pPr>
            <a:r>
              <a:rPr lang="en-US" sz="1050" b="1" dirty="0">
                <a:solidFill>
                  <a:schemeClr val="tx1"/>
                </a:solidFill>
              </a:rPr>
              <a:t>Works on phone, tablet, desktop</a:t>
            </a:r>
            <a:endParaRPr lang="en-US" sz="1050" dirty="0"/>
          </a:p>
          <a:p>
            <a:pPr indent="0" marL="0">
              <a:buNone/>
            </a:pPr>
            <a:r>
              <a:rPr lang="en-US" sz="1000" dirty="0">
                <a:solidFill>
                  <a:schemeClr val="accent6"/>
                </a:solidFill>
              </a:rPr>
              <a:t>Screenshots updated today</a:t>
            </a:r>
            <a:endParaRPr lang="en-US" sz="1050" dirty="0"/>
          </a:p>
        </p:txBody>
      </p:sp>
      <p:sp>
        <p:nvSpPr>
          <p:cNvPr id="32" name="chip-481"/>
          <p:cNvSpPr/>
          <p:nvPr/>
        </p:nvSpPr>
        <p:spPr>
          <a:xfrm>
            <a:off x="2971800" y="4137660"/>
            <a:ext cx="731520" cy="219456"/>
          </a:xfrm>
          <a:prstGeom prst="roundRect">
            <a:avLst>
              <a:gd name="adj" fmla="val 50000"/>
            </a:avLst>
          </a:prstGeom>
          <a:solidFill>
            <a:schemeClr val="accent3"/>
          </a:solidFill>
          <a:ln w="12700">
            <a:solidFill>
              <a:schemeClr val="accent3"/>
            </a:solidFill>
            <a:prstDash val="solid"/>
          </a:ln>
        </p:spPr>
      </p:sp>
      <p:sp>
        <p:nvSpPr>
          <p:cNvPr id="33" name="text-482"/>
          <p:cNvSpPr txBox="1"/>
          <p:nvPr/>
        </p:nvSpPr>
        <p:spPr>
          <a:xfrm>
            <a:off x="2971800" y="4137660"/>
            <a:ext cx="731520" cy="219456"/>
          </a:xfrm>
          <a:prstGeom prst="rect">
            <a:avLst/>
          </a:prstGeom>
          <a:noFill/>
          <a:ln/>
        </p:spPr>
        <p:txBody>
          <a:bodyPr wrap="square" lIns="0" tIns="0" rIns="0" bIns="0" rtlCol="0" anchor="ctr"/>
          <a:lstStyle/>
          <a:p>
            <a:pPr algn="ctr" indent="0" marL="0">
              <a:buNone/>
            </a:pPr>
            <a:r>
              <a:rPr lang="en-US" sz="1000" b="1" dirty="0">
                <a:solidFill>
                  <a:schemeClr val="bg1"/>
                </a:solidFill>
              </a:rPr>
              <a:t>✓ Met</a:t>
            </a:r>
            <a:endParaRPr lang="en-US" sz="1000" dirty="0"/>
          </a:p>
        </p:txBody>
      </p:sp>
      <p:sp>
        <p:nvSpPr>
          <p:cNvPr id="34" name="text-483"/>
          <p:cNvSpPr txBox="1"/>
          <p:nvPr/>
        </p:nvSpPr>
        <p:spPr>
          <a:xfrm>
            <a:off x="3977640" y="2121408"/>
            <a:ext cx="1371600" cy="201168"/>
          </a:xfrm>
          <a:prstGeom prst="rect">
            <a:avLst/>
          </a:prstGeom>
          <a:noFill/>
          <a:ln/>
        </p:spPr>
        <p:txBody>
          <a:bodyPr wrap="square" lIns="0" tIns="0" rIns="0" bIns="0" rtlCol="0" anchor="t"/>
          <a:lstStyle/>
          <a:p>
            <a:pPr indent="0" marL="0">
              <a:buNone/>
            </a:pPr>
            <a:r>
              <a:rPr lang="en-US" sz="1000" b="1" spc="150" kern="0" dirty="0">
                <a:solidFill>
                  <a:schemeClr val="accent1"/>
                </a:solidFill>
              </a:rPr>
              <a:t>DEMO</a:t>
            </a:r>
            <a:endParaRPr lang="en-US" sz="1000" dirty="0"/>
          </a:p>
        </p:txBody>
      </p:sp>
      <p:sp>
        <p:nvSpPr>
          <p:cNvPr id="35" name="device-484"/>
          <p:cNvSpPr/>
          <p:nvPr/>
        </p:nvSpPr>
        <p:spPr>
          <a:xfrm>
            <a:off x="3995928" y="2496312"/>
            <a:ext cx="1188720" cy="749808"/>
          </a:xfrm>
          <a:prstGeom prst="roundRect">
            <a:avLst>
              <a:gd name="adj" fmla="val 3659"/>
            </a:avLst>
          </a:prstGeom>
          <a:solidFill>
            <a:schemeClr val="bg1"/>
          </a:solidFill>
          <a:ln w="19050">
            <a:solidFill>
              <a:srgbClr val="94A3C4"/>
            </a:solidFill>
            <a:prstDash val="solid"/>
          </a:ln>
        </p:spPr>
      </p:sp>
      <p:sp>
        <p:nvSpPr>
          <p:cNvPr id="36" name="ui-bar-485"/>
          <p:cNvSpPr/>
          <p:nvPr/>
        </p:nvSpPr>
        <p:spPr>
          <a:xfrm>
            <a:off x="4059936" y="2569464"/>
            <a:ext cx="1060704" cy="73152"/>
          </a:xfrm>
          <a:prstGeom prst="roundRect">
            <a:avLst>
              <a:gd name="adj" fmla="val 25000"/>
            </a:avLst>
          </a:prstGeom>
          <a:solidFill>
            <a:schemeClr val="accent2"/>
          </a:solidFill>
          <a:ln w="12700">
            <a:solidFill>
              <a:schemeClr val="accent2"/>
            </a:solidFill>
            <a:prstDash val="solid"/>
          </a:ln>
        </p:spPr>
      </p:sp>
      <p:sp>
        <p:nvSpPr>
          <p:cNvPr id="37" name="ui-line-486"/>
          <p:cNvSpPr/>
          <p:nvPr/>
        </p:nvSpPr>
        <p:spPr>
          <a:xfrm>
            <a:off x="4059936" y="2715768"/>
            <a:ext cx="954634" cy="45720"/>
          </a:xfrm>
          <a:prstGeom prst="rect">
            <a:avLst/>
          </a:prstGeom>
          <a:solidFill>
            <a:srgbClr val="CBD2E8"/>
          </a:solidFill>
          <a:ln w="12700">
            <a:solidFill>
              <a:srgbClr val="CBD2E8"/>
            </a:solidFill>
            <a:prstDash val="solid"/>
          </a:ln>
        </p:spPr>
      </p:sp>
      <p:sp>
        <p:nvSpPr>
          <p:cNvPr id="38" name="ui-line-487"/>
          <p:cNvSpPr/>
          <p:nvPr/>
        </p:nvSpPr>
        <p:spPr>
          <a:xfrm>
            <a:off x="4059936" y="2834640"/>
            <a:ext cx="742493" cy="45720"/>
          </a:xfrm>
          <a:prstGeom prst="rect">
            <a:avLst/>
          </a:prstGeom>
          <a:solidFill>
            <a:srgbClr val="CBD2E8"/>
          </a:solidFill>
          <a:ln w="12700">
            <a:solidFill>
              <a:srgbClr val="CBD2E8"/>
            </a:solidFill>
            <a:prstDash val="solid"/>
          </a:ln>
        </p:spPr>
      </p:sp>
      <p:sp>
        <p:nvSpPr>
          <p:cNvPr id="39" name="ui-line-488"/>
          <p:cNvSpPr/>
          <p:nvPr/>
        </p:nvSpPr>
        <p:spPr>
          <a:xfrm>
            <a:off x="4059936" y="2953512"/>
            <a:ext cx="954634" cy="45720"/>
          </a:xfrm>
          <a:prstGeom prst="rect">
            <a:avLst/>
          </a:prstGeom>
          <a:solidFill>
            <a:srgbClr val="CBD2E8"/>
          </a:solidFill>
          <a:ln w="12700">
            <a:solidFill>
              <a:srgbClr val="CBD2E8"/>
            </a:solidFill>
            <a:prstDash val="solid"/>
          </a:ln>
        </p:spPr>
      </p:sp>
      <p:sp>
        <p:nvSpPr>
          <p:cNvPr id="40" name="stand-489"/>
          <p:cNvSpPr/>
          <p:nvPr/>
        </p:nvSpPr>
        <p:spPr>
          <a:xfrm>
            <a:off x="4498848" y="3246120"/>
            <a:ext cx="182880" cy="73152"/>
          </a:xfrm>
          <a:prstGeom prst="rect">
            <a:avLst/>
          </a:prstGeom>
          <a:solidFill>
            <a:srgbClr val="94A3C4"/>
          </a:solidFill>
          <a:ln w="12700">
            <a:solidFill>
              <a:srgbClr val="94A3C4"/>
            </a:solidFill>
            <a:prstDash val="solid"/>
          </a:ln>
        </p:spPr>
      </p:sp>
      <p:sp>
        <p:nvSpPr>
          <p:cNvPr id="41" name="device-490"/>
          <p:cNvSpPr/>
          <p:nvPr/>
        </p:nvSpPr>
        <p:spPr>
          <a:xfrm>
            <a:off x="5276088" y="2679192"/>
            <a:ext cx="510235" cy="674827"/>
          </a:xfrm>
          <a:prstGeom prst="roundRect">
            <a:avLst>
              <a:gd name="adj" fmla="val 10753"/>
            </a:avLst>
          </a:prstGeom>
          <a:solidFill>
            <a:schemeClr val="bg1"/>
          </a:solidFill>
          <a:ln w="19050">
            <a:solidFill>
              <a:srgbClr val="94A3C4"/>
            </a:solidFill>
            <a:prstDash val="solid"/>
          </a:ln>
        </p:spPr>
      </p:sp>
      <p:sp>
        <p:nvSpPr>
          <p:cNvPr id="42" name="ui-bar-491"/>
          <p:cNvSpPr/>
          <p:nvPr/>
        </p:nvSpPr>
        <p:spPr>
          <a:xfrm>
            <a:off x="5333695" y="2745029"/>
            <a:ext cx="395021" cy="65837"/>
          </a:xfrm>
          <a:prstGeom prst="roundRect">
            <a:avLst>
              <a:gd name="adj" fmla="val 27778"/>
            </a:avLst>
          </a:prstGeom>
          <a:solidFill>
            <a:schemeClr val="accent2"/>
          </a:solidFill>
          <a:ln w="12700">
            <a:solidFill>
              <a:schemeClr val="accent2"/>
            </a:solidFill>
            <a:prstDash val="solid"/>
          </a:ln>
        </p:spPr>
      </p:sp>
      <p:sp>
        <p:nvSpPr>
          <p:cNvPr id="43" name="ui-line-492"/>
          <p:cNvSpPr/>
          <p:nvPr/>
        </p:nvSpPr>
        <p:spPr>
          <a:xfrm>
            <a:off x="5333695" y="2876702"/>
            <a:ext cx="355519" cy="41148"/>
          </a:xfrm>
          <a:prstGeom prst="rect">
            <a:avLst/>
          </a:prstGeom>
          <a:solidFill>
            <a:srgbClr val="CBD2E8"/>
          </a:solidFill>
          <a:ln w="12700">
            <a:solidFill>
              <a:srgbClr val="CBD2E8"/>
            </a:solidFill>
            <a:prstDash val="solid"/>
          </a:ln>
        </p:spPr>
      </p:sp>
      <p:sp>
        <p:nvSpPr>
          <p:cNvPr id="44" name="ui-line-493"/>
          <p:cNvSpPr/>
          <p:nvPr/>
        </p:nvSpPr>
        <p:spPr>
          <a:xfrm>
            <a:off x="5333695" y="2983687"/>
            <a:ext cx="276515" cy="41148"/>
          </a:xfrm>
          <a:prstGeom prst="rect">
            <a:avLst/>
          </a:prstGeom>
          <a:solidFill>
            <a:srgbClr val="CBD2E8"/>
          </a:solidFill>
          <a:ln w="12700">
            <a:solidFill>
              <a:srgbClr val="CBD2E8"/>
            </a:solidFill>
            <a:prstDash val="solid"/>
          </a:ln>
        </p:spPr>
      </p:sp>
      <p:sp>
        <p:nvSpPr>
          <p:cNvPr id="45" name="ui-line-494"/>
          <p:cNvSpPr/>
          <p:nvPr/>
        </p:nvSpPr>
        <p:spPr>
          <a:xfrm>
            <a:off x="5333695" y="3090672"/>
            <a:ext cx="355519" cy="41148"/>
          </a:xfrm>
          <a:prstGeom prst="rect">
            <a:avLst/>
          </a:prstGeom>
          <a:solidFill>
            <a:srgbClr val="CBD2E8"/>
          </a:solidFill>
          <a:ln w="12700">
            <a:solidFill>
              <a:srgbClr val="CBD2E8"/>
            </a:solidFill>
            <a:prstDash val="solid"/>
          </a:ln>
        </p:spPr>
      </p:sp>
      <p:sp>
        <p:nvSpPr>
          <p:cNvPr id="46" name="ui-line-495"/>
          <p:cNvSpPr/>
          <p:nvPr/>
        </p:nvSpPr>
        <p:spPr>
          <a:xfrm>
            <a:off x="5333695" y="3197657"/>
            <a:ext cx="276515" cy="41148"/>
          </a:xfrm>
          <a:prstGeom prst="rect">
            <a:avLst/>
          </a:prstGeom>
          <a:solidFill>
            <a:srgbClr val="CBD2E8"/>
          </a:solidFill>
          <a:ln w="12700">
            <a:solidFill>
              <a:srgbClr val="CBD2E8"/>
            </a:solidFill>
            <a:prstDash val="solid"/>
          </a:ln>
        </p:spPr>
      </p:sp>
      <p:sp>
        <p:nvSpPr>
          <p:cNvPr id="47" name="device-496"/>
          <p:cNvSpPr/>
          <p:nvPr/>
        </p:nvSpPr>
        <p:spPr>
          <a:xfrm>
            <a:off x="5760720" y="2862072"/>
            <a:ext cx="296266" cy="559613"/>
          </a:xfrm>
          <a:prstGeom prst="roundRect">
            <a:avLst>
              <a:gd name="adj" fmla="val 18518"/>
            </a:avLst>
          </a:prstGeom>
          <a:solidFill>
            <a:schemeClr val="bg1"/>
          </a:solidFill>
          <a:ln w="19050">
            <a:solidFill>
              <a:srgbClr val="94A3C4"/>
            </a:solidFill>
            <a:prstDash val="solid"/>
          </a:ln>
        </p:spPr>
      </p:sp>
      <p:sp>
        <p:nvSpPr>
          <p:cNvPr id="48" name="ui-bar-497"/>
          <p:cNvSpPr/>
          <p:nvPr/>
        </p:nvSpPr>
        <p:spPr>
          <a:xfrm>
            <a:off x="5818327" y="2927909"/>
            <a:ext cx="181051" cy="65837"/>
          </a:xfrm>
          <a:prstGeom prst="roundRect">
            <a:avLst>
              <a:gd name="adj" fmla="val 27778"/>
            </a:avLst>
          </a:prstGeom>
          <a:solidFill>
            <a:schemeClr val="accent2"/>
          </a:solidFill>
          <a:ln w="12700">
            <a:solidFill>
              <a:schemeClr val="accent2"/>
            </a:solidFill>
            <a:prstDash val="solid"/>
          </a:ln>
        </p:spPr>
      </p:sp>
      <p:sp>
        <p:nvSpPr>
          <p:cNvPr id="49" name="ui-line-498"/>
          <p:cNvSpPr/>
          <p:nvPr/>
        </p:nvSpPr>
        <p:spPr>
          <a:xfrm>
            <a:off x="5818327" y="3059582"/>
            <a:ext cx="162946" cy="41148"/>
          </a:xfrm>
          <a:prstGeom prst="rect">
            <a:avLst/>
          </a:prstGeom>
          <a:solidFill>
            <a:srgbClr val="CBD2E8"/>
          </a:solidFill>
          <a:ln w="12700">
            <a:solidFill>
              <a:srgbClr val="CBD2E8"/>
            </a:solidFill>
            <a:prstDash val="solid"/>
          </a:ln>
        </p:spPr>
      </p:sp>
      <p:sp>
        <p:nvSpPr>
          <p:cNvPr id="50" name="ui-line-499"/>
          <p:cNvSpPr/>
          <p:nvPr/>
        </p:nvSpPr>
        <p:spPr>
          <a:xfrm>
            <a:off x="5818327" y="3166567"/>
            <a:ext cx="126736" cy="41148"/>
          </a:xfrm>
          <a:prstGeom prst="rect">
            <a:avLst/>
          </a:prstGeom>
          <a:solidFill>
            <a:srgbClr val="CBD2E8"/>
          </a:solidFill>
          <a:ln w="12700">
            <a:solidFill>
              <a:srgbClr val="CBD2E8"/>
            </a:solidFill>
            <a:prstDash val="solid"/>
          </a:ln>
        </p:spPr>
      </p:sp>
      <p:sp>
        <p:nvSpPr>
          <p:cNvPr id="51" name="ui-line-500"/>
          <p:cNvSpPr/>
          <p:nvPr/>
        </p:nvSpPr>
        <p:spPr>
          <a:xfrm>
            <a:off x="5818327" y="3273552"/>
            <a:ext cx="162946" cy="41148"/>
          </a:xfrm>
          <a:prstGeom prst="rect">
            <a:avLst/>
          </a:prstGeom>
          <a:solidFill>
            <a:srgbClr val="CBD2E8"/>
          </a:solidFill>
          <a:ln w="12700">
            <a:solidFill>
              <a:srgbClr val="CBD2E8"/>
            </a:solidFill>
            <a:prstDash val="solid"/>
          </a:ln>
        </p:spPr>
      </p:sp>
      <p:sp>
        <p:nvSpPr>
          <p:cNvPr id="52" name="ui-line-501"/>
          <p:cNvSpPr/>
          <p:nvPr/>
        </p:nvSpPr>
        <p:spPr>
          <a:xfrm>
            <a:off x="5818327" y="3380537"/>
            <a:ext cx="126736" cy="41148"/>
          </a:xfrm>
          <a:prstGeom prst="rect">
            <a:avLst/>
          </a:prstGeom>
          <a:solidFill>
            <a:srgbClr val="CBD2E8"/>
          </a:solidFill>
          <a:ln w="12700">
            <a:solidFill>
              <a:srgbClr val="CBD2E8"/>
            </a:solidFill>
            <a:prstDash val="solid"/>
          </a:ln>
        </p:spPr>
      </p:sp>
      <p:sp>
        <p:nvSpPr>
          <p:cNvPr id="53" name="text-502"/>
          <p:cNvSpPr txBox="1"/>
          <p:nvPr/>
        </p:nvSpPr>
        <p:spPr>
          <a:xfrm>
            <a:off x="3977640" y="3584448"/>
            <a:ext cx="2057400" cy="201168"/>
          </a:xfrm>
          <a:prstGeom prst="rect">
            <a:avLst/>
          </a:prstGeom>
          <a:noFill/>
          <a:ln/>
        </p:spPr>
        <p:txBody>
          <a:bodyPr wrap="square" lIns="0" tIns="0" rIns="0" bIns="0" rtlCol="0" anchor="t"/>
          <a:lstStyle/>
          <a:p>
            <a:pPr indent="0" marL="0">
              <a:buNone/>
            </a:pPr>
            <a:r>
              <a:rPr lang="en-US" sz="1000" dirty="0">
                <a:solidFill>
                  <a:schemeClr val="accent6"/>
                </a:solidFill>
              </a:rPr>
              <a:t>Live site + automatic screenshots</a:t>
            </a:r>
            <a:endParaRPr lang="en-US" sz="1000" dirty="0"/>
          </a:p>
        </p:txBody>
      </p:sp>
      <p:sp>
        <p:nvSpPr>
          <p:cNvPr id="54" name="card-503"/>
          <p:cNvSpPr/>
          <p:nvPr/>
        </p:nvSpPr>
        <p:spPr>
          <a:xfrm>
            <a:off x="3977640" y="3840480"/>
            <a:ext cx="2057400" cy="640080"/>
          </a:xfrm>
          <a:prstGeom prst="roundRect">
            <a:avLst>
              <a:gd name="adj" fmla="val 11429"/>
            </a:avLst>
          </a:prstGeom>
          <a:solidFill>
            <a:schemeClr val="bg2"/>
          </a:solidFill>
          <a:ln w="9525">
            <a:solidFill>
              <a:schemeClr val="bg2"/>
            </a:solidFill>
            <a:prstDash val="solid"/>
          </a:ln>
        </p:spPr>
      </p:sp>
      <p:sp>
        <p:nvSpPr>
          <p:cNvPr id="55" name="text-504"/>
          <p:cNvSpPr txBox="1"/>
          <p:nvPr/>
        </p:nvSpPr>
        <p:spPr>
          <a:xfrm>
            <a:off x="4087368" y="3886200"/>
            <a:ext cx="777240" cy="54864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96</a:t>
            </a:r>
            <a:endParaRPr lang="en-US" sz="2200" dirty="0"/>
          </a:p>
        </p:txBody>
      </p:sp>
      <p:sp>
        <p:nvSpPr>
          <p:cNvPr id="56" name="text-505"/>
          <p:cNvSpPr txBox="1"/>
          <p:nvPr/>
        </p:nvSpPr>
        <p:spPr>
          <a:xfrm>
            <a:off x="4846320" y="3886200"/>
            <a:ext cx="1124712" cy="548640"/>
          </a:xfrm>
          <a:prstGeom prst="rect">
            <a:avLst/>
          </a:prstGeom>
          <a:noFill/>
          <a:ln/>
        </p:spPr>
        <p:txBody>
          <a:bodyPr wrap="square" lIns="0" tIns="0" rIns="0" bIns="0" rtlCol="0" anchor="ctr"/>
          <a:lstStyle/>
          <a:p>
            <a:pPr indent="0" marL="0">
              <a:buNone/>
            </a:pPr>
            <a:r>
              <a:rPr lang="en-US" sz="1000" dirty="0">
                <a:solidFill>
                  <a:schemeClr val="tx1"/>
                </a:solidFill>
              </a:rPr>
              <a:t>Lighthouse accessibility score</a:t>
            </a:r>
            <a:endParaRPr lang="en-US" sz="1000" dirty="0"/>
          </a:p>
        </p:txBody>
      </p:sp>
      <p:sp>
        <p:nvSpPr>
          <p:cNvPr id="57" name="marker-506"/>
          <p:cNvSpPr/>
          <p:nvPr/>
        </p:nvSpPr>
        <p:spPr>
          <a:xfrm>
            <a:off x="1207008" y="2093976"/>
            <a:ext cx="256032" cy="256032"/>
          </a:xfrm>
          <a:prstGeom prst="ellipse">
            <a:avLst/>
          </a:prstGeom>
          <a:solidFill>
            <a:schemeClr val="accent1"/>
          </a:solidFill>
          <a:ln w="19050">
            <a:solidFill>
              <a:schemeClr val="bg1"/>
            </a:solidFill>
            <a:prstDash val="solid"/>
          </a:ln>
        </p:spPr>
      </p:sp>
      <p:sp>
        <p:nvSpPr>
          <p:cNvPr id="58" name="text-507"/>
          <p:cNvSpPr txBox="1"/>
          <p:nvPr/>
        </p:nvSpPr>
        <p:spPr>
          <a:xfrm>
            <a:off x="1207008" y="2093976"/>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59" name="marker-508"/>
          <p:cNvSpPr/>
          <p:nvPr/>
        </p:nvSpPr>
        <p:spPr>
          <a:xfrm>
            <a:off x="4434840" y="2093976"/>
            <a:ext cx="256032" cy="256032"/>
          </a:xfrm>
          <a:prstGeom prst="ellipse">
            <a:avLst/>
          </a:prstGeom>
          <a:solidFill>
            <a:schemeClr val="accent1"/>
          </a:solidFill>
          <a:ln w="19050">
            <a:solidFill>
              <a:schemeClr val="bg1"/>
            </a:solidFill>
            <a:prstDash val="solid"/>
          </a:ln>
        </p:spPr>
      </p:sp>
      <p:sp>
        <p:nvSpPr>
          <p:cNvPr id="60" name="text-509"/>
          <p:cNvSpPr txBox="1"/>
          <p:nvPr/>
        </p:nvSpPr>
        <p:spPr>
          <a:xfrm>
            <a:off x="4434840" y="2093976"/>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61" name="marker-510"/>
          <p:cNvSpPr/>
          <p:nvPr/>
        </p:nvSpPr>
        <p:spPr>
          <a:xfrm>
            <a:off x="5852160" y="3712464"/>
            <a:ext cx="256032" cy="256032"/>
          </a:xfrm>
          <a:prstGeom prst="ellipse">
            <a:avLst/>
          </a:prstGeom>
          <a:solidFill>
            <a:schemeClr val="accent1"/>
          </a:solidFill>
          <a:ln w="19050">
            <a:solidFill>
              <a:schemeClr val="bg1"/>
            </a:solidFill>
            <a:prstDash val="solid"/>
          </a:ln>
        </p:spPr>
      </p:sp>
      <p:sp>
        <p:nvSpPr>
          <p:cNvPr id="62" name="text-511"/>
          <p:cNvSpPr txBox="1"/>
          <p:nvPr/>
        </p:nvSpPr>
        <p:spPr>
          <a:xfrm>
            <a:off x="5852160" y="3712464"/>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63" name="marker-512"/>
          <p:cNvSpPr/>
          <p:nvPr/>
        </p:nvSpPr>
        <p:spPr>
          <a:xfrm>
            <a:off x="6446520" y="1161288"/>
            <a:ext cx="256032" cy="256032"/>
          </a:xfrm>
          <a:prstGeom prst="ellipse">
            <a:avLst/>
          </a:prstGeom>
          <a:solidFill>
            <a:schemeClr val="accent1"/>
          </a:solidFill>
          <a:ln w="19050">
            <a:solidFill>
              <a:schemeClr val="bg1"/>
            </a:solidFill>
            <a:prstDash val="solid"/>
          </a:ln>
        </p:spPr>
      </p:sp>
      <p:sp>
        <p:nvSpPr>
          <p:cNvPr id="64" name="text-513"/>
          <p:cNvSpPr txBox="1"/>
          <p:nvPr/>
        </p:nvSpPr>
        <p:spPr>
          <a:xfrm>
            <a:off x="6446520" y="1161288"/>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5" name="text-514"/>
          <p:cNvSpPr txBox="1"/>
          <p:nvPr/>
        </p:nvSpPr>
        <p:spPr>
          <a:xfrm>
            <a:off x="6812280" y="1143000"/>
            <a:ext cx="1874520" cy="274320"/>
          </a:xfrm>
          <a:prstGeom prst="rect">
            <a:avLst/>
          </a:prstGeom>
          <a:noFill/>
          <a:ln/>
        </p:spPr>
        <p:txBody>
          <a:bodyPr wrap="square" lIns="0" tIns="0" rIns="0" bIns="0" rtlCol="0" anchor="t"/>
          <a:lstStyle/>
          <a:p>
            <a:pPr indent="0" marL="0">
              <a:buNone/>
            </a:pPr>
            <a:r>
              <a:rPr lang="en-US" sz="1400" b="1" dirty="0">
                <a:solidFill>
                  <a:schemeClr val="tx1"/>
                </a:solidFill>
              </a:rPr>
              <a:t>Same claims tracker</a:t>
            </a:r>
            <a:endParaRPr lang="en-US" sz="1400" dirty="0"/>
          </a:p>
        </p:txBody>
      </p:sp>
      <p:sp>
        <p:nvSpPr>
          <p:cNvPr id="66" name="text-515"/>
          <p:cNvSpPr txBox="1"/>
          <p:nvPr/>
        </p:nvSpPr>
        <p:spPr>
          <a:xfrm>
            <a:off x="6812280" y="1435608"/>
            <a:ext cx="1874520" cy="658368"/>
          </a:xfrm>
          <a:prstGeom prst="rect">
            <a:avLst/>
          </a:prstGeom>
          <a:noFill/>
          <a:ln/>
        </p:spPr>
        <p:txBody>
          <a:bodyPr wrap="square" lIns="0" tIns="0" rIns="0" bIns="0" rtlCol="0" anchor="t"/>
          <a:lstStyle/>
          <a:p>
            <a:pPr indent="0" marL="0">
              <a:buNone/>
            </a:pPr>
            <a:r>
              <a:rPr lang="en-US" sz="1200" dirty="0">
                <a:solidFill>
                  <a:schemeClr val="tx1"/>
                </a:solidFill>
              </a:rPr>
              <a:t>Different claims, but exactly the same component as HeatRisk</a:t>
            </a:r>
            <a:endParaRPr lang="en-US" sz="1200" dirty="0"/>
          </a:p>
        </p:txBody>
      </p:sp>
      <p:sp>
        <p:nvSpPr>
          <p:cNvPr id="67" name="marker-516"/>
          <p:cNvSpPr/>
          <p:nvPr/>
        </p:nvSpPr>
        <p:spPr>
          <a:xfrm>
            <a:off x="6446520" y="2185416"/>
            <a:ext cx="256032" cy="256032"/>
          </a:xfrm>
          <a:prstGeom prst="ellipse">
            <a:avLst/>
          </a:prstGeom>
          <a:solidFill>
            <a:schemeClr val="accent1"/>
          </a:solidFill>
          <a:ln w="19050">
            <a:solidFill>
              <a:schemeClr val="bg1"/>
            </a:solidFill>
            <a:prstDash val="solid"/>
          </a:ln>
        </p:spPr>
      </p:sp>
      <p:sp>
        <p:nvSpPr>
          <p:cNvPr id="68" name="text-517"/>
          <p:cNvSpPr txBox="1"/>
          <p:nvPr/>
        </p:nvSpPr>
        <p:spPr>
          <a:xfrm>
            <a:off x="6446520" y="2185416"/>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69" name="text-518"/>
          <p:cNvSpPr txBox="1"/>
          <p:nvPr/>
        </p:nvSpPr>
        <p:spPr>
          <a:xfrm>
            <a:off x="6812280" y="2167128"/>
            <a:ext cx="1874520" cy="274320"/>
          </a:xfrm>
          <a:prstGeom prst="rect">
            <a:avLst/>
          </a:prstGeom>
          <a:noFill/>
          <a:ln/>
        </p:spPr>
        <p:txBody>
          <a:bodyPr wrap="square" lIns="0" tIns="0" rIns="0" bIns="0" rtlCol="0" anchor="t"/>
          <a:lstStyle/>
          <a:p>
            <a:pPr indent="0" marL="0">
              <a:buNone/>
            </a:pPr>
            <a:r>
              <a:rPr lang="en-US" sz="1400" b="1" dirty="0">
                <a:solidFill>
                  <a:schemeClr val="tx1"/>
                </a:solidFill>
              </a:rPr>
              <a:t>Demo</a:t>
            </a:r>
            <a:endParaRPr lang="en-US" sz="1400" dirty="0"/>
          </a:p>
        </p:txBody>
      </p:sp>
      <p:sp>
        <p:nvSpPr>
          <p:cNvPr id="70" name="text-519"/>
          <p:cNvSpPr txBox="1"/>
          <p:nvPr/>
        </p:nvSpPr>
        <p:spPr>
          <a:xfrm>
            <a:off x="6812280" y="2459736"/>
            <a:ext cx="1874520" cy="658368"/>
          </a:xfrm>
          <a:prstGeom prst="rect">
            <a:avLst/>
          </a:prstGeom>
          <a:noFill/>
          <a:ln/>
        </p:spPr>
        <p:txBody>
          <a:bodyPr wrap="square" lIns="0" tIns="0" rIns="0" bIns="0" rtlCol="0" anchor="t"/>
          <a:lstStyle/>
          <a:p>
            <a:pPr indent="0" marL="0">
              <a:buNone/>
            </a:pPr>
            <a:r>
              <a:rPr lang="en-US" sz="1200" dirty="0">
                <a:solidFill>
                  <a:schemeClr val="tx1"/>
                </a:solidFill>
              </a:rPr>
              <a:t>The live deployed site, plus screenshots at three screen sizes</a:t>
            </a:r>
            <a:endParaRPr lang="en-US" sz="1200" dirty="0"/>
          </a:p>
        </p:txBody>
      </p:sp>
      <p:sp>
        <p:nvSpPr>
          <p:cNvPr id="71" name="marker-520"/>
          <p:cNvSpPr/>
          <p:nvPr/>
        </p:nvSpPr>
        <p:spPr>
          <a:xfrm>
            <a:off x="6446520" y="3209544"/>
            <a:ext cx="256032" cy="256032"/>
          </a:xfrm>
          <a:prstGeom prst="ellipse">
            <a:avLst/>
          </a:prstGeom>
          <a:solidFill>
            <a:schemeClr val="accent1"/>
          </a:solidFill>
          <a:ln w="19050">
            <a:solidFill>
              <a:schemeClr val="bg1"/>
            </a:solidFill>
            <a:prstDash val="solid"/>
          </a:ln>
        </p:spPr>
      </p:sp>
      <p:sp>
        <p:nvSpPr>
          <p:cNvPr id="72" name="text-521"/>
          <p:cNvSpPr txBox="1"/>
          <p:nvPr/>
        </p:nvSpPr>
        <p:spPr>
          <a:xfrm>
            <a:off x="6446520" y="3209544"/>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73" name="text-522"/>
          <p:cNvSpPr txBox="1"/>
          <p:nvPr/>
        </p:nvSpPr>
        <p:spPr>
          <a:xfrm>
            <a:off x="6812280" y="3191256"/>
            <a:ext cx="1874520" cy="274320"/>
          </a:xfrm>
          <a:prstGeom prst="rect">
            <a:avLst/>
          </a:prstGeom>
          <a:noFill/>
          <a:ln/>
        </p:spPr>
        <p:txBody>
          <a:bodyPr wrap="square" lIns="0" tIns="0" rIns="0" bIns="0" rtlCol="0" anchor="t"/>
          <a:lstStyle/>
          <a:p>
            <a:pPr indent="0" marL="0">
              <a:buNone/>
            </a:pPr>
            <a:r>
              <a:rPr lang="en-US" sz="1400" b="1" dirty="0">
                <a:solidFill>
                  <a:schemeClr val="tx1"/>
                </a:solidFill>
              </a:rPr>
              <a:t>Evidence</a:t>
            </a:r>
            <a:endParaRPr lang="en-US" sz="1400" dirty="0"/>
          </a:p>
        </p:txBody>
      </p:sp>
      <p:sp>
        <p:nvSpPr>
          <p:cNvPr id="74" name="text-523"/>
          <p:cNvSpPr txBox="1"/>
          <p:nvPr/>
        </p:nvSpPr>
        <p:spPr>
          <a:xfrm>
            <a:off x="6812280" y="3483864"/>
            <a:ext cx="1874520" cy="658368"/>
          </a:xfrm>
          <a:prstGeom prst="rect">
            <a:avLst/>
          </a:prstGeom>
          <a:noFill/>
          <a:ln/>
        </p:spPr>
        <p:txBody>
          <a:bodyPr wrap="square" lIns="0" tIns="0" rIns="0" bIns="0" rtlCol="0" anchor="t"/>
          <a:lstStyle/>
          <a:p>
            <a:pPr indent="0" marL="0">
              <a:buNone/>
            </a:pPr>
            <a:r>
              <a:rPr lang="en-US" sz="1200" dirty="0">
                <a:solidFill>
                  <a:schemeClr val="tx1"/>
                </a:solidFill>
              </a:rPr>
              <a:t>From automatic browser checks run on every push</a:t>
            </a:r>
            <a:endParaRPr lang="en-US" sz="1200" dirty="0"/>
          </a:p>
        </p:txBody>
      </p:sp>
      <p:sp>
        <p:nvSpPr>
          <p:cNvPr id="75" name="text-524"/>
          <p:cNvSpPr txBox="1"/>
          <p:nvPr/>
        </p:nvSpPr>
        <p:spPr>
          <a:xfrm>
            <a:off x="6446520" y="4343400"/>
            <a:ext cx="2240280" cy="228600"/>
          </a:xfrm>
          <a:prstGeom prst="rect">
            <a:avLst/>
          </a:prstGeom>
          <a:noFill/>
          <a:ln/>
        </p:spPr>
        <p:txBody>
          <a:bodyPr wrap="square" lIns="0" tIns="0" rIns="0" bIns="0" rtlCol="0" anchor="t"/>
          <a:lstStyle/>
          <a:p>
            <a:pPr indent="0" marL="0">
              <a:buNone/>
            </a:pPr>
            <a:r>
              <a:rPr lang="en-US" sz="1000" i="1" dirty="0">
                <a:solidFill>
                  <a:schemeClr val="accent6"/>
                </a:solidFill>
              </a:rPr>
              <a:t>Example values for illustration only</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What the frontend module adds</a:t>
            </a:r>
            <a:endParaRPr lang="en-US" sz="3200" dirty="0"/>
          </a:p>
        </p:txBody>
      </p:sp>
      <p:sp>
        <p:nvSpPr>
          <p:cNvPr id="3" name="card-525"/>
          <p:cNvSpPr/>
          <p:nvPr/>
        </p:nvSpPr>
        <p:spPr>
          <a:xfrm>
            <a:off x="457200" y="1097280"/>
            <a:ext cx="2606040" cy="3200400"/>
          </a:xfrm>
          <a:prstGeom prst="roundRect">
            <a:avLst>
              <a:gd name="adj" fmla="val 2807"/>
            </a:avLst>
          </a:prstGeom>
          <a:solidFill>
            <a:schemeClr val="bg1"/>
          </a:solidFill>
          <a:ln w="9525">
            <a:solidFill>
              <a:srgbClr val="E2E5F0"/>
            </a:solidFill>
            <a:prstDash val="solid"/>
          </a:ln>
        </p:spPr>
      </p:sp>
      <p:sp>
        <p:nvSpPr>
          <p:cNvPr id="4" name="card-526"/>
          <p:cNvSpPr/>
          <p:nvPr/>
        </p:nvSpPr>
        <p:spPr>
          <a:xfrm>
            <a:off x="3268980" y="1097280"/>
            <a:ext cx="2606040" cy="3200400"/>
          </a:xfrm>
          <a:prstGeom prst="roundRect">
            <a:avLst>
              <a:gd name="adj" fmla="val 2807"/>
            </a:avLst>
          </a:prstGeom>
          <a:solidFill>
            <a:schemeClr val="bg1"/>
          </a:solidFill>
          <a:ln w="9525">
            <a:solidFill>
              <a:srgbClr val="E2E5F0"/>
            </a:solidFill>
            <a:prstDash val="solid"/>
          </a:ln>
        </p:spPr>
      </p:sp>
      <p:sp>
        <p:nvSpPr>
          <p:cNvPr id="5" name="card-527"/>
          <p:cNvSpPr/>
          <p:nvPr/>
        </p:nvSpPr>
        <p:spPr>
          <a:xfrm>
            <a:off x="6080760" y="1097280"/>
            <a:ext cx="2606040" cy="3200400"/>
          </a:xfrm>
          <a:prstGeom prst="roundRect">
            <a:avLst>
              <a:gd name="adj" fmla="val 2807"/>
            </a:avLst>
          </a:prstGeom>
          <a:solidFill>
            <a:schemeClr val="bg1"/>
          </a:solidFill>
          <a:ln w="9525">
            <a:solidFill>
              <a:srgbClr val="E2E5F0"/>
            </a:solidFill>
            <a:prstDash val="solid"/>
          </a:ln>
        </p:spPr>
      </p:sp>
      <p:sp>
        <p:nvSpPr>
          <p:cNvPr id="6" name="icon-bg-528"/>
          <p:cNvSpPr/>
          <p:nvPr/>
        </p:nvSpPr>
        <p:spPr>
          <a:xfrm>
            <a:off x="621792" y="1261872"/>
            <a:ext cx="384048" cy="384048"/>
          </a:xfrm>
          <a:prstGeom prst="ellipse">
            <a:avLst/>
          </a:prstGeom>
          <a:solidFill>
            <a:schemeClr val="bg2"/>
          </a:solidFill>
          <a:ln w="12700">
            <a:solidFill>
              <a:schemeClr val="bg2"/>
            </a:solidFill>
            <a:prstDash val="solid"/>
          </a:ln>
        </p:spPr>
      </p:sp>
      <p:pic>
        <p:nvPicPr>
          <p:cNvPr id="7" name="icon-529" descr="preencoded.png">    </p:cNvPr>
          <p:cNvPicPr>
            <a:picLocks noChangeAspect="1"/>
          </p:cNvPicPr>
          <p:nvPr/>
        </p:nvPicPr>
        <p:blipFill>
          <a:blip r:embed="rId1"/>
          <a:stretch>
            <a:fillRect/>
          </a:stretch>
        </p:blipFill>
        <p:spPr>
          <a:xfrm>
            <a:off x="721644" y="1361724"/>
            <a:ext cx="184343" cy="184343"/>
          </a:xfrm>
          <a:prstGeom prst="rect">
            <a:avLst/>
          </a:prstGeom>
        </p:spPr>
      </p:pic>
      <p:sp>
        <p:nvSpPr>
          <p:cNvPr id="8" name="text-530"/>
          <p:cNvSpPr txBox="1"/>
          <p:nvPr/>
        </p:nvSpPr>
        <p:spPr>
          <a:xfrm>
            <a:off x="1097280" y="1261872"/>
            <a:ext cx="1874520" cy="384048"/>
          </a:xfrm>
          <a:prstGeom prst="rect">
            <a:avLst/>
          </a:prstGeom>
          <a:noFill/>
          <a:ln/>
        </p:spPr>
        <p:txBody>
          <a:bodyPr wrap="square" lIns="0" tIns="0" rIns="0" bIns="0" rtlCol="0" anchor="ctr"/>
          <a:lstStyle/>
          <a:p>
            <a:pPr indent="0" marL="0">
              <a:buNone/>
            </a:pPr>
            <a:r>
              <a:rPr lang="en-US" sz="1400" b="1" dirty="0">
                <a:solidFill>
                  <a:schemeClr val="tx1"/>
                </a:solidFill>
              </a:rPr>
              <a:t>Lighthouse scores</a:t>
            </a:r>
            <a:endParaRPr lang="en-US" sz="1400" dirty="0"/>
          </a:p>
        </p:txBody>
      </p:sp>
      <p:graphicFrame>
        <p:nvGraphicFramePr>
          <p:cNvPr id="9" name="gauge-531" descr=""/>
          <p:cNvGraphicFramePr/>
          <p:nvPr/>
        </p:nvGraphicFramePr>
        <p:xfrm>
          <a:off x="731520" y="1783080"/>
          <a:ext cx="868680" cy="868680"/>
        </p:xfrm>
        <a:graphic xmlns:a="http://schemas.openxmlformats.org/drawingml/2006/main">
          <a:graphicData uri="http://schemas.openxmlformats.org/drawingml/2006/chart">
            <c:chart xmlns:c="http://schemas.openxmlformats.org/drawingml/2006/chart" r:id="rId2"/>
          </a:graphicData>
        </a:graphic>
      </p:graphicFrame>
      <p:sp>
        <p:nvSpPr>
          <p:cNvPr id="10" name="text-532"/>
          <p:cNvSpPr txBox="1"/>
          <p:nvPr/>
        </p:nvSpPr>
        <p:spPr>
          <a:xfrm>
            <a:off x="731520" y="1783080"/>
            <a:ext cx="868680" cy="868680"/>
          </a:xfrm>
          <a:prstGeom prst="rect">
            <a:avLst/>
          </a:prstGeom>
          <a:noFill/>
          <a:ln/>
        </p:spPr>
        <p:txBody>
          <a:bodyPr wrap="square" lIns="0" tIns="0" rIns="0" bIns="0" rtlCol="0" anchor="ctr"/>
          <a:lstStyle/>
          <a:p>
            <a:pPr algn="ctr" indent="0" marL="0">
              <a:buNone/>
            </a:pPr>
            <a:r>
              <a:rPr lang="en-US" sz="1600" b="1" dirty="0">
                <a:solidFill>
                  <a:schemeClr val="tx1"/>
                </a:solidFill>
              </a:rPr>
              <a:t>88</a:t>
            </a:r>
            <a:endParaRPr lang="en-US" sz="1600" dirty="0"/>
          </a:p>
        </p:txBody>
      </p:sp>
      <p:sp>
        <p:nvSpPr>
          <p:cNvPr id="11" name="text-533"/>
          <p:cNvSpPr txBox="1"/>
          <p:nvPr/>
        </p:nvSpPr>
        <p:spPr>
          <a:xfrm>
            <a:off x="594360" y="2670048"/>
            <a:ext cx="1143000" cy="228600"/>
          </a:xfrm>
          <a:prstGeom prst="rect">
            <a:avLst/>
          </a:prstGeom>
          <a:noFill/>
          <a:ln/>
        </p:spPr>
        <p:txBody>
          <a:bodyPr wrap="square" lIns="0" tIns="0" rIns="0" bIns="0" rtlCol="0" anchor="t"/>
          <a:lstStyle/>
          <a:p>
            <a:pPr algn="ctr" indent="0" marL="0">
              <a:buNone/>
            </a:pPr>
            <a:r>
              <a:rPr lang="en-US" sz="1000" dirty="0">
                <a:solidFill>
                  <a:schemeClr val="tx1"/>
                </a:solidFill>
              </a:rPr>
              <a:t>Performance</a:t>
            </a:r>
            <a:endParaRPr lang="en-US" sz="1000" dirty="0"/>
          </a:p>
        </p:txBody>
      </p:sp>
      <p:graphicFrame>
        <p:nvGraphicFramePr>
          <p:cNvPr id="12" name="gauge-534" descr=""/>
          <p:cNvGraphicFramePr/>
          <p:nvPr/>
        </p:nvGraphicFramePr>
        <p:xfrm>
          <a:off x="1874520" y="1783080"/>
          <a:ext cx="868680" cy="868680"/>
        </p:xfrm>
        <a:graphic xmlns:a="http://schemas.openxmlformats.org/drawingml/2006/main">
          <a:graphicData uri="http://schemas.openxmlformats.org/drawingml/2006/chart">
            <c:chart xmlns:c="http://schemas.openxmlformats.org/drawingml/2006/chart" r:id="rId3"/>
          </a:graphicData>
        </a:graphic>
      </p:graphicFrame>
      <p:sp>
        <p:nvSpPr>
          <p:cNvPr id="13" name="text-535"/>
          <p:cNvSpPr txBox="1"/>
          <p:nvPr/>
        </p:nvSpPr>
        <p:spPr>
          <a:xfrm>
            <a:off x="1874520" y="1783080"/>
            <a:ext cx="868680" cy="868680"/>
          </a:xfrm>
          <a:prstGeom prst="rect">
            <a:avLst/>
          </a:prstGeom>
          <a:noFill/>
          <a:ln/>
        </p:spPr>
        <p:txBody>
          <a:bodyPr wrap="square" lIns="0" tIns="0" rIns="0" bIns="0" rtlCol="0" anchor="ctr"/>
          <a:lstStyle/>
          <a:p>
            <a:pPr algn="ctr" indent="0" marL="0">
              <a:buNone/>
            </a:pPr>
            <a:r>
              <a:rPr lang="en-US" sz="1600" b="1" dirty="0">
                <a:solidFill>
                  <a:schemeClr val="tx1"/>
                </a:solidFill>
              </a:rPr>
              <a:t>96</a:t>
            </a:r>
            <a:endParaRPr lang="en-US" sz="1600" dirty="0"/>
          </a:p>
        </p:txBody>
      </p:sp>
      <p:sp>
        <p:nvSpPr>
          <p:cNvPr id="14" name="text-536"/>
          <p:cNvSpPr txBox="1"/>
          <p:nvPr/>
        </p:nvSpPr>
        <p:spPr>
          <a:xfrm>
            <a:off x="1737360" y="2670048"/>
            <a:ext cx="1143000" cy="228600"/>
          </a:xfrm>
          <a:prstGeom prst="rect">
            <a:avLst/>
          </a:prstGeom>
          <a:noFill/>
          <a:ln/>
        </p:spPr>
        <p:txBody>
          <a:bodyPr wrap="square" lIns="0" tIns="0" rIns="0" bIns="0" rtlCol="0" anchor="t"/>
          <a:lstStyle/>
          <a:p>
            <a:pPr algn="ctr" indent="0" marL="0">
              <a:buNone/>
            </a:pPr>
            <a:r>
              <a:rPr lang="en-US" sz="1000" dirty="0">
                <a:solidFill>
                  <a:schemeClr val="tx1"/>
                </a:solidFill>
              </a:rPr>
              <a:t>Accessibility</a:t>
            </a:r>
            <a:endParaRPr lang="en-US" sz="1000" dirty="0"/>
          </a:p>
        </p:txBody>
      </p:sp>
      <p:graphicFrame>
        <p:nvGraphicFramePr>
          <p:cNvPr id="15" name="gauge-537" descr=""/>
          <p:cNvGraphicFramePr/>
          <p:nvPr/>
        </p:nvGraphicFramePr>
        <p:xfrm>
          <a:off x="731520" y="2971800"/>
          <a:ext cx="868680" cy="868680"/>
        </p:xfrm>
        <a:graphic xmlns:a="http://schemas.openxmlformats.org/drawingml/2006/main">
          <a:graphicData uri="http://schemas.openxmlformats.org/drawingml/2006/chart">
            <c:chart xmlns:c="http://schemas.openxmlformats.org/drawingml/2006/chart" r:id="rId4"/>
          </a:graphicData>
        </a:graphic>
      </p:graphicFrame>
      <p:sp>
        <p:nvSpPr>
          <p:cNvPr id="16" name="text-538"/>
          <p:cNvSpPr txBox="1"/>
          <p:nvPr/>
        </p:nvSpPr>
        <p:spPr>
          <a:xfrm>
            <a:off x="731520" y="2971800"/>
            <a:ext cx="868680" cy="868680"/>
          </a:xfrm>
          <a:prstGeom prst="rect">
            <a:avLst/>
          </a:prstGeom>
          <a:noFill/>
          <a:ln/>
        </p:spPr>
        <p:txBody>
          <a:bodyPr wrap="square" lIns="0" tIns="0" rIns="0" bIns="0" rtlCol="0" anchor="ctr"/>
          <a:lstStyle/>
          <a:p>
            <a:pPr algn="ctr" indent="0" marL="0">
              <a:buNone/>
            </a:pPr>
            <a:r>
              <a:rPr lang="en-US" sz="1600" b="1" dirty="0">
                <a:solidFill>
                  <a:schemeClr val="tx1"/>
                </a:solidFill>
              </a:rPr>
              <a:t>100</a:t>
            </a:r>
            <a:endParaRPr lang="en-US" sz="1600" dirty="0"/>
          </a:p>
        </p:txBody>
      </p:sp>
      <p:sp>
        <p:nvSpPr>
          <p:cNvPr id="17" name="text-539"/>
          <p:cNvSpPr txBox="1"/>
          <p:nvPr/>
        </p:nvSpPr>
        <p:spPr>
          <a:xfrm>
            <a:off x="594360" y="3858768"/>
            <a:ext cx="1143000" cy="228600"/>
          </a:xfrm>
          <a:prstGeom prst="rect">
            <a:avLst/>
          </a:prstGeom>
          <a:noFill/>
          <a:ln/>
        </p:spPr>
        <p:txBody>
          <a:bodyPr wrap="square" lIns="0" tIns="0" rIns="0" bIns="0" rtlCol="0" anchor="t"/>
          <a:lstStyle/>
          <a:p>
            <a:pPr algn="ctr" indent="0" marL="0">
              <a:buNone/>
            </a:pPr>
            <a:r>
              <a:rPr lang="en-US" sz="1000" dirty="0">
                <a:solidFill>
                  <a:schemeClr val="tx1"/>
                </a:solidFill>
              </a:rPr>
              <a:t>Best practices</a:t>
            </a:r>
            <a:endParaRPr lang="en-US" sz="1000" dirty="0"/>
          </a:p>
        </p:txBody>
      </p:sp>
      <p:graphicFrame>
        <p:nvGraphicFramePr>
          <p:cNvPr id="18" name="gauge-540" descr=""/>
          <p:cNvGraphicFramePr/>
          <p:nvPr/>
        </p:nvGraphicFramePr>
        <p:xfrm>
          <a:off x="1874520" y="2971800"/>
          <a:ext cx="868680" cy="868680"/>
        </p:xfrm>
        <a:graphic xmlns:a="http://schemas.openxmlformats.org/drawingml/2006/main">
          <a:graphicData uri="http://schemas.openxmlformats.org/drawingml/2006/chart">
            <c:chart xmlns:c="http://schemas.openxmlformats.org/drawingml/2006/chart" r:id="rId5"/>
          </a:graphicData>
        </a:graphic>
      </p:graphicFrame>
      <p:sp>
        <p:nvSpPr>
          <p:cNvPr id="19" name="text-541"/>
          <p:cNvSpPr txBox="1"/>
          <p:nvPr/>
        </p:nvSpPr>
        <p:spPr>
          <a:xfrm>
            <a:off x="1874520" y="2971800"/>
            <a:ext cx="868680" cy="868680"/>
          </a:xfrm>
          <a:prstGeom prst="rect">
            <a:avLst/>
          </a:prstGeom>
          <a:noFill/>
          <a:ln/>
        </p:spPr>
        <p:txBody>
          <a:bodyPr wrap="square" lIns="0" tIns="0" rIns="0" bIns="0" rtlCol="0" anchor="ctr"/>
          <a:lstStyle/>
          <a:p>
            <a:pPr algn="ctr" indent="0" marL="0">
              <a:buNone/>
            </a:pPr>
            <a:r>
              <a:rPr lang="en-US" sz="1600" b="1" dirty="0">
                <a:solidFill>
                  <a:schemeClr val="tx1"/>
                </a:solidFill>
              </a:rPr>
              <a:t>92</a:t>
            </a:r>
            <a:endParaRPr lang="en-US" sz="1600" dirty="0"/>
          </a:p>
        </p:txBody>
      </p:sp>
      <p:sp>
        <p:nvSpPr>
          <p:cNvPr id="20" name="text-542"/>
          <p:cNvSpPr txBox="1"/>
          <p:nvPr/>
        </p:nvSpPr>
        <p:spPr>
          <a:xfrm>
            <a:off x="1737360" y="3858768"/>
            <a:ext cx="1143000" cy="228600"/>
          </a:xfrm>
          <a:prstGeom prst="rect">
            <a:avLst/>
          </a:prstGeom>
          <a:noFill/>
          <a:ln/>
        </p:spPr>
        <p:txBody>
          <a:bodyPr wrap="square" lIns="0" tIns="0" rIns="0" bIns="0" rtlCol="0" anchor="t"/>
          <a:lstStyle/>
          <a:p>
            <a:pPr algn="ctr" indent="0" marL="0">
              <a:buNone/>
            </a:pPr>
            <a:r>
              <a:rPr lang="en-US" sz="1000" dirty="0">
                <a:solidFill>
                  <a:schemeClr val="tx1"/>
                </a:solidFill>
              </a:rPr>
              <a:t>SEO</a:t>
            </a:r>
            <a:endParaRPr lang="en-US" sz="1000" dirty="0"/>
          </a:p>
        </p:txBody>
      </p:sp>
      <p:sp>
        <p:nvSpPr>
          <p:cNvPr id="21" name="icon-bg-543"/>
          <p:cNvSpPr/>
          <p:nvPr/>
        </p:nvSpPr>
        <p:spPr>
          <a:xfrm>
            <a:off x="3433572" y="1261872"/>
            <a:ext cx="384048" cy="384048"/>
          </a:xfrm>
          <a:prstGeom prst="ellipse">
            <a:avLst/>
          </a:prstGeom>
          <a:solidFill>
            <a:schemeClr val="bg2"/>
          </a:solidFill>
          <a:ln w="12700">
            <a:solidFill>
              <a:schemeClr val="bg2"/>
            </a:solidFill>
            <a:prstDash val="solid"/>
          </a:ln>
        </p:spPr>
      </p:sp>
      <p:pic>
        <p:nvPicPr>
          <p:cNvPr id="22" name="icon-544" descr="preencoded.png">    </p:cNvPr>
          <p:cNvPicPr>
            <a:picLocks noChangeAspect="1"/>
          </p:cNvPicPr>
          <p:nvPr/>
        </p:nvPicPr>
        <p:blipFill>
          <a:blip r:embed="rId6"/>
          <a:stretch>
            <a:fillRect/>
          </a:stretch>
        </p:blipFill>
        <p:spPr>
          <a:xfrm>
            <a:off x="3533424" y="1361724"/>
            <a:ext cx="184343" cy="184343"/>
          </a:xfrm>
          <a:prstGeom prst="rect">
            <a:avLst/>
          </a:prstGeom>
        </p:spPr>
      </p:pic>
      <p:sp>
        <p:nvSpPr>
          <p:cNvPr id="23" name="text-545"/>
          <p:cNvSpPr txBox="1"/>
          <p:nvPr/>
        </p:nvSpPr>
        <p:spPr>
          <a:xfrm>
            <a:off x="3909060" y="1261872"/>
            <a:ext cx="1874520" cy="384048"/>
          </a:xfrm>
          <a:prstGeom prst="rect">
            <a:avLst/>
          </a:prstGeom>
          <a:noFill/>
          <a:ln/>
        </p:spPr>
        <p:txBody>
          <a:bodyPr wrap="square" lIns="0" tIns="0" rIns="0" bIns="0" rtlCol="0" anchor="ctr"/>
          <a:lstStyle/>
          <a:p>
            <a:pPr indent="0" marL="0">
              <a:buNone/>
            </a:pPr>
            <a:r>
              <a:rPr lang="en-US" sz="1400" b="1" dirty="0">
                <a:solidFill>
                  <a:schemeClr val="tx1"/>
                </a:solidFill>
              </a:rPr>
              <a:t>Auto screenshots</a:t>
            </a:r>
            <a:endParaRPr lang="en-US" sz="1400" dirty="0"/>
          </a:p>
        </p:txBody>
      </p:sp>
      <p:sp>
        <p:nvSpPr>
          <p:cNvPr id="24" name="device-546"/>
          <p:cNvSpPr/>
          <p:nvPr/>
        </p:nvSpPr>
        <p:spPr>
          <a:xfrm>
            <a:off x="3497580" y="1874520"/>
            <a:ext cx="1426464" cy="899770"/>
          </a:xfrm>
          <a:prstGeom prst="roundRect">
            <a:avLst>
              <a:gd name="adj" fmla="val 3049"/>
            </a:avLst>
          </a:prstGeom>
          <a:solidFill>
            <a:srgbClr val="F6F7FC"/>
          </a:solidFill>
          <a:ln w="19050">
            <a:solidFill>
              <a:srgbClr val="94A3C4"/>
            </a:solidFill>
            <a:prstDash val="solid"/>
          </a:ln>
        </p:spPr>
      </p:sp>
      <p:sp>
        <p:nvSpPr>
          <p:cNvPr id="25" name="ui-bar-547"/>
          <p:cNvSpPr/>
          <p:nvPr/>
        </p:nvSpPr>
        <p:spPr>
          <a:xfrm>
            <a:off x="3574390" y="1962302"/>
            <a:ext cx="1272845" cy="87782"/>
          </a:xfrm>
          <a:prstGeom prst="roundRect">
            <a:avLst>
              <a:gd name="adj" fmla="val 20833"/>
            </a:avLst>
          </a:prstGeom>
          <a:solidFill>
            <a:schemeClr val="accent2"/>
          </a:solidFill>
          <a:ln w="12700">
            <a:solidFill>
              <a:schemeClr val="accent2"/>
            </a:solidFill>
            <a:prstDash val="solid"/>
          </a:ln>
        </p:spPr>
      </p:sp>
      <p:sp>
        <p:nvSpPr>
          <p:cNvPr id="26" name="ui-line-548"/>
          <p:cNvSpPr/>
          <p:nvPr/>
        </p:nvSpPr>
        <p:spPr>
          <a:xfrm>
            <a:off x="3574390" y="2137867"/>
            <a:ext cx="1145560" cy="54864"/>
          </a:xfrm>
          <a:prstGeom prst="rect">
            <a:avLst/>
          </a:prstGeom>
          <a:solidFill>
            <a:srgbClr val="CBD2E8"/>
          </a:solidFill>
          <a:ln w="12700">
            <a:solidFill>
              <a:srgbClr val="CBD2E8"/>
            </a:solidFill>
            <a:prstDash val="solid"/>
          </a:ln>
        </p:spPr>
      </p:sp>
      <p:sp>
        <p:nvSpPr>
          <p:cNvPr id="27" name="ui-line-549"/>
          <p:cNvSpPr/>
          <p:nvPr/>
        </p:nvSpPr>
        <p:spPr>
          <a:xfrm>
            <a:off x="3574390" y="2280514"/>
            <a:ext cx="890991" cy="54864"/>
          </a:xfrm>
          <a:prstGeom prst="rect">
            <a:avLst/>
          </a:prstGeom>
          <a:solidFill>
            <a:srgbClr val="CBD2E8"/>
          </a:solidFill>
          <a:ln w="12700">
            <a:solidFill>
              <a:srgbClr val="CBD2E8"/>
            </a:solidFill>
            <a:prstDash val="solid"/>
          </a:ln>
        </p:spPr>
      </p:sp>
      <p:sp>
        <p:nvSpPr>
          <p:cNvPr id="28" name="ui-line-550"/>
          <p:cNvSpPr/>
          <p:nvPr/>
        </p:nvSpPr>
        <p:spPr>
          <a:xfrm>
            <a:off x="3574390" y="2423160"/>
            <a:ext cx="1145560" cy="54864"/>
          </a:xfrm>
          <a:prstGeom prst="rect">
            <a:avLst/>
          </a:prstGeom>
          <a:solidFill>
            <a:srgbClr val="CBD2E8"/>
          </a:solidFill>
          <a:ln w="12700">
            <a:solidFill>
              <a:srgbClr val="CBD2E8"/>
            </a:solidFill>
            <a:prstDash val="solid"/>
          </a:ln>
        </p:spPr>
      </p:sp>
      <p:sp>
        <p:nvSpPr>
          <p:cNvPr id="29" name="stand-551"/>
          <p:cNvSpPr/>
          <p:nvPr/>
        </p:nvSpPr>
        <p:spPr>
          <a:xfrm>
            <a:off x="4101084" y="2774290"/>
            <a:ext cx="219456" cy="87782"/>
          </a:xfrm>
          <a:prstGeom prst="rect">
            <a:avLst/>
          </a:prstGeom>
          <a:solidFill>
            <a:srgbClr val="94A3C4"/>
          </a:solidFill>
          <a:ln w="12700">
            <a:solidFill>
              <a:srgbClr val="94A3C4"/>
            </a:solidFill>
            <a:prstDash val="solid"/>
          </a:ln>
        </p:spPr>
      </p:sp>
      <p:sp>
        <p:nvSpPr>
          <p:cNvPr id="30" name="device-552"/>
          <p:cNvSpPr/>
          <p:nvPr/>
        </p:nvSpPr>
        <p:spPr>
          <a:xfrm>
            <a:off x="5006340" y="1874520"/>
            <a:ext cx="510235" cy="674827"/>
          </a:xfrm>
          <a:prstGeom prst="roundRect">
            <a:avLst>
              <a:gd name="adj" fmla="val 10753"/>
            </a:avLst>
          </a:prstGeom>
          <a:solidFill>
            <a:srgbClr val="F6F7FC"/>
          </a:solidFill>
          <a:ln w="19050">
            <a:solidFill>
              <a:srgbClr val="94A3C4"/>
            </a:solidFill>
            <a:prstDash val="solid"/>
          </a:ln>
        </p:spPr>
      </p:sp>
      <p:sp>
        <p:nvSpPr>
          <p:cNvPr id="31" name="ui-bar-553"/>
          <p:cNvSpPr/>
          <p:nvPr/>
        </p:nvSpPr>
        <p:spPr>
          <a:xfrm>
            <a:off x="5063947" y="1940357"/>
            <a:ext cx="395021" cy="65837"/>
          </a:xfrm>
          <a:prstGeom prst="roundRect">
            <a:avLst>
              <a:gd name="adj" fmla="val 27778"/>
            </a:avLst>
          </a:prstGeom>
          <a:solidFill>
            <a:schemeClr val="accent2"/>
          </a:solidFill>
          <a:ln w="12700">
            <a:solidFill>
              <a:schemeClr val="accent2"/>
            </a:solidFill>
            <a:prstDash val="solid"/>
          </a:ln>
        </p:spPr>
      </p:sp>
      <p:sp>
        <p:nvSpPr>
          <p:cNvPr id="32" name="ui-line-554"/>
          <p:cNvSpPr/>
          <p:nvPr/>
        </p:nvSpPr>
        <p:spPr>
          <a:xfrm>
            <a:off x="5063947" y="2072030"/>
            <a:ext cx="355519" cy="41148"/>
          </a:xfrm>
          <a:prstGeom prst="rect">
            <a:avLst/>
          </a:prstGeom>
          <a:solidFill>
            <a:srgbClr val="CBD2E8"/>
          </a:solidFill>
          <a:ln w="12700">
            <a:solidFill>
              <a:srgbClr val="CBD2E8"/>
            </a:solidFill>
            <a:prstDash val="solid"/>
          </a:ln>
        </p:spPr>
      </p:sp>
      <p:sp>
        <p:nvSpPr>
          <p:cNvPr id="33" name="ui-line-555"/>
          <p:cNvSpPr/>
          <p:nvPr/>
        </p:nvSpPr>
        <p:spPr>
          <a:xfrm>
            <a:off x="5063947" y="2179015"/>
            <a:ext cx="276515" cy="41148"/>
          </a:xfrm>
          <a:prstGeom prst="rect">
            <a:avLst/>
          </a:prstGeom>
          <a:solidFill>
            <a:srgbClr val="CBD2E8"/>
          </a:solidFill>
          <a:ln w="12700">
            <a:solidFill>
              <a:srgbClr val="CBD2E8"/>
            </a:solidFill>
            <a:prstDash val="solid"/>
          </a:ln>
        </p:spPr>
      </p:sp>
      <p:sp>
        <p:nvSpPr>
          <p:cNvPr id="34" name="ui-line-556"/>
          <p:cNvSpPr/>
          <p:nvPr/>
        </p:nvSpPr>
        <p:spPr>
          <a:xfrm>
            <a:off x="5063947" y="2286000"/>
            <a:ext cx="355519" cy="41148"/>
          </a:xfrm>
          <a:prstGeom prst="rect">
            <a:avLst/>
          </a:prstGeom>
          <a:solidFill>
            <a:srgbClr val="CBD2E8"/>
          </a:solidFill>
          <a:ln w="12700">
            <a:solidFill>
              <a:srgbClr val="CBD2E8"/>
            </a:solidFill>
            <a:prstDash val="solid"/>
          </a:ln>
        </p:spPr>
      </p:sp>
      <p:sp>
        <p:nvSpPr>
          <p:cNvPr id="35" name="ui-line-557"/>
          <p:cNvSpPr/>
          <p:nvPr/>
        </p:nvSpPr>
        <p:spPr>
          <a:xfrm>
            <a:off x="5063947" y="2392985"/>
            <a:ext cx="276515" cy="41148"/>
          </a:xfrm>
          <a:prstGeom prst="rect">
            <a:avLst/>
          </a:prstGeom>
          <a:solidFill>
            <a:srgbClr val="CBD2E8"/>
          </a:solidFill>
          <a:ln w="12700">
            <a:solidFill>
              <a:srgbClr val="CBD2E8"/>
            </a:solidFill>
            <a:prstDash val="solid"/>
          </a:ln>
        </p:spPr>
      </p:sp>
      <p:sp>
        <p:nvSpPr>
          <p:cNvPr id="36" name="device-558"/>
          <p:cNvSpPr/>
          <p:nvPr/>
        </p:nvSpPr>
        <p:spPr>
          <a:xfrm>
            <a:off x="5052060" y="2697480"/>
            <a:ext cx="345643" cy="652882"/>
          </a:xfrm>
          <a:prstGeom prst="roundRect">
            <a:avLst>
              <a:gd name="adj" fmla="val 15873"/>
            </a:avLst>
          </a:prstGeom>
          <a:solidFill>
            <a:srgbClr val="F6F7FC"/>
          </a:solidFill>
          <a:ln w="19050">
            <a:solidFill>
              <a:srgbClr val="94A3C4"/>
            </a:solidFill>
            <a:prstDash val="solid"/>
          </a:ln>
        </p:spPr>
      </p:sp>
      <p:sp>
        <p:nvSpPr>
          <p:cNvPr id="37" name="ui-bar-559"/>
          <p:cNvSpPr/>
          <p:nvPr/>
        </p:nvSpPr>
        <p:spPr>
          <a:xfrm>
            <a:off x="5119268" y="2774290"/>
            <a:ext cx="211226" cy="76810"/>
          </a:xfrm>
          <a:prstGeom prst="roundRect">
            <a:avLst>
              <a:gd name="adj" fmla="val 23809"/>
            </a:avLst>
          </a:prstGeom>
          <a:solidFill>
            <a:schemeClr val="accent2"/>
          </a:solidFill>
          <a:ln w="12700">
            <a:solidFill>
              <a:schemeClr val="accent2"/>
            </a:solidFill>
            <a:prstDash val="solid"/>
          </a:ln>
        </p:spPr>
      </p:sp>
      <p:sp>
        <p:nvSpPr>
          <p:cNvPr id="38" name="ui-line-560"/>
          <p:cNvSpPr/>
          <p:nvPr/>
        </p:nvSpPr>
        <p:spPr>
          <a:xfrm>
            <a:off x="5119268" y="2927909"/>
            <a:ext cx="190104" cy="48006"/>
          </a:xfrm>
          <a:prstGeom prst="rect">
            <a:avLst/>
          </a:prstGeom>
          <a:solidFill>
            <a:srgbClr val="CBD2E8"/>
          </a:solidFill>
          <a:ln w="12700">
            <a:solidFill>
              <a:srgbClr val="CBD2E8"/>
            </a:solidFill>
            <a:prstDash val="solid"/>
          </a:ln>
        </p:spPr>
      </p:sp>
      <p:sp>
        <p:nvSpPr>
          <p:cNvPr id="39" name="ui-line-561"/>
          <p:cNvSpPr/>
          <p:nvPr/>
        </p:nvSpPr>
        <p:spPr>
          <a:xfrm>
            <a:off x="5119268" y="3052724"/>
            <a:ext cx="147858" cy="48006"/>
          </a:xfrm>
          <a:prstGeom prst="rect">
            <a:avLst/>
          </a:prstGeom>
          <a:solidFill>
            <a:srgbClr val="CBD2E8"/>
          </a:solidFill>
          <a:ln w="12700">
            <a:solidFill>
              <a:srgbClr val="CBD2E8"/>
            </a:solidFill>
            <a:prstDash val="solid"/>
          </a:ln>
        </p:spPr>
      </p:sp>
      <p:sp>
        <p:nvSpPr>
          <p:cNvPr id="40" name="ui-line-562"/>
          <p:cNvSpPr/>
          <p:nvPr/>
        </p:nvSpPr>
        <p:spPr>
          <a:xfrm>
            <a:off x="5119268" y="3177540"/>
            <a:ext cx="190104" cy="48006"/>
          </a:xfrm>
          <a:prstGeom prst="rect">
            <a:avLst/>
          </a:prstGeom>
          <a:solidFill>
            <a:srgbClr val="CBD2E8"/>
          </a:solidFill>
          <a:ln w="12700">
            <a:solidFill>
              <a:srgbClr val="CBD2E8"/>
            </a:solidFill>
            <a:prstDash val="solid"/>
          </a:ln>
        </p:spPr>
      </p:sp>
      <p:sp>
        <p:nvSpPr>
          <p:cNvPr id="41" name="ui-line-563"/>
          <p:cNvSpPr/>
          <p:nvPr/>
        </p:nvSpPr>
        <p:spPr>
          <a:xfrm>
            <a:off x="5119268" y="3302356"/>
            <a:ext cx="147858" cy="48006"/>
          </a:xfrm>
          <a:prstGeom prst="rect">
            <a:avLst/>
          </a:prstGeom>
          <a:solidFill>
            <a:srgbClr val="CBD2E8"/>
          </a:solidFill>
          <a:ln w="12700">
            <a:solidFill>
              <a:srgbClr val="CBD2E8"/>
            </a:solidFill>
            <a:prstDash val="solid"/>
          </a:ln>
        </p:spPr>
      </p:sp>
      <p:sp>
        <p:nvSpPr>
          <p:cNvPr id="42" name="text-564"/>
          <p:cNvSpPr txBox="1"/>
          <p:nvPr/>
        </p:nvSpPr>
        <p:spPr>
          <a:xfrm>
            <a:off x="3470148" y="3429000"/>
            <a:ext cx="2240280" cy="777240"/>
          </a:xfrm>
          <a:prstGeom prst="rect">
            <a:avLst/>
          </a:prstGeom>
          <a:noFill/>
          <a:ln/>
        </p:spPr>
        <p:txBody>
          <a:bodyPr wrap="square" lIns="0" tIns="0" rIns="0" bIns="0" rtlCol="0" anchor="t"/>
          <a:lstStyle/>
          <a:p>
            <a:pPr indent="0" marL="0">
              <a:buNone/>
            </a:pPr>
            <a:r>
              <a:rPr lang="en-US" sz="1200" dirty="0">
                <a:solidFill>
                  <a:schemeClr val="tx1"/>
                </a:solidFill>
              </a:rPr>
              <a:t>Phone, tablet and desktop, captured by a headless browser on every push — no more outdated screenshots in the report</a:t>
            </a:r>
            <a:endParaRPr lang="en-US" sz="1200" dirty="0"/>
          </a:p>
        </p:txBody>
      </p:sp>
      <p:sp>
        <p:nvSpPr>
          <p:cNvPr id="43" name="icon-bg-565"/>
          <p:cNvSpPr/>
          <p:nvPr/>
        </p:nvSpPr>
        <p:spPr>
          <a:xfrm>
            <a:off x="6245352" y="1261872"/>
            <a:ext cx="384048" cy="384048"/>
          </a:xfrm>
          <a:prstGeom prst="ellipse">
            <a:avLst/>
          </a:prstGeom>
          <a:solidFill>
            <a:schemeClr val="bg2"/>
          </a:solidFill>
          <a:ln w="12700">
            <a:solidFill>
              <a:schemeClr val="bg2"/>
            </a:solidFill>
            <a:prstDash val="solid"/>
          </a:ln>
        </p:spPr>
      </p:sp>
      <p:pic>
        <p:nvPicPr>
          <p:cNvPr id="44" name="icon-566" descr="preencoded.png">    </p:cNvPr>
          <p:cNvPicPr>
            <a:picLocks noChangeAspect="1"/>
          </p:cNvPicPr>
          <p:nvPr/>
        </p:nvPicPr>
        <p:blipFill>
          <a:blip r:embed="rId7"/>
          <a:stretch>
            <a:fillRect/>
          </a:stretch>
        </p:blipFill>
        <p:spPr>
          <a:xfrm>
            <a:off x="6345204" y="1361724"/>
            <a:ext cx="184343" cy="184343"/>
          </a:xfrm>
          <a:prstGeom prst="rect">
            <a:avLst/>
          </a:prstGeom>
        </p:spPr>
      </p:pic>
      <p:sp>
        <p:nvSpPr>
          <p:cNvPr id="45" name="text-567"/>
          <p:cNvSpPr txBox="1"/>
          <p:nvPr/>
        </p:nvSpPr>
        <p:spPr>
          <a:xfrm>
            <a:off x="6720840" y="1261872"/>
            <a:ext cx="1874520" cy="384048"/>
          </a:xfrm>
          <a:prstGeom prst="rect">
            <a:avLst/>
          </a:prstGeom>
          <a:noFill/>
          <a:ln/>
        </p:spPr>
        <p:txBody>
          <a:bodyPr wrap="square" lIns="0" tIns="0" rIns="0" bIns="0" rtlCol="0" anchor="ctr"/>
          <a:lstStyle/>
          <a:p>
            <a:pPr indent="0" marL="0">
              <a:buNone/>
            </a:pPr>
            <a:r>
              <a:rPr lang="en-US" sz="1400" b="1" dirty="0">
                <a:solidFill>
                  <a:schemeClr val="tx1"/>
                </a:solidFill>
              </a:rPr>
              <a:t>Live site health</a:t>
            </a:r>
            <a:endParaRPr lang="en-US" sz="1400" dirty="0"/>
          </a:p>
        </p:txBody>
      </p:sp>
      <p:sp>
        <p:nvSpPr>
          <p:cNvPr id="46" name="text-568"/>
          <p:cNvSpPr txBox="1"/>
          <p:nvPr/>
        </p:nvSpPr>
        <p:spPr>
          <a:xfrm>
            <a:off x="6281928" y="1874520"/>
            <a:ext cx="2240280" cy="384048"/>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99.9%</a:t>
            </a:r>
            <a:endParaRPr lang="en-US" sz="2200" dirty="0"/>
          </a:p>
        </p:txBody>
      </p:sp>
      <p:sp>
        <p:nvSpPr>
          <p:cNvPr id="47" name="text-569"/>
          <p:cNvSpPr txBox="1"/>
          <p:nvPr/>
        </p:nvSpPr>
        <p:spPr>
          <a:xfrm>
            <a:off x="6281928" y="2258568"/>
            <a:ext cx="2240280" cy="256032"/>
          </a:xfrm>
          <a:prstGeom prst="rect">
            <a:avLst/>
          </a:prstGeom>
          <a:noFill/>
          <a:ln/>
        </p:spPr>
        <p:txBody>
          <a:bodyPr wrap="square" lIns="0" tIns="0" rIns="0" bIns="0" rtlCol="0" anchor="t"/>
          <a:lstStyle/>
          <a:p>
            <a:pPr indent="0" marL="0">
              <a:buNone/>
            </a:pPr>
            <a:r>
              <a:rPr lang="en-US" sz="1200" dirty="0">
                <a:solidFill>
                  <a:schemeClr val="tx1"/>
                </a:solidFill>
              </a:rPr>
              <a:t>uptime, last 30 days</a:t>
            </a:r>
            <a:endParaRPr lang="en-US" sz="1200" dirty="0"/>
          </a:p>
        </p:txBody>
      </p:sp>
      <p:sp>
        <p:nvSpPr>
          <p:cNvPr id="48" name="text-570"/>
          <p:cNvSpPr txBox="1"/>
          <p:nvPr/>
        </p:nvSpPr>
        <p:spPr>
          <a:xfrm>
            <a:off x="6281928" y="2651760"/>
            <a:ext cx="2240280" cy="384048"/>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182 KB</a:t>
            </a:r>
            <a:endParaRPr lang="en-US" sz="2200" dirty="0"/>
          </a:p>
        </p:txBody>
      </p:sp>
      <p:sp>
        <p:nvSpPr>
          <p:cNvPr id="49" name="text-571"/>
          <p:cNvSpPr txBox="1"/>
          <p:nvPr/>
        </p:nvSpPr>
        <p:spPr>
          <a:xfrm>
            <a:off x="6281928" y="3035808"/>
            <a:ext cx="2240280" cy="256032"/>
          </a:xfrm>
          <a:prstGeom prst="rect">
            <a:avLst/>
          </a:prstGeom>
          <a:noFill/>
          <a:ln/>
        </p:spPr>
        <p:txBody>
          <a:bodyPr wrap="square" lIns="0" tIns="0" rIns="0" bIns="0" rtlCol="0" anchor="t"/>
          <a:lstStyle/>
          <a:p>
            <a:pPr indent="0" marL="0">
              <a:buNone/>
            </a:pPr>
            <a:r>
              <a:rPr lang="en-US" sz="1200" dirty="0">
                <a:solidFill>
                  <a:schemeClr val="tx1"/>
                </a:solidFill>
              </a:rPr>
              <a:t>JavaScript bundle size</a:t>
            </a:r>
            <a:endParaRPr lang="en-US" sz="1200" dirty="0"/>
          </a:p>
        </p:txBody>
      </p:sp>
      <p:sp>
        <p:nvSpPr>
          <p:cNvPr id="50" name="text-572"/>
          <p:cNvSpPr txBox="1"/>
          <p:nvPr/>
        </p:nvSpPr>
        <p:spPr>
          <a:xfrm>
            <a:off x="6281928" y="3429000"/>
            <a:ext cx="2240280" cy="384048"/>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0</a:t>
            </a:r>
            <a:endParaRPr lang="en-US" sz="2200" dirty="0"/>
          </a:p>
        </p:txBody>
      </p:sp>
      <p:sp>
        <p:nvSpPr>
          <p:cNvPr id="51" name="text-573"/>
          <p:cNvSpPr txBox="1"/>
          <p:nvPr/>
        </p:nvSpPr>
        <p:spPr>
          <a:xfrm>
            <a:off x="6281928" y="3813048"/>
            <a:ext cx="2240280" cy="256032"/>
          </a:xfrm>
          <a:prstGeom prst="rect">
            <a:avLst/>
          </a:prstGeom>
          <a:noFill/>
          <a:ln/>
        </p:spPr>
        <p:txBody>
          <a:bodyPr wrap="square" lIns="0" tIns="0" rIns="0" bIns="0" rtlCol="0" anchor="t"/>
          <a:lstStyle/>
          <a:p>
            <a:pPr indent="0" marL="0">
              <a:buNone/>
            </a:pPr>
            <a:r>
              <a:rPr lang="en-US" sz="1200" dirty="0">
                <a:solidFill>
                  <a:schemeClr val="tx1"/>
                </a:solidFill>
              </a:rPr>
              <a:t>console errors</a:t>
            </a:r>
            <a:endParaRPr lang="en-US" sz="1200" dirty="0"/>
          </a:p>
        </p:txBody>
      </p:sp>
      <p:sp>
        <p:nvSpPr>
          <p:cNvPr id="52" name="text-574"/>
          <p:cNvSpPr txBox="1"/>
          <p:nvPr/>
        </p:nvSpPr>
        <p:spPr>
          <a:xfrm>
            <a:off x="457200" y="4389120"/>
            <a:ext cx="8229600" cy="256032"/>
          </a:xfrm>
          <a:prstGeom prst="rect">
            <a:avLst/>
          </a:prstGeom>
          <a:noFill/>
          <a:ln/>
        </p:spPr>
        <p:txBody>
          <a:bodyPr wrap="square" lIns="0" tIns="0" rIns="0" bIns="0" rtlCol="0" anchor="t"/>
          <a:lstStyle/>
          <a:p>
            <a:pPr indent="0" marL="0">
              <a:buNone/>
            </a:pPr>
            <a:r>
              <a:rPr lang="en-US" sz="1000" i="1" dirty="0">
                <a:solidFill>
                  <a:schemeClr val="accent6"/>
                </a:solidFill>
              </a:rPr>
              <a:t>All values are made up for illustration. LVAMO already uses Playwright, so screenshots and browser checks are cheap to build.</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Same core, different modules</a:t>
            </a:r>
            <a:endParaRPr lang="en-US" sz="3200" dirty="0"/>
          </a:p>
        </p:txBody>
      </p:sp>
      <p:graphicFrame>
        <p:nvGraphicFramePr>
          <p:cNvPr id="12" name="comparison-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645920"/>
                <a:gridCol w="3291840"/>
                <a:gridCol w="3291840"/>
              </a:tblGrid>
              <a:tr h="429768">
                <a:tc>
                  <a:txBody>
                    <a:bodyPr/>
                    <a:lstStyle/>
                    <a:p>
                      <a:pPr indent="0" marL="0">
                        <a:buNone/>
                      </a:pP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HeatRisk EU · data science</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TransitBuddy · frontend</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tx2"/>
                    </a:solidFill>
                  </a:tcPr>
                </a:tc>
              </a:tr>
              <a:tr h="4297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Problem</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Heat deaths aren't comparable across countries</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Trip planners are hard to use with a screen reader</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Claims</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Predict 2026 heat deaths within ±25%</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Lighthouse accessibility score ≥ 95</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Evidence · module</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Data source checks, model vs official figures, pipeline runs</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Lighthouse scores, auto screenshots, uptime</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2"/>
                    </a:solidFill>
                  </a:tcPr>
                </a:tc>
              </a:tr>
              <a:tr h="42976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Demo · module</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Embedded Streamlit dashboard</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Live deployed site + device screenshots</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2"/>
                    </a:solidFill>
                  </a:tcPr>
                </a:tc>
              </a:tr>
              <a:tr h="4297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Work over time</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1"/>
                    </a:solidFill>
                  </a:tcPr>
                </a:tc>
                <a:tc gridSpan="2">
                  <a:txBody>
                    <a:bodyPr/>
                    <a:lstStyle/>
                    <a:p>
                      <a:pPr indent="0" marL="0">
                        <a:buNone/>
                      </a:pPr>
                      <a:r>
                        <a:rPr lang="en-US" sz="1300" i="1" dirty="0">
                          <a:solidFill>
                            <a:schemeClr val="accent6"/>
                          </a:solidFill>
                          <a:latin typeface="Calibri" pitchFamily="34" charset="0"/>
                          <a:ea typeface="Calibri" pitchFamily="34" charset="-122"/>
                          <a:cs typeface="Calibri" pitchFamily="34" charset="-120"/>
                        </a:rPr>
                        <a:t>Same for both: commit timeline, milestones, mentor feedback</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1"/>
                    </a:solidFill>
                  </a:tcPr>
                </a:tc>
                <a:tc hMerge="1">
                  <a:tcPr/>
                </a:tc>
              </a:tr>
              <a:tr h="4297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Outcome</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1"/>
                    </a:solidFill>
                  </a:tcPr>
                </a:tc>
                <a:tc gridSpan="2">
                  <a:txBody>
                    <a:bodyPr/>
                    <a:lstStyle/>
                    <a:p>
                      <a:pPr indent="0" marL="0">
                        <a:buNone/>
                      </a:pPr>
                      <a:r>
                        <a:rPr lang="en-US" sz="1300" i="1" dirty="0">
                          <a:solidFill>
                            <a:schemeClr val="accent6"/>
                          </a:solidFill>
                          <a:latin typeface="Calibri" pitchFamily="34" charset="0"/>
                          <a:ea typeface="Calibri" pitchFamily="34" charset="-122"/>
                          <a:cs typeface="Calibri" pitchFamily="34" charset="-120"/>
                        </a:rPr>
                        <a:t>Same for both: project page, portfolio link, CV bullet points</a:t>
                      </a:r>
                      <a:endParaRPr lang="en-US" sz="1300" dirty="0">
                        <a:latin typeface="Calibri" charset="0"/>
                        <a:ea typeface="Calibri" charset="0"/>
                        <a:cs typeface="Calibri" charset="0"/>
                      </a:endParaRPr>
                    </a:p>
                  </a:txBody>
                  <a:tcPr marL="91440" marR="91440" marT="36576" marB="36576" anchor="ctr">
                    <a:lnL w="9525" cap="flat" cmpd="sng" algn="ctr">
                      <a:solidFill>
                        <a:srgbClr val="E2E5F0"/>
                      </a:solidFill>
                      <a:prstDash val="solid"/>
                      <a:round/>
                      <a:headEnd type="none" w="med" len="med"/>
                      <a:tailEnd type="none" w="med" len="med"/>
                    </a:lnL>
                    <a:lnR w="9525" cap="flat" cmpd="sng" algn="ctr">
                      <a:solidFill>
                        <a:srgbClr val="E2E5F0"/>
                      </a:solidFill>
                      <a:prstDash val="solid"/>
                      <a:round/>
                      <a:headEnd type="none" w="med" len="med"/>
                      <a:tailEnd type="none" w="med" len="med"/>
                    </a:lnR>
                    <a:lnT w="9525" cap="flat" cmpd="sng" algn="ctr">
                      <a:solidFill>
                        <a:srgbClr val="E2E5F0"/>
                      </a:solidFill>
                      <a:prstDash val="solid"/>
                      <a:round/>
                      <a:headEnd type="none" w="med" len="med"/>
                      <a:tailEnd type="none" w="med" len="med"/>
                    </a:lnT>
                    <a:lnB w="9525" cap="flat" cmpd="sng" algn="ctr">
                      <a:solidFill>
                        <a:srgbClr val="E2E5F0"/>
                      </a:solidFill>
                      <a:prstDash val="solid"/>
                      <a:round/>
                      <a:headEnd type="none" w="med" len="med"/>
                      <a:tailEnd type="none" w="med" len="med"/>
                    </a:lnB>
                    <a:solidFill>
                      <a:schemeClr val="bg1"/>
                    </a:solidFill>
                  </a:tcPr>
                </a:tc>
                <a:tc hMerge="1">
                  <a:tcPr/>
                </a:tc>
              </a:tr>
            </a:tbl>
          </a:graphicData>
        </a:graphic>
      </p:graphicFrame>
      <p:sp>
        <p:nvSpPr>
          <p:cNvPr id="4" name="text-575"/>
          <p:cNvSpPr txBox="1"/>
          <p:nvPr/>
        </p:nvSpPr>
        <p:spPr>
          <a:xfrm>
            <a:off x="457200" y="4315968"/>
            <a:ext cx="8229600" cy="320040"/>
          </a:xfrm>
          <a:prstGeom prst="rect">
            <a:avLst/>
          </a:prstGeom>
          <a:noFill/>
          <a:ln/>
        </p:spPr>
        <p:txBody>
          <a:bodyPr wrap="square" lIns="0" tIns="0" rIns="0" bIns="0" rtlCol="0" anchor="t"/>
          <a:lstStyle/>
          <a:p>
            <a:pPr indent="0" marL="0">
              <a:buNone/>
            </a:pPr>
            <a:r>
              <a:rPr lang="en-US" sz="1400" b="1" dirty="0">
                <a:solidFill>
                  <a:schemeClr val="tx1"/>
                </a:solidFill>
              </a:rPr>
              <a:t>Highlighted rows change with the project type. </a:t>
            </a:r>
            <a:pPr indent="0" marL="0">
              <a:buNone/>
            </a:pPr>
            <a:r>
              <a:rPr lang="en-US" sz="1400" dirty="0">
                <a:solidFill>
                  <a:schemeClr val="tx1"/>
                </a:solidFill>
              </a:rPr>
              <a:t>Everything else is the shared core.</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One core, one module per type</a:t>
            </a:r>
            <a:endParaRPr lang="en-US" sz="3200" dirty="0"/>
          </a:p>
        </p:txBody>
      </p:sp>
      <p:sp>
        <p:nvSpPr>
          <p:cNvPr id="3" name="card-576"/>
          <p:cNvSpPr/>
          <p:nvPr/>
        </p:nvSpPr>
        <p:spPr>
          <a:xfrm>
            <a:off x="457200" y="1097280"/>
            <a:ext cx="1536192" cy="2103120"/>
          </a:xfrm>
          <a:prstGeom prst="roundRect">
            <a:avLst>
              <a:gd name="adj" fmla="val 4762"/>
            </a:avLst>
          </a:prstGeom>
          <a:solidFill>
            <a:schemeClr val="bg2"/>
          </a:solidFill>
          <a:ln w="9525">
            <a:solidFill>
              <a:schemeClr val="bg2"/>
            </a:solidFill>
            <a:prstDash val="solid"/>
          </a:ln>
        </p:spPr>
      </p:sp>
      <p:sp>
        <p:nvSpPr>
          <p:cNvPr id="4" name="icon-bg-577"/>
          <p:cNvSpPr/>
          <p:nvPr/>
        </p:nvSpPr>
        <p:spPr>
          <a:xfrm>
            <a:off x="594360" y="1234440"/>
            <a:ext cx="438912" cy="438912"/>
          </a:xfrm>
          <a:prstGeom prst="ellipse">
            <a:avLst/>
          </a:prstGeom>
          <a:solidFill>
            <a:schemeClr val="bg1"/>
          </a:solidFill>
          <a:ln w="12700">
            <a:solidFill>
              <a:schemeClr val="bg1"/>
            </a:solidFill>
            <a:prstDash val="solid"/>
          </a:ln>
        </p:spPr>
      </p:sp>
      <p:pic>
        <p:nvPicPr>
          <p:cNvPr id="5" name="icon-578" descr="preencoded.png">    </p:cNvPr>
          <p:cNvPicPr>
            <a:picLocks noChangeAspect="1"/>
          </p:cNvPicPr>
          <p:nvPr/>
        </p:nvPicPr>
        <p:blipFill>
          <a:blip r:embed="rId1"/>
          <a:stretch>
            <a:fillRect/>
          </a:stretch>
        </p:blipFill>
        <p:spPr>
          <a:xfrm>
            <a:off x="708477" y="1348557"/>
            <a:ext cx="210678" cy="210678"/>
          </a:xfrm>
          <a:prstGeom prst="rect">
            <a:avLst/>
          </a:prstGeom>
        </p:spPr>
      </p:pic>
      <p:sp>
        <p:nvSpPr>
          <p:cNvPr id="6" name="text-579"/>
          <p:cNvSpPr txBox="1"/>
          <p:nvPr/>
        </p:nvSpPr>
        <p:spPr>
          <a:xfrm>
            <a:off x="594360" y="1755648"/>
            <a:ext cx="1325880" cy="274320"/>
          </a:xfrm>
          <a:prstGeom prst="rect">
            <a:avLst/>
          </a:prstGeom>
          <a:noFill/>
          <a:ln/>
        </p:spPr>
        <p:txBody>
          <a:bodyPr wrap="square" lIns="0" tIns="0" rIns="0" bIns="0" rtlCol="0" anchor="t"/>
          <a:lstStyle/>
          <a:p>
            <a:pPr indent="0" marL="0">
              <a:buNone/>
            </a:pPr>
            <a:r>
              <a:rPr lang="en-US" sz="1400" b="1" dirty="0">
                <a:solidFill>
                  <a:schemeClr val="tx1"/>
                </a:solidFill>
              </a:rPr>
              <a:t>Data science</a:t>
            </a:r>
            <a:endParaRPr lang="en-US" sz="1400" dirty="0"/>
          </a:p>
        </p:txBody>
      </p:sp>
      <p:sp>
        <p:nvSpPr>
          <p:cNvPr id="7" name="text-580"/>
          <p:cNvSpPr txBox="1"/>
          <p:nvPr/>
        </p:nvSpPr>
        <p:spPr>
          <a:xfrm>
            <a:off x="594360" y="2057400"/>
            <a:ext cx="1353312" cy="73152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Data source health</a:t>
            </a:r>
            <a:endParaRPr lang="en-US" sz="1200" dirty="0"/>
          </a:p>
          <a:p>
            <a:pPr indent="0" marL="0">
              <a:spcAft>
                <a:spcPts val="200"/>
              </a:spcAft>
              <a:buNone/>
            </a:pPr>
            <a:r>
              <a:rPr lang="en-US" sz="1200" dirty="0">
                <a:solidFill>
                  <a:schemeClr val="tx1"/>
                </a:solidFill>
              </a:rPr>
              <a:t>Model vs target</a:t>
            </a:r>
            <a:endParaRPr lang="en-US" sz="1200" dirty="0"/>
          </a:p>
          <a:p>
            <a:pPr indent="0" marL="0">
              <a:spcAft>
                <a:spcPts val="200"/>
              </a:spcAft>
              <a:buNone/>
            </a:pPr>
            <a:r>
              <a:rPr lang="en-US" sz="1200" dirty="0">
                <a:solidFill>
                  <a:schemeClr val="tx1"/>
                </a:solidFill>
              </a:rPr>
              <a:t>Pipeline runs</a:t>
            </a:r>
            <a:endParaRPr lang="en-US" sz="1200" dirty="0"/>
          </a:p>
        </p:txBody>
      </p:sp>
      <p:sp>
        <p:nvSpPr>
          <p:cNvPr id="8" name="chip-581"/>
          <p:cNvSpPr/>
          <p:nvPr/>
        </p:nvSpPr>
        <p:spPr>
          <a:xfrm>
            <a:off x="566928" y="2862072"/>
            <a:ext cx="1316736" cy="237744"/>
          </a:xfrm>
          <a:prstGeom prst="roundRect">
            <a:avLst>
              <a:gd name="adj" fmla="val 50000"/>
            </a:avLst>
          </a:prstGeom>
          <a:solidFill>
            <a:schemeClr val="accent3"/>
          </a:solidFill>
          <a:ln w="12700">
            <a:solidFill>
              <a:schemeClr val="accent3"/>
            </a:solidFill>
            <a:prstDash val="solid"/>
          </a:ln>
        </p:spPr>
      </p:sp>
      <p:sp>
        <p:nvSpPr>
          <p:cNvPr id="9" name="text-582"/>
          <p:cNvSpPr txBox="1"/>
          <p:nvPr/>
        </p:nvSpPr>
        <p:spPr>
          <a:xfrm>
            <a:off x="566928" y="2862072"/>
            <a:ext cx="1316736" cy="237744"/>
          </a:xfrm>
          <a:prstGeom prst="rect">
            <a:avLst/>
          </a:prstGeom>
          <a:noFill/>
          <a:ln/>
        </p:spPr>
        <p:txBody>
          <a:bodyPr wrap="square" lIns="0" tIns="0" rIns="0" bIns="0" rtlCol="0" anchor="ctr"/>
          <a:lstStyle/>
          <a:p>
            <a:pPr algn="ctr" indent="0" marL="0">
              <a:buNone/>
            </a:pPr>
            <a:r>
              <a:rPr lang="en-US" sz="1000" b="1" dirty="0">
                <a:solidFill>
                  <a:schemeClr val="bg1"/>
                </a:solidFill>
              </a:rPr>
              <a:t>Phase 1 · HeatRisk</a:t>
            </a:r>
            <a:endParaRPr lang="en-US" sz="1000" dirty="0"/>
          </a:p>
        </p:txBody>
      </p:sp>
      <p:sp>
        <p:nvSpPr>
          <p:cNvPr id="10" name="connector-583"/>
          <p:cNvSpPr/>
          <p:nvPr/>
        </p:nvSpPr>
        <p:spPr>
          <a:xfrm>
            <a:off x="1216152" y="3200400"/>
            <a:ext cx="27432" cy="256032"/>
          </a:xfrm>
          <a:prstGeom prst="rect">
            <a:avLst/>
          </a:prstGeom>
          <a:solidFill>
            <a:schemeClr val="accent2"/>
          </a:solidFill>
          <a:ln w="12700">
            <a:solidFill>
              <a:schemeClr val="accent2"/>
            </a:solidFill>
            <a:prstDash val="solid"/>
          </a:ln>
        </p:spPr>
      </p:sp>
      <p:sp>
        <p:nvSpPr>
          <p:cNvPr id="11" name="card-584"/>
          <p:cNvSpPr/>
          <p:nvPr/>
        </p:nvSpPr>
        <p:spPr>
          <a:xfrm>
            <a:off x="2130552" y="1097280"/>
            <a:ext cx="1536192" cy="2103120"/>
          </a:xfrm>
          <a:prstGeom prst="roundRect">
            <a:avLst>
              <a:gd name="adj" fmla="val 4762"/>
            </a:avLst>
          </a:prstGeom>
          <a:solidFill>
            <a:schemeClr val="bg2"/>
          </a:solidFill>
          <a:ln w="9525">
            <a:solidFill>
              <a:schemeClr val="bg2"/>
            </a:solidFill>
            <a:prstDash val="solid"/>
          </a:ln>
        </p:spPr>
      </p:sp>
      <p:sp>
        <p:nvSpPr>
          <p:cNvPr id="12" name="icon-bg-585"/>
          <p:cNvSpPr/>
          <p:nvPr/>
        </p:nvSpPr>
        <p:spPr>
          <a:xfrm>
            <a:off x="2267712" y="1234440"/>
            <a:ext cx="438912" cy="438912"/>
          </a:xfrm>
          <a:prstGeom prst="ellipse">
            <a:avLst/>
          </a:prstGeom>
          <a:solidFill>
            <a:schemeClr val="bg1"/>
          </a:solidFill>
          <a:ln w="12700">
            <a:solidFill>
              <a:schemeClr val="bg1"/>
            </a:solidFill>
            <a:prstDash val="solid"/>
          </a:ln>
        </p:spPr>
      </p:sp>
      <p:pic>
        <p:nvPicPr>
          <p:cNvPr id="13" name="icon-586" descr="preencoded.png">    </p:cNvPr>
          <p:cNvPicPr>
            <a:picLocks noChangeAspect="1"/>
          </p:cNvPicPr>
          <p:nvPr/>
        </p:nvPicPr>
        <p:blipFill>
          <a:blip r:embed="rId2"/>
          <a:stretch>
            <a:fillRect/>
          </a:stretch>
        </p:blipFill>
        <p:spPr>
          <a:xfrm>
            <a:off x="2381829" y="1348557"/>
            <a:ext cx="210678" cy="210678"/>
          </a:xfrm>
          <a:prstGeom prst="rect">
            <a:avLst/>
          </a:prstGeom>
        </p:spPr>
      </p:pic>
      <p:sp>
        <p:nvSpPr>
          <p:cNvPr id="14" name="text-587"/>
          <p:cNvSpPr txBox="1"/>
          <p:nvPr/>
        </p:nvSpPr>
        <p:spPr>
          <a:xfrm>
            <a:off x="2267712" y="1755648"/>
            <a:ext cx="1325880" cy="274320"/>
          </a:xfrm>
          <a:prstGeom prst="rect">
            <a:avLst/>
          </a:prstGeom>
          <a:noFill/>
          <a:ln/>
        </p:spPr>
        <p:txBody>
          <a:bodyPr wrap="square" lIns="0" tIns="0" rIns="0" bIns="0" rtlCol="0" anchor="t"/>
          <a:lstStyle/>
          <a:p>
            <a:pPr indent="0" marL="0">
              <a:buNone/>
            </a:pPr>
            <a:r>
              <a:rPr lang="en-US" sz="1400" b="1" dirty="0">
                <a:solidFill>
                  <a:schemeClr val="tx1"/>
                </a:solidFill>
              </a:rPr>
              <a:t>Frontend</a:t>
            </a:r>
            <a:endParaRPr lang="en-US" sz="1400" dirty="0"/>
          </a:p>
        </p:txBody>
      </p:sp>
      <p:sp>
        <p:nvSpPr>
          <p:cNvPr id="15" name="text-588"/>
          <p:cNvSpPr txBox="1"/>
          <p:nvPr/>
        </p:nvSpPr>
        <p:spPr>
          <a:xfrm>
            <a:off x="2267712" y="2057400"/>
            <a:ext cx="1353312" cy="73152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Lighthouse scores</a:t>
            </a:r>
            <a:endParaRPr lang="en-US" sz="1200" dirty="0"/>
          </a:p>
          <a:p>
            <a:pPr indent="0" marL="0">
              <a:spcAft>
                <a:spcPts val="200"/>
              </a:spcAft>
              <a:buNone/>
            </a:pPr>
            <a:r>
              <a:rPr lang="en-US" sz="1200" dirty="0">
                <a:solidFill>
                  <a:schemeClr val="tx1"/>
                </a:solidFill>
              </a:rPr>
              <a:t>Auto screenshots</a:t>
            </a:r>
            <a:endParaRPr lang="en-US" sz="1200" dirty="0"/>
          </a:p>
          <a:p>
            <a:pPr indent="0" marL="0">
              <a:spcAft>
                <a:spcPts val="200"/>
              </a:spcAft>
              <a:buNone/>
            </a:pPr>
            <a:r>
              <a:rPr lang="en-US" sz="1200" dirty="0">
                <a:solidFill>
                  <a:schemeClr val="tx1"/>
                </a:solidFill>
              </a:rPr>
              <a:t>Uptime</a:t>
            </a:r>
            <a:endParaRPr lang="en-US" sz="1200" dirty="0"/>
          </a:p>
        </p:txBody>
      </p:sp>
      <p:sp>
        <p:nvSpPr>
          <p:cNvPr id="16" name="chip-589"/>
          <p:cNvSpPr/>
          <p:nvPr/>
        </p:nvSpPr>
        <p:spPr>
          <a:xfrm>
            <a:off x="2240280" y="2862072"/>
            <a:ext cx="1316736" cy="237744"/>
          </a:xfrm>
          <a:prstGeom prst="roundRect">
            <a:avLst>
              <a:gd name="adj" fmla="val 50000"/>
            </a:avLst>
          </a:prstGeom>
          <a:solidFill>
            <a:schemeClr val="accent1"/>
          </a:solidFill>
          <a:ln w="12700">
            <a:solidFill>
              <a:schemeClr val="accent1"/>
            </a:solidFill>
            <a:prstDash val="solid"/>
          </a:ln>
        </p:spPr>
      </p:sp>
      <p:sp>
        <p:nvSpPr>
          <p:cNvPr id="17" name="text-590"/>
          <p:cNvSpPr txBox="1"/>
          <p:nvPr/>
        </p:nvSpPr>
        <p:spPr>
          <a:xfrm>
            <a:off x="2240280" y="2862072"/>
            <a:ext cx="1316736" cy="237744"/>
          </a:xfrm>
          <a:prstGeom prst="rect">
            <a:avLst/>
          </a:prstGeom>
          <a:noFill/>
          <a:ln/>
        </p:spPr>
        <p:txBody>
          <a:bodyPr wrap="square" lIns="0" tIns="0" rIns="0" bIns="0" rtlCol="0" anchor="ctr"/>
          <a:lstStyle/>
          <a:p>
            <a:pPr algn="ctr" indent="0" marL="0">
              <a:buNone/>
            </a:pPr>
            <a:r>
              <a:rPr lang="en-US" sz="1000" b="1" dirty="0">
                <a:solidFill>
                  <a:schemeClr val="bg1"/>
                </a:solidFill>
              </a:rPr>
              <a:t>Phase 2</a:t>
            </a:r>
            <a:endParaRPr lang="en-US" sz="1000" dirty="0"/>
          </a:p>
        </p:txBody>
      </p:sp>
      <p:sp>
        <p:nvSpPr>
          <p:cNvPr id="18" name="connector-591"/>
          <p:cNvSpPr/>
          <p:nvPr/>
        </p:nvSpPr>
        <p:spPr>
          <a:xfrm>
            <a:off x="2889504" y="3200400"/>
            <a:ext cx="27432" cy="256032"/>
          </a:xfrm>
          <a:prstGeom prst="rect">
            <a:avLst/>
          </a:prstGeom>
          <a:solidFill>
            <a:schemeClr val="accent2"/>
          </a:solidFill>
          <a:ln w="12700">
            <a:solidFill>
              <a:schemeClr val="accent2"/>
            </a:solidFill>
            <a:prstDash val="solid"/>
          </a:ln>
        </p:spPr>
      </p:sp>
      <p:sp>
        <p:nvSpPr>
          <p:cNvPr id="19" name="card-592"/>
          <p:cNvSpPr/>
          <p:nvPr/>
        </p:nvSpPr>
        <p:spPr>
          <a:xfrm>
            <a:off x="3803904" y="1097280"/>
            <a:ext cx="1536192" cy="2103120"/>
          </a:xfrm>
          <a:prstGeom prst="roundRect">
            <a:avLst>
              <a:gd name="adj" fmla="val 4762"/>
            </a:avLst>
          </a:prstGeom>
          <a:solidFill>
            <a:schemeClr val="bg2"/>
          </a:solidFill>
          <a:ln w="9525">
            <a:solidFill>
              <a:schemeClr val="bg2"/>
            </a:solidFill>
            <a:prstDash val="solid"/>
          </a:ln>
        </p:spPr>
      </p:sp>
      <p:sp>
        <p:nvSpPr>
          <p:cNvPr id="20" name="icon-bg-593"/>
          <p:cNvSpPr/>
          <p:nvPr/>
        </p:nvSpPr>
        <p:spPr>
          <a:xfrm>
            <a:off x="3941064" y="1234440"/>
            <a:ext cx="438912" cy="438912"/>
          </a:xfrm>
          <a:prstGeom prst="ellipse">
            <a:avLst/>
          </a:prstGeom>
          <a:solidFill>
            <a:schemeClr val="bg1"/>
          </a:solidFill>
          <a:ln w="12700">
            <a:solidFill>
              <a:schemeClr val="bg1"/>
            </a:solidFill>
            <a:prstDash val="solid"/>
          </a:ln>
        </p:spPr>
      </p:sp>
      <p:pic>
        <p:nvPicPr>
          <p:cNvPr id="21" name="icon-594" descr="preencoded.png">    </p:cNvPr>
          <p:cNvPicPr>
            <a:picLocks noChangeAspect="1"/>
          </p:cNvPicPr>
          <p:nvPr/>
        </p:nvPicPr>
        <p:blipFill>
          <a:blip r:embed="rId3"/>
          <a:stretch>
            <a:fillRect/>
          </a:stretch>
        </p:blipFill>
        <p:spPr>
          <a:xfrm>
            <a:off x="4055181" y="1348557"/>
            <a:ext cx="210678" cy="210678"/>
          </a:xfrm>
          <a:prstGeom prst="rect">
            <a:avLst/>
          </a:prstGeom>
        </p:spPr>
      </p:pic>
      <p:sp>
        <p:nvSpPr>
          <p:cNvPr id="22" name="text-595"/>
          <p:cNvSpPr txBox="1"/>
          <p:nvPr/>
        </p:nvSpPr>
        <p:spPr>
          <a:xfrm>
            <a:off x="3941064" y="1755648"/>
            <a:ext cx="1325880" cy="274320"/>
          </a:xfrm>
          <a:prstGeom prst="rect">
            <a:avLst/>
          </a:prstGeom>
          <a:noFill/>
          <a:ln/>
        </p:spPr>
        <p:txBody>
          <a:bodyPr wrap="square" lIns="0" tIns="0" rIns="0" bIns="0" rtlCol="0" anchor="t"/>
          <a:lstStyle/>
          <a:p>
            <a:pPr indent="0" marL="0">
              <a:buNone/>
            </a:pPr>
            <a:r>
              <a:rPr lang="en-US" sz="1400" b="1" dirty="0">
                <a:solidFill>
                  <a:schemeClr val="tx1"/>
                </a:solidFill>
              </a:rPr>
              <a:t>Backend / API</a:t>
            </a:r>
            <a:endParaRPr lang="en-US" sz="1400" dirty="0"/>
          </a:p>
        </p:txBody>
      </p:sp>
      <p:sp>
        <p:nvSpPr>
          <p:cNvPr id="23" name="text-596"/>
          <p:cNvSpPr txBox="1"/>
          <p:nvPr/>
        </p:nvSpPr>
        <p:spPr>
          <a:xfrm>
            <a:off x="3941064" y="2057400"/>
            <a:ext cx="1353312" cy="73152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API docs</a:t>
            </a:r>
            <a:endParaRPr lang="en-US" sz="1200" dirty="0"/>
          </a:p>
          <a:p>
            <a:pPr indent="0" marL="0">
              <a:spcAft>
                <a:spcPts val="200"/>
              </a:spcAft>
              <a:buNone/>
            </a:pPr>
            <a:r>
              <a:rPr lang="en-US" sz="1200" dirty="0">
                <a:solidFill>
                  <a:schemeClr val="tx1"/>
                </a:solidFill>
              </a:rPr>
              <a:t>Test coverage</a:t>
            </a:r>
            <a:endParaRPr lang="en-US" sz="1200" dirty="0"/>
          </a:p>
          <a:p>
            <a:pPr indent="0" marL="0">
              <a:spcAft>
                <a:spcPts val="200"/>
              </a:spcAft>
              <a:buNone/>
            </a:pPr>
            <a:r>
              <a:rPr lang="en-US" sz="1200" dirty="0">
                <a:solidFill>
                  <a:schemeClr val="tx1"/>
                </a:solidFill>
              </a:rPr>
              <a:t>Response times</a:t>
            </a:r>
            <a:endParaRPr lang="en-US" sz="1200" dirty="0"/>
          </a:p>
        </p:txBody>
      </p:sp>
      <p:sp>
        <p:nvSpPr>
          <p:cNvPr id="24" name="chip-597"/>
          <p:cNvSpPr/>
          <p:nvPr/>
        </p:nvSpPr>
        <p:spPr>
          <a:xfrm>
            <a:off x="3913632" y="2862072"/>
            <a:ext cx="1316736" cy="237744"/>
          </a:xfrm>
          <a:prstGeom prst="roundRect">
            <a:avLst>
              <a:gd name="adj" fmla="val 50000"/>
            </a:avLst>
          </a:prstGeom>
          <a:solidFill>
            <a:srgbClr val="E5E7EB"/>
          </a:solidFill>
          <a:ln w="12700">
            <a:solidFill>
              <a:srgbClr val="E5E7EB"/>
            </a:solidFill>
            <a:prstDash val="solid"/>
          </a:ln>
        </p:spPr>
      </p:sp>
      <p:sp>
        <p:nvSpPr>
          <p:cNvPr id="25" name="text-598"/>
          <p:cNvSpPr txBox="1"/>
          <p:nvPr/>
        </p:nvSpPr>
        <p:spPr>
          <a:xfrm>
            <a:off x="3913632" y="2862072"/>
            <a:ext cx="1316736" cy="237744"/>
          </a:xfrm>
          <a:prstGeom prst="rect">
            <a:avLst/>
          </a:prstGeom>
          <a:noFill/>
          <a:ln/>
        </p:spPr>
        <p:txBody>
          <a:bodyPr wrap="square" lIns="0" tIns="0" rIns="0" bIns="0" rtlCol="0" anchor="ctr"/>
          <a:lstStyle/>
          <a:p>
            <a:pPr algn="ctr" indent="0" marL="0">
              <a:buNone/>
            </a:pPr>
            <a:r>
              <a:rPr lang="en-US" sz="1000" b="1" dirty="0">
                <a:solidFill>
                  <a:schemeClr val="tx1"/>
                </a:solidFill>
              </a:rPr>
              <a:t>Later</a:t>
            </a:r>
            <a:endParaRPr lang="en-US" sz="1000" dirty="0"/>
          </a:p>
        </p:txBody>
      </p:sp>
      <p:sp>
        <p:nvSpPr>
          <p:cNvPr id="26" name="connector-599"/>
          <p:cNvSpPr/>
          <p:nvPr/>
        </p:nvSpPr>
        <p:spPr>
          <a:xfrm>
            <a:off x="4562856" y="3200400"/>
            <a:ext cx="27432" cy="256032"/>
          </a:xfrm>
          <a:prstGeom prst="rect">
            <a:avLst/>
          </a:prstGeom>
          <a:solidFill>
            <a:schemeClr val="accent2"/>
          </a:solidFill>
          <a:ln w="12700">
            <a:solidFill>
              <a:schemeClr val="accent2"/>
            </a:solidFill>
            <a:prstDash val="solid"/>
          </a:ln>
        </p:spPr>
      </p:sp>
      <p:sp>
        <p:nvSpPr>
          <p:cNvPr id="27" name="card-600"/>
          <p:cNvSpPr/>
          <p:nvPr/>
        </p:nvSpPr>
        <p:spPr>
          <a:xfrm>
            <a:off x="5477256" y="1097280"/>
            <a:ext cx="1536192" cy="2103120"/>
          </a:xfrm>
          <a:prstGeom prst="roundRect">
            <a:avLst>
              <a:gd name="adj" fmla="val 4762"/>
            </a:avLst>
          </a:prstGeom>
          <a:solidFill>
            <a:schemeClr val="bg2"/>
          </a:solidFill>
          <a:ln w="9525">
            <a:solidFill>
              <a:schemeClr val="bg2"/>
            </a:solidFill>
            <a:prstDash val="solid"/>
          </a:ln>
        </p:spPr>
      </p:sp>
      <p:sp>
        <p:nvSpPr>
          <p:cNvPr id="28" name="icon-bg-601"/>
          <p:cNvSpPr/>
          <p:nvPr/>
        </p:nvSpPr>
        <p:spPr>
          <a:xfrm>
            <a:off x="5614416" y="1234440"/>
            <a:ext cx="438912" cy="438912"/>
          </a:xfrm>
          <a:prstGeom prst="ellipse">
            <a:avLst/>
          </a:prstGeom>
          <a:solidFill>
            <a:schemeClr val="bg1"/>
          </a:solidFill>
          <a:ln w="12700">
            <a:solidFill>
              <a:schemeClr val="bg1"/>
            </a:solidFill>
            <a:prstDash val="solid"/>
          </a:ln>
        </p:spPr>
      </p:sp>
      <p:pic>
        <p:nvPicPr>
          <p:cNvPr id="29" name="icon-602" descr="preencoded.png">    </p:cNvPr>
          <p:cNvPicPr>
            <a:picLocks noChangeAspect="1"/>
          </p:cNvPicPr>
          <p:nvPr/>
        </p:nvPicPr>
        <p:blipFill>
          <a:blip r:embed="rId4"/>
          <a:stretch>
            <a:fillRect/>
          </a:stretch>
        </p:blipFill>
        <p:spPr>
          <a:xfrm>
            <a:off x="5728533" y="1348557"/>
            <a:ext cx="210678" cy="210678"/>
          </a:xfrm>
          <a:prstGeom prst="rect">
            <a:avLst/>
          </a:prstGeom>
        </p:spPr>
      </p:pic>
      <p:sp>
        <p:nvSpPr>
          <p:cNvPr id="30" name="text-603"/>
          <p:cNvSpPr txBox="1"/>
          <p:nvPr/>
        </p:nvSpPr>
        <p:spPr>
          <a:xfrm>
            <a:off x="5614416" y="1755648"/>
            <a:ext cx="1325880" cy="274320"/>
          </a:xfrm>
          <a:prstGeom prst="rect">
            <a:avLst/>
          </a:prstGeom>
          <a:noFill/>
          <a:ln/>
        </p:spPr>
        <p:txBody>
          <a:bodyPr wrap="square" lIns="0" tIns="0" rIns="0" bIns="0" rtlCol="0" anchor="t"/>
          <a:lstStyle/>
          <a:p>
            <a:pPr indent="0" marL="0">
              <a:buNone/>
            </a:pPr>
            <a:r>
              <a:rPr lang="en-US" sz="1400" b="1" dirty="0">
                <a:solidFill>
                  <a:schemeClr val="tx1"/>
                </a:solidFill>
              </a:rPr>
              <a:t>Mobile</a:t>
            </a:r>
            <a:endParaRPr lang="en-US" sz="1400" dirty="0"/>
          </a:p>
        </p:txBody>
      </p:sp>
      <p:sp>
        <p:nvSpPr>
          <p:cNvPr id="31" name="text-604"/>
          <p:cNvSpPr txBox="1"/>
          <p:nvPr/>
        </p:nvSpPr>
        <p:spPr>
          <a:xfrm>
            <a:off x="5614416" y="2057400"/>
            <a:ext cx="1353312" cy="73152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Build status</a:t>
            </a:r>
            <a:endParaRPr lang="en-US" sz="1200" dirty="0"/>
          </a:p>
          <a:p>
            <a:pPr indent="0" marL="0">
              <a:spcAft>
                <a:spcPts val="200"/>
              </a:spcAft>
              <a:buNone/>
            </a:pPr>
            <a:r>
              <a:rPr lang="en-US" sz="1200" dirty="0">
                <a:solidFill>
                  <a:schemeClr val="tx1"/>
                </a:solidFill>
              </a:rPr>
              <a:t>Screen recordings</a:t>
            </a:r>
            <a:endParaRPr lang="en-US" sz="1200" dirty="0"/>
          </a:p>
          <a:p>
            <a:pPr indent="0" marL="0">
              <a:spcAft>
                <a:spcPts val="200"/>
              </a:spcAft>
              <a:buNone/>
            </a:pPr>
            <a:r>
              <a:rPr lang="en-US" sz="1200" dirty="0">
                <a:solidFill>
                  <a:schemeClr val="tx1"/>
                </a:solidFill>
              </a:rPr>
              <a:t>Test install link</a:t>
            </a:r>
            <a:endParaRPr lang="en-US" sz="1200" dirty="0"/>
          </a:p>
        </p:txBody>
      </p:sp>
      <p:sp>
        <p:nvSpPr>
          <p:cNvPr id="32" name="chip-605"/>
          <p:cNvSpPr/>
          <p:nvPr/>
        </p:nvSpPr>
        <p:spPr>
          <a:xfrm>
            <a:off x="5586984" y="2862072"/>
            <a:ext cx="1316736" cy="237744"/>
          </a:xfrm>
          <a:prstGeom prst="roundRect">
            <a:avLst>
              <a:gd name="adj" fmla="val 50000"/>
            </a:avLst>
          </a:prstGeom>
          <a:solidFill>
            <a:srgbClr val="E5E7EB"/>
          </a:solidFill>
          <a:ln w="12700">
            <a:solidFill>
              <a:srgbClr val="E5E7EB"/>
            </a:solidFill>
            <a:prstDash val="solid"/>
          </a:ln>
        </p:spPr>
      </p:sp>
      <p:sp>
        <p:nvSpPr>
          <p:cNvPr id="33" name="text-606"/>
          <p:cNvSpPr txBox="1"/>
          <p:nvPr/>
        </p:nvSpPr>
        <p:spPr>
          <a:xfrm>
            <a:off x="5586984" y="2862072"/>
            <a:ext cx="1316736" cy="237744"/>
          </a:xfrm>
          <a:prstGeom prst="rect">
            <a:avLst/>
          </a:prstGeom>
          <a:noFill/>
          <a:ln/>
        </p:spPr>
        <p:txBody>
          <a:bodyPr wrap="square" lIns="0" tIns="0" rIns="0" bIns="0" rtlCol="0" anchor="ctr"/>
          <a:lstStyle/>
          <a:p>
            <a:pPr algn="ctr" indent="0" marL="0">
              <a:buNone/>
            </a:pPr>
            <a:r>
              <a:rPr lang="en-US" sz="1000" b="1" dirty="0">
                <a:solidFill>
                  <a:schemeClr val="tx1"/>
                </a:solidFill>
              </a:rPr>
              <a:t>Later</a:t>
            </a:r>
            <a:endParaRPr lang="en-US" sz="1000" dirty="0"/>
          </a:p>
        </p:txBody>
      </p:sp>
      <p:sp>
        <p:nvSpPr>
          <p:cNvPr id="34" name="connector-607"/>
          <p:cNvSpPr/>
          <p:nvPr/>
        </p:nvSpPr>
        <p:spPr>
          <a:xfrm>
            <a:off x="6236208" y="3200400"/>
            <a:ext cx="27432" cy="256032"/>
          </a:xfrm>
          <a:prstGeom prst="rect">
            <a:avLst/>
          </a:prstGeom>
          <a:solidFill>
            <a:schemeClr val="accent2"/>
          </a:solidFill>
          <a:ln w="12700">
            <a:solidFill>
              <a:schemeClr val="accent2"/>
            </a:solidFill>
            <a:prstDash val="solid"/>
          </a:ln>
        </p:spPr>
      </p:sp>
      <p:sp>
        <p:nvSpPr>
          <p:cNvPr id="35" name="card-608"/>
          <p:cNvSpPr/>
          <p:nvPr/>
        </p:nvSpPr>
        <p:spPr>
          <a:xfrm>
            <a:off x="7150608" y="1097280"/>
            <a:ext cx="1536192" cy="2103120"/>
          </a:xfrm>
          <a:prstGeom prst="roundRect">
            <a:avLst>
              <a:gd name="adj" fmla="val 4762"/>
            </a:avLst>
          </a:prstGeom>
          <a:solidFill>
            <a:schemeClr val="bg2"/>
          </a:solidFill>
          <a:ln w="9525">
            <a:solidFill>
              <a:schemeClr val="bg2"/>
            </a:solidFill>
            <a:prstDash val="solid"/>
          </a:ln>
        </p:spPr>
      </p:sp>
      <p:sp>
        <p:nvSpPr>
          <p:cNvPr id="36" name="icon-bg-609"/>
          <p:cNvSpPr/>
          <p:nvPr/>
        </p:nvSpPr>
        <p:spPr>
          <a:xfrm>
            <a:off x="7287768" y="1234440"/>
            <a:ext cx="438912" cy="438912"/>
          </a:xfrm>
          <a:prstGeom prst="ellipse">
            <a:avLst/>
          </a:prstGeom>
          <a:solidFill>
            <a:schemeClr val="bg1"/>
          </a:solidFill>
          <a:ln w="12700">
            <a:solidFill>
              <a:schemeClr val="bg1"/>
            </a:solidFill>
            <a:prstDash val="solid"/>
          </a:ln>
        </p:spPr>
      </p:sp>
      <p:pic>
        <p:nvPicPr>
          <p:cNvPr id="37" name="icon-610" descr="preencoded.png">    </p:cNvPr>
          <p:cNvPicPr>
            <a:picLocks noChangeAspect="1"/>
          </p:cNvPicPr>
          <p:nvPr/>
        </p:nvPicPr>
        <p:blipFill>
          <a:blip r:embed="rId5"/>
          <a:stretch>
            <a:fillRect/>
          </a:stretch>
        </p:blipFill>
        <p:spPr>
          <a:xfrm>
            <a:off x="7401885" y="1348557"/>
            <a:ext cx="210678" cy="210678"/>
          </a:xfrm>
          <a:prstGeom prst="rect">
            <a:avLst/>
          </a:prstGeom>
        </p:spPr>
      </p:pic>
      <p:sp>
        <p:nvSpPr>
          <p:cNvPr id="38" name="text-611"/>
          <p:cNvSpPr txBox="1"/>
          <p:nvPr/>
        </p:nvSpPr>
        <p:spPr>
          <a:xfrm>
            <a:off x="7287768" y="1755648"/>
            <a:ext cx="1325880" cy="274320"/>
          </a:xfrm>
          <a:prstGeom prst="rect">
            <a:avLst/>
          </a:prstGeom>
          <a:noFill/>
          <a:ln/>
        </p:spPr>
        <p:txBody>
          <a:bodyPr wrap="square" lIns="0" tIns="0" rIns="0" bIns="0" rtlCol="0" anchor="t"/>
          <a:lstStyle/>
          <a:p>
            <a:pPr indent="0" marL="0">
              <a:buNone/>
            </a:pPr>
            <a:r>
              <a:rPr lang="en-US" sz="1400" b="1" dirty="0">
                <a:solidFill>
                  <a:schemeClr val="tx1"/>
                </a:solidFill>
              </a:rPr>
              <a:t>Research</a:t>
            </a:r>
            <a:endParaRPr lang="en-US" sz="1400" dirty="0"/>
          </a:p>
        </p:txBody>
      </p:sp>
      <p:sp>
        <p:nvSpPr>
          <p:cNvPr id="39" name="text-612"/>
          <p:cNvSpPr txBox="1"/>
          <p:nvPr/>
        </p:nvSpPr>
        <p:spPr>
          <a:xfrm>
            <a:off x="7287768" y="2057400"/>
            <a:ext cx="1353312" cy="73152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Paper PDF</a:t>
            </a:r>
            <a:endParaRPr lang="en-US" sz="1200" dirty="0"/>
          </a:p>
          <a:p>
            <a:pPr indent="0" marL="0">
              <a:spcAft>
                <a:spcPts val="200"/>
              </a:spcAft>
              <a:buNone/>
            </a:pPr>
            <a:r>
              <a:rPr lang="en-US" sz="1200" dirty="0">
                <a:solidFill>
                  <a:schemeClr val="tx1"/>
                </a:solidFill>
              </a:rPr>
              <a:t>References</a:t>
            </a:r>
            <a:endParaRPr lang="en-US" sz="1200" dirty="0"/>
          </a:p>
          <a:p>
            <a:pPr indent="0" marL="0">
              <a:spcAft>
                <a:spcPts val="200"/>
              </a:spcAft>
              <a:buNone/>
            </a:pPr>
            <a:r>
              <a:rPr lang="en-US" sz="1200" dirty="0">
                <a:solidFill>
                  <a:schemeClr val="tx1"/>
                </a:solidFill>
              </a:rPr>
              <a:t>Key findings</a:t>
            </a:r>
            <a:endParaRPr lang="en-US" sz="1200" dirty="0"/>
          </a:p>
        </p:txBody>
      </p:sp>
      <p:sp>
        <p:nvSpPr>
          <p:cNvPr id="40" name="chip-613"/>
          <p:cNvSpPr/>
          <p:nvPr/>
        </p:nvSpPr>
        <p:spPr>
          <a:xfrm>
            <a:off x="7260336" y="2862072"/>
            <a:ext cx="1316736" cy="237744"/>
          </a:xfrm>
          <a:prstGeom prst="roundRect">
            <a:avLst>
              <a:gd name="adj" fmla="val 50000"/>
            </a:avLst>
          </a:prstGeom>
          <a:solidFill>
            <a:srgbClr val="E5E7EB"/>
          </a:solidFill>
          <a:ln w="12700">
            <a:solidFill>
              <a:srgbClr val="E5E7EB"/>
            </a:solidFill>
            <a:prstDash val="solid"/>
          </a:ln>
        </p:spPr>
      </p:sp>
      <p:sp>
        <p:nvSpPr>
          <p:cNvPr id="41" name="text-614"/>
          <p:cNvSpPr txBox="1"/>
          <p:nvPr/>
        </p:nvSpPr>
        <p:spPr>
          <a:xfrm>
            <a:off x="7260336" y="2862072"/>
            <a:ext cx="1316736" cy="237744"/>
          </a:xfrm>
          <a:prstGeom prst="rect">
            <a:avLst/>
          </a:prstGeom>
          <a:noFill/>
          <a:ln/>
        </p:spPr>
        <p:txBody>
          <a:bodyPr wrap="square" lIns="0" tIns="0" rIns="0" bIns="0" rtlCol="0" anchor="ctr"/>
          <a:lstStyle/>
          <a:p>
            <a:pPr algn="ctr" indent="0" marL="0">
              <a:buNone/>
            </a:pPr>
            <a:r>
              <a:rPr lang="en-US" sz="1000" b="1" dirty="0">
                <a:solidFill>
                  <a:schemeClr val="tx1"/>
                </a:solidFill>
              </a:rPr>
              <a:t>Later</a:t>
            </a:r>
            <a:endParaRPr lang="en-US" sz="1000" dirty="0"/>
          </a:p>
        </p:txBody>
      </p:sp>
      <p:sp>
        <p:nvSpPr>
          <p:cNvPr id="42" name="connector-615"/>
          <p:cNvSpPr/>
          <p:nvPr/>
        </p:nvSpPr>
        <p:spPr>
          <a:xfrm>
            <a:off x="7909560" y="3200400"/>
            <a:ext cx="27432" cy="256032"/>
          </a:xfrm>
          <a:prstGeom prst="rect">
            <a:avLst/>
          </a:prstGeom>
          <a:solidFill>
            <a:schemeClr val="accent2"/>
          </a:solidFill>
          <a:ln w="12700">
            <a:solidFill>
              <a:schemeClr val="accent2"/>
            </a:solidFill>
            <a:prstDash val="solid"/>
          </a:ln>
        </p:spPr>
      </p:sp>
      <p:sp>
        <p:nvSpPr>
          <p:cNvPr id="43" name="card-616"/>
          <p:cNvSpPr/>
          <p:nvPr/>
        </p:nvSpPr>
        <p:spPr>
          <a:xfrm>
            <a:off x="457200" y="3456432"/>
            <a:ext cx="8229600" cy="804672"/>
          </a:xfrm>
          <a:prstGeom prst="roundRect">
            <a:avLst>
              <a:gd name="adj" fmla="val 9091"/>
            </a:avLst>
          </a:prstGeom>
          <a:solidFill>
            <a:schemeClr val="accent1"/>
          </a:solidFill>
          <a:ln w="9525">
            <a:solidFill>
              <a:schemeClr val="accent1"/>
            </a:solidFill>
            <a:prstDash val="solid"/>
          </a:ln>
        </p:spPr>
      </p:sp>
      <p:sp>
        <p:nvSpPr>
          <p:cNvPr id="44" name="text-617"/>
          <p:cNvSpPr txBox="1"/>
          <p:nvPr/>
        </p:nvSpPr>
        <p:spPr>
          <a:xfrm>
            <a:off x="640080" y="3529584"/>
            <a:ext cx="2743200" cy="228600"/>
          </a:xfrm>
          <a:prstGeom prst="rect">
            <a:avLst/>
          </a:prstGeom>
          <a:noFill/>
          <a:ln/>
        </p:spPr>
        <p:txBody>
          <a:bodyPr wrap="square" lIns="0" tIns="0" rIns="0" bIns="0" rtlCol="0" anchor="t"/>
          <a:lstStyle/>
          <a:p>
            <a:pPr indent="0" marL="0">
              <a:buNone/>
            </a:pPr>
            <a:r>
              <a:rPr lang="en-US" sz="1100" b="1" spc="150" kern="0" dirty="0">
                <a:solidFill>
                  <a:schemeClr val="bg2"/>
                </a:solidFill>
              </a:rPr>
              <a:t>SHARED CORE</a:t>
            </a:r>
            <a:endParaRPr lang="en-US" sz="1100" dirty="0"/>
          </a:p>
        </p:txBody>
      </p:sp>
      <p:sp>
        <p:nvSpPr>
          <p:cNvPr id="45" name="text-618"/>
          <p:cNvSpPr txBox="1"/>
          <p:nvPr/>
        </p:nvSpPr>
        <p:spPr>
          <a:xfrm>
            <a:off x="640080" y="3767328"/>
            <a:ext cx="7863840" cy="365760"/>
          </a:xfrm>
          <a:prstGeom prst="rect">
            <a:avLst/>
          </a:prstGeom>
          <a:noFill/>
          <a:ln/>
        </p:spPr>
        <p:txBody>
          <a:bodyPr wrap="square" lIns="0" tIns="0" rIns="0" bIns="0" rtlCol="0" anchor="ctr"/>
          <a:lstStyle/>
          <a:p>
            <a:pPr indent="0" marL="0">
              <a:buNone/>
            </a:pPr>
            <a:r>
              <a:rPr lang="en-US" sz="1400" dirty="0">
                <a:solidFill>
                  <a:schemeClr val="bg1"/>
                </a:solidFill>
              </a:rPr>
              <a:t>Project page · Claims tracker · Demo slot · Work timeline · Mentor feedback · CV bullets · Gallery</a:t>
            </a:r>
            <a:endParaRPr lang="en-US" sz="1400" dirty="0"/>
          </a:p>
        </p:txBody>
      </p:sp>
      <p:sp>
        <p:nvSpPr>
          <p:cNvPr id="46" name="text-619"/>
          <p:cNvSpPr txBox="1"/>
          <p:nvPr/>
        </p:nvSpPr>
        <p:spPr>
          <a:xfrm>
            <a:off x="457200" y="4370832"/>
            <a:ext cx="8229600" cy="274320"/>
          </a:xfrm>
          <a:prstGeom prst="rect">
            <a:avLst/>
          </a:prstGeom>
          <a:noFill/>
          <a:ln/>
        </p:spPr>
        <p:txBody>
          <a:bodyPr wrap="square" lIns="0" tIns="0" rIns="0" bIns="0" rtlCol="0" anchor="t"/>
          <a:lstStyle/>
          <a:p>
            <a:pPr indent="0" marL="0">
              <a:buNone/>
            </a:pPr>
            <a:r>
              <a:rPr lang="en-US" sz="1200" i="1" dirty="0">
                <a:solidFill>
                  <a:schemeClr val="accent6"/>
                </a:solidFill>
              </a:rPr>
              <a:t>Same idea as Applaut's job-source adapters: a new project type means a new module — the core never changes.</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Everyone wins, including LVAMO</a:t>
            </a:r>
            <a:endParaRPr lang="en-US" sz="3200" dirty="0"/>
          </a:p>
        </p:txBody>
      </p:sp>
      <p:sp>
        <p:nvSpPr>
          <p:cNvPr id="3" name="card-620"/>
          <p:cNvSpPr/>
          <p:nvPr/>
        </p:nvSpPr>
        <p:spPr>
          <a:xfrm>
            <a:off x="457200" y="1097280"/>
            <a:ext cx="1920240" cy="3154680"/>
          </a:xfrm>
          <a:prstGeom prst="roundRect">
            <a:avLst>
              <a:gd name="adj" fmla="val 3810"/>
            </a:avLst>
          </a:prstGeom>
          <a:solidFill>
            <a:schemeClr val="bg2"/>
          </a:solidFill>
          <a:ln w="9525">
            <a:solidFill>
              <a:schemeClr val="bg2"/>
            </a:solidFill>
            <a:prstDash val="solid"/>
          </a:ln>
        </p:spPr>
      </p:sp>
      <p:sp>
        <p:nvSpPr>
          <p:cNvPr id="4" name="icon-bg-621"/>
          <p:cNvSpPr/>
          <p:nvPr/>
        </p:nvSpPr>
        <p:spPr>
          <a:xfrm>
            <a:off x="640080" y="1280160"/>
            <a:ext cx="502920" cy="502920"/>
          </a:xfrm>
          <a:prstGeom prst="ellipse">
            <a:avLst/>
          </a:prstGeom>
          <a:solidFill>
            <a:schemeClr val="bg1"/>
          </a:solidFill>
          <a:ln w="12700">
            <a:solidFill>
              <a:schemeClr val="bg1"/>
            </a:solidFill>
            <a:prstDash val="solid"/>
          </a:ln>
        </p:spPr>
      </p:sp>
      <p:pic>
        <p:nvPicPr>
          <p:cNvPr id="5" name="icon-622" descr="preencoded.png">    </p:cNvPr>
          <p:cNvPicPr>
            <a:picLocks noChangeAspect="1"/>
          </p:cNvPicPr>
          <p:nvPr/>
        </p:nvPicPr>
        <p:blipFill>
          <a:blip r:embed="rId1"/>
          <a:stretch>
            <a:fillRect/>
          </a:stretch>
        </p:blipFill>
        <p:spPr>
          <a:xfrm>
            <a:off x="770839" y="1410919"/>
            <a:ext cx="241402" cy="241402"/>
          </a:xfrm>
          <a:prstGeom prst="rect">
            <a:avLst/>
          </a:prstGeom>
        </p:spPr>
      </p:pic>
      <p:sp>
        <p:nvSpPr>
          <p:cNvPr id="6" name="text-623"/>
          <p:cNvSpPr txBox="1"/>
          <p:nvPr/>
        </p:nvSpPr>
        <p:spPr>
          <a:xfrm>
            <a:off x="640080" y="1901952"/>
            <a:ext cx="1600200" cy="502920"/>
          </a:xfrm>
          <a:prstGeom prst="rect">
            <a:avLst/>
          </a:prstGeom>
          <a:noFill/>
          <a:ln/>
        </p:spPr>
        <p:txBody>
          <a:bodyPr wrap="square" lIns="0" tIns="0" rIns="0" bIns="0" rtlCol="0" anchor="t"/>
          <a:lstStyle/>
          <a:p>
            <a:pPr indent="0" marL="0">
              <a:buNone/>
            </a:pPr>
            <a:r>
              <a:rPr lang="en-US" sz="1500" b="1" dirty="0">
                <a:solidFill>
                  <a:schemeClr val="tx1"/>
                </a:solidFill>
              </a:rPr>
              <a:t>Student</a:t>
            </a:r>
            <a:endParaRPr lang="en-US" sz="1500" dirty="0"/>
          </a:p>
        </p:txBody>
      </p:sp>
      <p:sp>
        <p:nvSpPr>
          <p:cNvPr id="7" name="text-624"/>
          <p:cNvSpPr txBox="1"/>
          <p:nvPr/>
        </p:nvSpPr>
        <p:spPr>
          <a:xfrm>
            <a:off x="594360" y="2423160"/>
            <a:ext cx="1691640"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One link that proves the work</a:t>
            </a:r>
            <a:endParaRPr lang="en-US" sz="1300" dirty="0"/>
          </a:p>
          <a:p>
            <a:pPr marL="342900" indent="-342900">
              <a:spcAft>
                <a:spcPts val="800"/>
              </a:spcAft>
              <a:buSzPct val="100000"/>
              <a:buChar char="•"/>
            </a:pPr>
            <a:r>
              <a:rPr lang="en-US" sz="1300" dirty="0">
                <a:solidFill>
                  <a:schemeClr val="tx1"/>
                </a:solidFill>
              </a:rPr>
              <a:t>A portfolio piece that stays live</a:t>
            </a:r>
            <a:endParaRPr lang="en-US" sz="1300" dirty="0"/>
          </a:p>
          <a:p>
            <a:pPr marL="342900" indent="-342900">
              <a:spcAft>
                <a:spcPts val="800"/>
              </a:spcAft>
              <a:buSzPct val="100000"/>
              <a:buChar char="•"/>
            </a:pPr>
            <a:r>
              <a:rPr lang="en-US" sz="1300" dirty="0">
                <a:solidFill>
                  <a:schemeClr val="tx1"/>
                </a:solidFill>
              </a:rPr>
              <a:t>CV bullet points, never invented</a:t>
            </a:r>
            <a:endParaRPr lang="en-US" sz="1300" dirty="0"/>
          </a:p>
        </p:txBody>
      </p:sp>
      <p:sp>
        <p:nvSpPr>
          <p:cNvPr id="8" name="card-625"/>
          <p:cNvSpPr/>
          <p:nvPr/>
        </p:nvSpPr>
        <p:spPr>
          <a:xfrm>
            <a:off x="2560320" y="1097280"/>
            <a:ext cx="1920240" cy="3154680"/>
          </a:xfrm>
          <a:prstGeom prst="roundRect">
            <a:avLst>
              <a:gd name="adj" fmla="val 3810"/>
            </a:avLst>
          </a:prstGeom>
          <a:solidFill>
            <a:schemeClr val="bg2"/>
          </a:solidFill>
          <a:ln w="9525">
            <a:solidFill>
              <a:schemeClr val="bg2"/>
            </a:solidFill>
            <a:prstDash val="solid"/>
          </a:ln>
        </p:spPr>
      </p:sp>
      <p:sp>
        <p:nvSpPr>
          <p:cNvPr id="9" name="icon-bg-626"/>
          <p:cNvSpPr/>
          <p:nvPr/>
        </p:nvSpPr>
        <p:spPr>
          <a:xfrm>
            <a:off x="2743200" y="1280160"/>
            <a:ext cx="502920" cy="502920"/>
          </a:xfrm>
          <a:prstGeom prst="ellipse">
            <a:avLst/>
          </a:prstGeom>
          <a:solidFill>
            <a:schemeClr val="bg1"/>
          </a:solidFill>
          <a:ln w="12700">
            <a:solidFill>
              <a:schemeClr val="bg1"/>
            </a:solidFill>
            <a:prstDash val="solid"/>
          </a:ln>
        </p:spPr>
      </p:sp>
      <p:pic>
        <p:nvPicPr>
          <p:cNvPr id="10" name="icon-627" descr="preencoded.png">    </p:cNvPr>
          <p:cNvPicPr>
            <a:picLocks noChangeAspect="1"/>
          </p:cNvPicPr>
          <p:nvPr/>
        </p:nvPicPr>
        <p:blipFill>
          <a:blip r:embed="rId2"/>
          <a:stretch>
            <a:fillRect/>
          </a:stretch>
        </p:blipFill>
        <p:spPr>
          <a:xfrm>
            <a:off x="2873959" y="1410919"/>
            <a:ext cx="241402" cy="241402"/>
          </a:xfrm>
          <a:prstGeom prst="rect">
            <a:avLst/>
          </a:prstGeom>
        </p:spPr>
      </p:pic>
      <p:sp>
        <p:nvSpPr>
          <p:cNvPr id="11" name="text-628"/>
          <p:cNvSpPr txBox="1"/>
          <p:nvPr/>
        </p:nvSpPr>
        <p:spPr>
          <a:xfrm>
            <a:off x="2743200" y="1901952"/>
            <a:ext cx="1600200" cy="502920"/>
          </a:xfrm>
          <a:prstGeom prst="rect">
            <a:avLst/>
          </a:prstGeom>
          <a:noFill/>
          <a:ln/>
        </p:spPr>
        <p:txBody>
          <a:bodyPr wrap="square" lIns="0" tIns="0" rIns="0" bIns="0" rtlCol="0" anchor="t"/>
          <a:lstStyle/>
          <a:p>
            <a:pPr indent="0" marL="0">
              <a:buNone/>
            </a:pPr>
            <a:r>
              <a:rPr lang="en-US" sz="1500" b="1" dirty="0">
                <a:solidFill>
                  <a:schemeClr val="tx1"/>
                </a:solidFill>
              </a:rPr>
              <a:t>Examiner &amp; supervisor</a:t>
            </a:r>
            <a:endParaRPr lang="en-US" sz="1500" dirty="0"/>
          </a:p>
        </p:txBody>
      </p:sp>
      <p:sp>
        <p:nvSpPr>
          <p:cNvPr id="12" name="text-629"/>
          <p:cNvSpPr txBox="1"/>
          <p:nvPr/>
        </p:nvSpPr>
        <p:spPr>
          <a:xfrm>
            <a:off x="2697480" y="2423160"/>
            <a:ext cx="1691640"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Claims checked against evidence</a:t>
            </a:r>
            <a:endParaRPr lang="en-US" sz="1300" dirty="0"/>
          </a:p>
          <a:p>
            <a:pPr marL="342900" indent="-342900">
              <a:spcAft>
                <a:spcPts val="800"/>
              </a:spcAft>
              <a:buSzPct val="100000"/>
              <a:buChar char="•"/>
            </a:pPr>
            <a:r>
              <a:rPr lang="en-US" sz="1300" dirty="0">
                <a:solidFill>
                  <a:schemeClr val="tx1"/>
                </a:solidFill>
              </a:rPr>
              <a:t>Progress visible all semester</a:t>
            </a:r>
            <a:endParaRPr lang="en-US" sz="1300" dirty="0"/>
          </a:p>
          <a:p>
            <a:pPr marL="342900" indent="-342900">
              <a:spcAft>
                <a:spcPts val="800"/>
              </a:spcAft>
              <a:buSzPct val="100000"/>
              <a:buChar char="•"/>
            </a:pPr>
            <a:r>
              <a:rPr lang="en-US" sz="1300" dirty="0">
                <a:solidFill>
                  <a:schemeClr val="tx1"/>
                </a:solidFill>
              </a:rPr>
              <a:t>Reproducible, not just described</a:t>
            </a:r>
            <a:endParaRPr lang="en-US" sz="1300" dirty="0"/>
          </a:p>
        </p:txBody>
      </p:sp>
      <p:sp>
        <p:nvSpPr>
          <p:cNvPr id="13" name="card-630"/>
          <p:cNvSpPr/>
          <p:nvPr/>
        </p:nvSpPr>
        <p:spPr>
          <a:xfrm>
            <a:off x="4663440" y="1097280"/>
            <a:ext cx="1920240" cy="3154680"/>
          </a:xfrm>
          <a:prstGeom prst="roundRect">
            <a:avLst>
              <a:gd name="adj" fmla="val 3810"/>
            </a:avLst>
          </a:prstGeom>
          <a:solidFill>
            <a:schemeClr val="bg2"/>
          </a:solidFill>
          <a:ln w="9525">
            <a:solidFill>
              <a:schemeClr val="bg2"/>
            </a:solidFill>
            <a:prstDash val="solid"/>
          </a:ln>
        </p:spPr>
      </p:sp>
      <p:sp>
        <p:nvSpPr>
          <p:cNvPr id="14" name="icon-bg-631"/>
          <p:cNvSpPr/>
          <p:nvPr/>
        </p:nvSpPr>
        <p:spPr>
          <a:xfrm>
            <a:off x="4846320" y="1280160"/>
            <a:ext cx="502920" cy="502920"/>
          </a:xfrm>
          <a:prstGeom prst="ellipse">
            <a:avLst/>
          </a:prstGeom>
          <a:solidFill>
            <a:schemeClr val="bg1"/>
          </a:solidFill>
          <a:ln w="12700">
            <a:solidFill>
              <a:schemeClr val="bg1"/>
            </a:solidFill>
            <a:prstDash val="solid"/>
          </a:ln>
        </p:spPr>
      </p:sp>
      <p:pic>
        <p:nvPicPr>
          <p:cNvPr id="15" name="icon-632" descr="preencoded.png">    </p:cNvPr>
          <p:cNvPicPr>
            <a:picLocks noChangeAspect="1"/>
          </p:cNvPicPr>
          <p:nvPr/>
        </p:nvPicPr>
        <p:blipFill>
          <a:blip r:embed="rId3"/>
          <a:stretch>
            <a:fillRect/>
          </a:stretch>
        </p:blipFill>
        <p:spPr>
          <a:xfrm>
            <a:off x="4977079" y="1410919"/>
            <a:ext cx="241402" cy="241402"/>
          </a:xfrm>
          <a:prstGeom prst="rect">
            <a:avLst/>
          </a:prstGeom>
        </p:spPr>
      </p:pic>
      <p:sp>
        <p:nvSpPr>
          <p:cNvPr id="16" name="text-633"/>
          <p:cNvSpPr txBox="1"/>
          <p:nvPr/>
        </p:nvSpPr>
        <p:spPr>
          <a:xfrm>
            <a:off x="4846320" y="1901952"/>
            <a:ext cx="1600200" cy="502920"/>
          </a:xfrm>
          <a:prstGeom prst="rect">
            <a:avLst/>
          </a:prstGeom>
          <a:noFill/>
          <a:ln/>
        </p:spPr>
        <p:txBody>
          <a:bodyPr wrap="square" lIns="0" tIns="0" rIns="0" bIns="0" rtlCol="0" anchor="t"/>
          <a:lstStyle/>
          <a:p>
            <a:pPr indent="0" marL="0">
              <a:buNone/>
            </a:pPr>
            <a:r>
              <a:rPr lang="en-US" sz="1500" b="1" dirty="0">
                <a:solidFill>
                  <a:schemeClr val="tx1"/>
                </a:solidFill>
              </a:rPr>
              <a:t>Recruiter</a:t>
            </a:r>
            <a:endParaRPr lang="en-US" sz="1500" dirty="0"/>
          </a:p>
        </p:txBody>
      </p:sp>
      <p:sp>
        <p:nvSpPr>
          <p:cNvPr id="17" name="text-634"/>
          <p:cNvSpPr txBox="1"/>
          <p:nvPr/>
        </p:nvSpPr>
        <p:spPr>
          <a:xfrm>
            <a:off x="4800600" y="2423160"/>
            <a:ext cx="1691640"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Sees real, working skills</a:t>
            </a:r>
            <a:endParaRPr lang="en-US" sz="1300" dirty="0"/>
          </a:p>
          <a:p>
            <a:pPr marL="342900" indent="-342900">
              <a:spcAft>
                <a:spcPts val="800"/>
              </a:spcAft>
              <a:buSzPct val="100000"/>
              <a:buChar char="•"/>
            </a:pPr>
            <a:r>
              <a:rPr lang="en-US" sz="1300" dirty="0">
                <a:solidFill>
                  <a:schemeClr val="tx1"/>
                </a:solidFill>
              </a:rPr>
              <a:t>Evidence instead of buzzwords</a:t>
            </a:r>
            <a:endParaRPr lang="en-US" sz="1300" dirty="0"/>
          </a:p>
          <a:p>
            <a:pPr marL="342900" indent="-342900">
              <a:spcAft>
                <a:spcPts val="800"/>
              </a:spcAft>
              <a:buSzPct val="100000"/>
              <a:buChar char="•"/>
            </a:pPr>
            <a:r>
              <a:rPr lang="en-US" sz="1300" dirty="0">
                <a:solidFill>
                  <a:schemeClr val="tx1"/>
                </a:solidFill>
              </a:rPr>
              <a:t>Spots talent by skill, not school</a:t>
            </a:r>
            <a:endParaRPr lang="en-US" sz="1300" dirty="0"/>
          </a:p>
        </p:txBody>
      </p:sp>
      <p:sp>
        <p:nvSpPr>
          <p:cNvPr id="18" name="card-635"/>
          <p:cNvSpPr/>
          <p:nvPr/>
        </p:nvSpPr>
        <p:spPr>
          <a:xfrm>
            <a:off x="6766560" y="1097280"/>
            <a:ext cx="1920240" cy="3154680"/>
          </a:xfrm>
          <a:prstGeom prst="roundRect">
            <a:avLst>
              <a:gd name="adj" fmla="val 3810"/>
            </a:avLst>
          </a:prstGeom>
          <a:solidFill>
            <a:schemeClr val="accent1"/>
          </a:solidFill>
          <a:ln w="9525">
            <a:solidFill>
              <a:schemeClr val="accent1"/>
            </a:solidFill>
            <a:prstDash val="solid"/>
          </a:ln>
        </p:spPr>
      </p:sp>
      <p:pic>
        <p:nvPicPr>
          <p:cNvPr id="19" name="win-logo" descr="preencoded.png">    </p:cNvPr>
          <p:cNvPicPr>
            <a:picLocks noChangeAspect="1"/>
          </p:cNvPicPr>
          <p:nvPr/>
        </p:nvPicPr>
        <p:blipFill>
          <a:blip r:embed="rId4"/>
          <a:stretch>
            <a:fillRect/>
          </a:stretch>
        </p:blipFill>
        <p:spPr>
          <a:xfrm>
            <a:off x="6949440" y="1280160"/>
            <a:ext cx="502920" cy="502920"/>
          </a:xfrm>
          <a:prstGeom prst="rect">
            <a:avLst/>
          </a:prstGeom>
        </p:spPr>
      </p:pic>
      <p:sp>
        <p:nvSpPr>
          <p:cNvPr id="20" name="text-636"/>
          <p:cNvSpPr txBox="1"/>
          <p:nvPr/>
        </p:nvSpPr>
        <p:spPr>
          <a:xfrm>
            <a:off x="6949440" y="1901952"/>
            <a:ext cx="1600200" cy="502920"/>
          </a:xfrm>
          <a:prstGeom prst="rect">
            <a:avLst/>
          </a:prstGeom>
          <a:noFill/>
          <a:ln/>
        </p:spPr>
        <p:txBody>
          <a:bodyPr wrap="square" lIns="0" tIns="0" rIns="0" bIns="0" rtlCol="0" anchor="t"/>
          <a:lstStyle/>
          <a:p>
            <a:pPr indent="0" marL="0">
              <a:buNone/>
            </a:pPr>
            <a:r>
              <a:rPr lang="en-US" sz="1500" b="1" dirty="0">
                <a:solidFill>
                  <a:schemeClr val="bg1"/>
                </a:solidFill>
              </a:rPr>
              <a:t>LVAMO</a:t>
            </a:r>
            <a:endParaRPr lang="en-US" sz="1500" dirty="0"/>
          </a:p>
        </p:txBody>
      </p:sp>
      <p:sp>
        <p:nvSpPr>
          <p:cNvPr id="21" name="text-637"/>
          <p:cNvSpPr txBox="1"/>
          <p:nvPr/>
        </p:nvSpPr>
        <p:spPr>
          <a:xfrm>
            <a:off x="6903720" y="2423160"/>
            <a:ext cx="1691640"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rPr>
              <a:t>Every page is a public lvamo.com link</a:t>
            </a:r>
            <a:endParaRPr lang="en-US" sz="1300" dirty="0"/>
          </a:p>
          <a:p>
            <a:pPr marL="342900" indent="-342900">
              <a:spcAft>
                <a:spcPts val="800"/>
              </a:spcAft>
              <a:buSzPct val="100000"/>
              <a:buChar char="•"/>
            </a:pPr>
            <a:r>
              <a:rPr lang="en-US" sz="1300" dirty="0">
                <a:solidFill>
                  <a:schemeClr val="bg1"/>
                </a:solidFill>
              </a:rPr>
              <a:t>“Mentored via LVAMO” credits your help</a:t>
            </a:r>
            <a:endParaRPr lang="en-US" sz="1300" dirty="0"/>
          </a:p>
          <a:p>
            <a:pPr marL="342900" indent="-342900">
              <a:spcAft>
                <a:spcPts val="800"/>
              </a:spcAft>
              <a:buSzPct val="100000"/>
              <a:buChar char="•"/>
            </a:pPr>
            <a:r>
              <a:rPr lang="en-US" sz="1300" dirty="0">
                <a:solidFill>
                  <a:schemeClr val="bg1"/>
                </a:solidFill>
              </a:rPr>
              <a:t>A path into Applaut and Jobref</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5120640" cy="320040"/>
          </a:xfrm>
          <a:prstGeom prst="rect">
            <a:avLst/>
          </a:prstGeom>
          <a:noFill/>
          <a:ln/>
        </p:spPr>
        <p:txBody>
          <a:bodyPr wrap="square" lIns="0" tIns="0" rIns="0" bIns="0" rtlCol="0"/>
          <a:lstStyle/>
          <a:p>
            <a:pPr indent="0" marL="0">
              <a:buNone/>
            </a:pPr>
            <a:r>
              <a:rPr lang="en-US" sz="1300" b="1" spc="200" kern="0" dirty="0">
                <a:solidFill>
                  <a:schemeClr val="accent2"/>
                </a:solidFill>
              </a:rPr>
              <a:t>ROADMAP</a:t>
            </a:r>
            <a:endParaRPr lang="en-US" sz="1300" dirty="0"/>
          </a:p>
        </p:txBody>
      </p:sp>
      <p:sp>
        <p:nvSpPr>
          <p:cNvPr id="3" name="Text 0"/>
          <p:cNvSpPr/>
          <p:nvPr>
            <p:ph idx="101" type="title" hasCustomPrompt="1"/>
          </p:nvPr>
        </p:nvSpPr>
        <p:spPr>
          <a:xfrm>
            <a:off x="457200" y="731520"/>
            <a:ext cx="8229600" cy="685800"/>
          </a:xfrm>
          <a:prstGeom prst="rect">
            <a:avLst/>
          </a:prstGeom>
          <a:noFill/>
          <a:ln/>
        </p:spPr>
        <p:txBody>
          <a:bodyPr wrap="square" lIns="0" tIns="0" rIns="0" bIns="0" rtlCol="0" anchor="t"/>
          <a:lstStyle/>
          <a:p>
            <a:pPr indent="0" marL="0">
              <a:buNone/>
            </a:pPr>
            <a:r>
              <a:rPr lang="en-US" sz="4000" b="1" dirty="0">
                <a:solidFill>
                  <a:schemeClr val="bg1"/>
                </a:solidFill>
              </a:rPr>
              <a:t>Next steps</a:t>
            </a:r>
            <a:endParaRPr lang="en-US" sz="4000" dirty="0"/>
          </a:p>
        </p:txBody>
      </p:sp>
      <p:sp>
        <p:nvSpPr>
          <p:cNvPr id="4" name="phase-638"/>
          <p:cNvSpPr/>
          <p:nvPr/>
        </p:nvSpPr>
        <p:spPr>
          <a:xfrm>
            <a:off x="457200" y="1828800"/>
            <a:ext cx="384048" cy="384048"/>
          </a:xfrm>
          <a:prstGeom prst="ellipse">
            <a:avLst/>
          </a:prstGeom>
          <a:solidFill>
            <a:schemeClr val="accent1"/>
          </a:solidFill>
          <a:ln w="12700">
            <a:solidFill>
              <a:schemeClr val="accent1"/>
            </a:solidFill>
            <a:prstDash val="solid"/>
          </a:ln>
        </p:spPr>
      </p:sp>
      <p:sp>
        <p:nvSpPr>
          <p:cNvPr id="5" name="text-639"/>
          <p:cNvSpPr txBox="1"/>
          <p:nvPr/>
        </p:nvSpPr>
        <p:spPr>
          <a:xfrm>
            <a:off x="457200" y="18288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640"/>
          <p:cNvSpPr txBox="1"/>
          <p:nvPr/>
        </p:nvSpPr>
        <p:spPr>
          <a:xfrm>
            <a:off x="1005840" y="1783080"/>
            <a:ext cx="4572000" cy="566928"/>
          </a:xfrm>
          <a:prstGeom prst="rect">
            <a:avLst/>
          </a:prstGeom>
          <a:noFill/>
          <a:ln/>
        </p:spPr>
        <p:txBody>
          <a:bodyPr wrap="square" lIns="0" tIns="0" rIns="0" bIns="0" rtlCol="0" anchor="ctr"/>
          <a:lstStyle/>
          <a:p>
            <a:pPr indent="0" marL="0">
              <a:buNone/>
            </a:pPr>
            <a:r>
              <a:rPr lang="en-US" sz="1500" b="1" dirty="0">
                <a:solidFill>
                  <a:schemeClr val="bg1"/>
                </a:solidFill>
              </a:rPr>
              <a:t>Core + data module</a:t>
            </a:r>
            <a:endParaRPr lang="en-US" sz="1500" dirty="0"/>
          </a:p>
          <a:p>
            <a:pPr indent="0" marL="0">
              <a:buNone/>
            </a:pPr>
            <a:r>
              <a:rPr lang="en-US" sz="1300" dirty="0">
                <a:solidFill>
                  <a:schemeClr val="bg2"/>
                </a:solidFill>
              </a:rPr>
              <a:t>HeatRisk EU becomes the first real project page</a:t>
            </a:r>
            <a:endParaRPr lang="en-US" sz="1500" dirty="0"/>
          </a:p>
        </p:txBody>
      </p:sp>
      <p:sp>
        <p:nvSpPr>
          <p:cNvPr id="7" name="phase-641"/>
          <p:cNvSpPr/>
          <p:nvPr/>
        </p:nvSpPr>
        <p:spPr>
          <a:xfrm>
            <a:off x="457200" y="2697480"/>
            <a:ext cx="384048" cy="384048"/>
          </a:xfrm>
          <a:prstGeom prst="ellipse">
            <a:avLst/>
          </a:prstGeom>
          <a:solidFill>
            <a:schemeClr val="accent1"/>
          </a:solidFill>
          <a:ln w="12700">
            <a:solidFill>
              <a:schemeClr val="accent1"/>
            </a:solidFill>
            <a:prstDash val="solid"/>
          </a:ln>
        </p:spPr>
      </p:sp>
      <p:sp>
        <p:nvSpPr>
          <p:cNvPr id="8" name="text-642"/>
          <p:cNvSpPr txBox="1"/>
          <p:nvPr/>
        </p:nvSpPr>
        <p:spPr>
          <a:xfrm>
            <a:off x="457200" y="26974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643"/>
          <p:cNvSpPr txBox="1"/>
          <p:nvPr/>
        </p:nvSpPr>
        <p:spPr>
          <a:xfrm>
            <a:off x="1005840" y="2651760"/>
            <a:ext cx="4572000" cy="566928"/>
          </a:xfrm>
          <a:prstGeom prst="rect">
            <a:avLst/>
          </a:prstGeom>
          <a:noFill/>
          <a:ln/>
        </p:spPr>
        <p:txBody>
          <a:bodyPr wrap="square" lIns="0" tIns="0" rIns="0" bIns="0" rtlCol="0" anchor="ctr"/>
          <a:lstStyle/>
          <a:p>
            <a:pPr indent="0" marL="0">
              <a:buNone/>
            </a:pPr>
            <a:r>
              <a:rPr lang="en-US" sz="1500" b="1" dirty="0">
                <a:solidFill>
                  <a:schemeClr val="bg1"/>
                </a:solidFill>
              </a:rPr>
              <a:t>Frontend module</a:t>
            </a:r>
            <a:endParaRPr lang="en-US" sz="1500" dirty="0"/>
          </a:p>
          <a:p>
            <a:pPr indent="0" marL="0">
              <a:buNone/>
            </a:pPr>
            <a:r>
              <a:rPr lang="en-US" sz="1300" dirty="0">
                <a:solidFill>
                  <a:schemeClr val="bg2"/>
                </a:solidFill>
              </a:rPr>
              <a:t>Built when a second student joins — proves the design generalises</a:t>
            </a:r>
            <a:endParaRPr lang="en-US" sz="1500" dirty="0"/>
          </a:p>
        </p:txBody>
      </p:sp>
      <p:sp>
        <p:nvSpPr>
          <p:cNvPr id="10" name="phase-644"/>
          <p:cNvSpPr/>
          <p:nvPr/>
        </p:nvSpPr>
        <p:spPr>
          <a:xfrm>
            <a:off x="457200" y="3566160"/>
            <a:ext cx="384048" cy="384048"/>
          </a:xfrm>
          <a:prstGeom prst="ellipse">
            <a:avLst/>
          </a:prstGeom>
          <a:solidFill>
            <a:schemeClr val="accent1"/>
          </a:solidFill>
          <a:ln w="12700">
            <a:solidFill>
              <a:schemeClr val="accent1"/>
            </a:solidFill>
            <a:prstDash val="solid"/>
          </a:ln>
        </p:spPr>
      </p:sp>
      <p:sp>
        <p:nvSpPr>
          <p:cNvPr id="11" name="text-645"/>
          <p:cNvSpPr txBox="1"/>
          <p:nvPr/>
        </p:nvSpPr>
        <p:spPr>
          <a:xfrm>
            <a:off x="457200" y="35661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646"/>
          <p:cNvSpPr txBox="1"/>
          <p:nvPr/>
        </p:nvSpPr>
        <p:spPr>
          <a:xfrm>
            <a:off x="1005840" y="3520440"/>
            <a:ext cx="4572000" cy="566928"/>
          </a:xfrm>
          <a:prstGeom prst="rect">
            <a:avLst/>
          </a:prstGeom>
          <a:noFill/>
          <a:ln/>
        </p:spPr>
        <p:txBody>
          <a:bodyPr wrap="square" lIns="0" tIns="0" rIns="0" bIns="0" rtlCol="0" anchor="ctr"/>
          <a:lstStyle/>
          <a:p>
            <a:pPr indent="0" marL="0">
              <a:buNone/>
            </a:pPr>
            <a:r>
              <a:rPr lang="en-US" sz="1500" b="1" dirty="0">
                <a:solidFill>
                  <a:schemeClr val="bg1"/>
                </a:solidFill>
              </a:rPr>
              <a:t>Cohort features</a:t>
            </a:r>
            <a:endParaRPr lang="en-US" sz="1500" dirty="0"/>
          </a:p>
          <a:p>
            <a:pPr indent="0" marL="0">
              <a:buNone/>
            </a:pPr>
            <a:r>
              <a:rPr lang="en-US" sz="1300" dirty="0">
                <a:solidFill>
                  <a:schemeClr val="bg2"/>
                </a:solidFill>
              </a:rPr>
              <a:t>Student accounts, mentor reviews, demo-day gallery, CV bullets</a:t>
            </a:r>
            <a:endParaRPr lang="en-US" sz="1500" dirty="0"/>
          </a:p>
        </p:txBody>
      </p:sp>
      <p:sp>
        <p:nvSpPr>
          <p:cNvPr id="13" name="card-647"/>
          <p:cNvSpPr/>
          <p:nvPr/>
        </p:nvSpPr>
        <p:spPr>
          <a:xfrm>
            <a:off x="5943600" y="1691640"/>
            <a:ext cx="2743200" cy="2697480"/>
          </a:xfrm>
          <a:prstGeom prst="roundRect">
            <a:avLst>
              <a:gd name="adj" fmla="val 2712"/>
            </a:avLst>
          </a:prstGeom>
          <a:solidFill>
            <a:srgbClr val="111828"/>
          </a:solidFill>
          <a:ln w="9525">
            <a:solidFill>
              <a:srgbClr val="2A3354"/>
            </a:solidFill>
            <a:prstDash val="solid"/>
          </a:ln>
        </p:spPr>
      </p:sp>
      <p:sp>
        <p:nvSpPr>
          <p:cNvPr id="14" name="text-648"/>
          <p:cNvSpPr txBox="1"/>
          <p:nvPr/>
        </p:nvSpPr>
        <p:spPr>
          <a:xfrm>
            <a:off x="6172200" y="1874520"/>
            <a:ext cx="2286000" cy="320040"/>
          </a:xfrm>
          <a:prstGeom prst="rect">
            <a:avLst/>
          </a:prstGeom>
          <a:noFill/>
          <a:ln/>
        </p:spPr>
        <p:txBody>
          <a:bodyPr wrap="square" lIns="0" tIns="0" rIns="0" bIns="0" rtlCol="0" anchor="t"/>
          <a:lstStyle/>
          <a:p>
            <a:pPr indent="0" marL="0">
              <a:buNone/>
            </a:pPr>
            <a:r>
              <a:rPr lang="en-US" sz="1600" b="1" dirty="0">
                <a:solidFill>
                  <a:schemeClr val="accent4"/>
                </a:solidFill>
              </a:rPr>
              <a:t>Two cautions</a:t>
            </a:r>
            <a:endParaRPr lang="en-US" sz="1600" dirty="0"/>
          </a:p>
        </p:txBody>
      </p:sp>
      <p:sp>
        <p:nvSpPr>
          <p:cNvPr id="15" name="text-649"/>
          <p:cNvSpPr txBox="1"/>
          <p:nvPr/>
        </p:nvSpPr>
        <p:spPr>
          <a:xfrm>
            <a:off x="6172200" y="2286000"/>
            <a:ext cx="2331720" cy="20116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Ask the supervisor before anything goes public before grading</a:t>
            </a:r>
            <a:endParaRPr lang="en-US" sz="1400" dirty="0"/>
          </a:p>
          <a:p>
            <a:pPr marL="342900" indent="-342900">
              <a:spcAft>
                <a:spcPts val="1000"/>
              </a:spcAft>
              <a:buSzPct val="100000"/>
              <a:buChar char="•"/>
            </a:pPr>
            <a:r>
              <a:rPr lang="en-US" sz="1400" dirty="0">
                <a:solidFill>
                  <a:schemeClr val="bg1"/>
                </a:solidFill>
              </a:rPr>
              <a:t>Keep LVAMO branding small — the work must clearly be the student's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93B8"/>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roSho">
  <a:themeElements>
    <a:clrScheme name="ProSho">
      <a:dk1>
        <a:srgbClr val="0B1020"/>
      </a:dk1>
      <a:lt1>
        <a:srgbClr val="FFFFFF"/>
      </a:lt1>
      <a:dk2>
        <a:srgbClr val="07091A"/>
      </a:dk2>
      <a:lt2>
        <a:srgbClr val="EEF0FB"/>
      </a:lt2>
      <a:accent1>
        <a:srgbClr val="6366F1"/>
      </a:accent1>
      <a:accent2>
        <a:srgbClr val="818CF8"/>
      </a:accent2>
      <a:accent3>
        <a:srgbClr val="10B981"/>
      </a:accent3>
      <a:accent4>
        <a:srgbClr val="F59E0B"/>
      </a:accent4>
      <a:accent5>
        <a:srgbClr val="EF4444"/>
      </a:accent5>
      <a:accent6>
        <a:srgbClr val="64748B"/>
      </a:accent6>
      <a:hlink>
        <a:srgbClr val="6366F1"/>
      </a:hlink>
      <a:folHlink>
        <a:srgbClr val="818CF8"/>
      </a:folHlink>
    </a:clrScheme>
    <a:fontScheme name="ProSh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ProSho: concept</dc:title>
  <dc:subject>PptxGenJS Presentation</dc:subject>
  <dc:creator>LVAMO</dc:creator>
  <cp:lastModifiedBy>LVAMO</cp:lastModifiedBy>
  <cp:revision>1</cp:revision>
  <dcterms:created xsi:type="dcterms:W3CDTF">2026-10-11T20:05:13Z</dcterms:created>
  <dcterms:modified xsi:type="dcterms:W3CDTF">2026-10-11T20:05:13Z</dcterms:modified>
</cp:coreProperties>
</file>